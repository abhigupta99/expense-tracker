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95" r:id="rId4"/>
    <p:sldId id="296" r:id="rId5"/>
    <p:sldId id="297" r:id="rId6"/>
    <p:sldId id="272" r:id="rId7"/>
    <p:sldId id="287" r:id="rId8"/>
    <p:sldId id="266" r:id="rId9"/>
    <p:sldId id="268" r:id="rId10"/>
    <p:sldId id="289" r:id="rId11"/>
    <p:sldId id="275" r:id="rId12"/>
    <p:sldId id="288" r:id="rId13"/>
    <p:sldId id="290" r:id="rId14"/>
    <p:sldId id="291" r:id="rId15"/>
    <p:sldId id="267" r:id="rId16"/>
    <p:sldId id="274" r:id="rId17"/>
    <p:sldId id="292" r:id="rId18"/>
    <p:sldId id="286" r:id="rId19"/>
    <p:sldId id="276" r:id="rId20"/>
    <p:sldId id="294" r:id="rId21"/>
    <p:sldId id="282"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204" autoAdjust="0"/>
    <p:restoredTop sz="94660"/>
  </p:normalViewPr>
  <p:slideViewPr>
    <p:cSldViewPr snapToGrid="0">
      <p:cViewPr varScale="1">
        <p:scale>
          <a:sx n="82" d="100"/>
          <a:sy n="82" d="100"/>
        </p:scale>
        <p:origin x="634"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D17460-71AE-5FB4-45EF-E45C20F06B5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4D22F894-6469-F310-A7C0-552F1127E54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B33A01E8-375A-30A9-C649-7338FBEE4BF7}"/>
              </a:ext>
            </a:extLst>
          </p:cNvPr>
          <p:cNvSpPr>
            <a:spLocks noGrp="1"/>
          </p:cNvSpPr>
          <p:nvPr>
            <p:ph type="dt" sz="half" idx="10"/>
          </p:nvPr>
        </p:nvSpPr>
        <p:spPr/>
        <p:txBody>
          <a:bodyPr/>
          <a:lstStyle/>
          <a:p>
            <a:fld id="{1570840E-C011-4C25-B259-5EAAA6CD79DB}" type="datetimeFigureOut">
              <a:rPr lang="en-IN" smtClean="0"/>
              <a:t>20-10-2024</a:t>
            </a:fld>
            <a:endParaRPr lang="en-IN"/>
          </a:p>
        </p:txBody>
      </p:sp>
      <p:sp>
        <p:nvSpPr>
          <p:cNvPr id="5" name="Footer Placeholder 4">
            <a:extLst>
              <a:ext uri="{FF2B5EF4-FFF2-40B4-BE49-F238E27FC236}">
                <a16:creationId xmlns:a16="http://schemas.microsoft.com/office/drawing/2014/main" id="{626A64E7-FF6C-EBB7-7181-4152F04BF1C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A814F6B-D608-7533-C8F9-7CDB57EAF0F5}"/>
              </a:ext>
            </a:extLst>
          </p:cNvPr>
          <p:cNvSpPr>
            <a:spLocks noGrp="1"/>
          </p:cNvSpPr>
          <p:nvPr>
            <p:ph type="sldNum" sz="quarter" idx="12"/>
          </p:nvPr>
        </p:nvSpPr>
        <p:spPr/>
        <p:txBody>
          <a:bodyPr/>
          <a:lstStyle/>
          <a:p>
            <a:fld id="{F11F598D-4087-4021-AE95-39A4275A7901}" type="slidenum">
              <a:rPr lang="en-IN" smtClean="0"/>
              <a:t>‹#›</a:t>
            </a:fld>
            <a:endParaRPr lang="en-IN"/>
          </a:p>
        </p:txBody>
      </p:sp>
    </p:spTree>
    <p:extLst>
      <p:ext uri="{BB962C8B-B14F-4D97-AF65-F5344CB8AC3E}">
        <p14:creationId xmlns:p14="http://schemas.microsoft.com/office/powerpoint/2010/main" val="21143900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09BDE5-3EE0-28F1-7353-68B1E608422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7B7379F-C28F-CB45-8FA3-A6EBA4C03EC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F67BAED-8894-6792-5703-182EB8940F2E}"/>
              </a:ext>
            </a:extLst>
          </p:cNvPr>
          <p:cNvSpPr>
            <a:spLocks noGrp="1"/>
          </p:cNvSpPr>
          <p:nvPr>
            <p:ph type="dt" sz="half" idx="10"/>
          </p:nvPr>
        </p:nvSpPr>
        <p:spPr/>
        <p:txBody>
          <a:bodyPr/>
          <a:lstStyle/>
          <a:p>
            <a:fld id="{1570840E-C011-4C25-B259-5EAAA6CD79DB}" type="datetimeFigureOut">
              <a:rPr lang="en-IN" smtClean="0"/>
              <a:t>20-10-2024</a:t>
            </a:fld>
            <a:endParaRPr lang="en-IN"/>
          </a:p>
        </p:txBody>
      </p:sp>
      <p:sp>
        <p:nvSpPr>
          <p:cNvPr id="5" name="Footer Placeholder 4">
            <a:extLst>
              <a:ext uri="{FF2B5EF4-FFF2-40B4-BE49-F238E27FC236}">
                <a16:creationId xmlns:a16="http://schemas.microsoft.com/office/drawing/2014/main" id="{90CE2425-9D6A-1E4F-2EE4-1DA4F7D1BBB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FD9B630-FFC6-C035-AC16-0E9AEEC54150}"/>
              </a:ext>
            </a:extLst>
          </p:cNvPr>
          <p:cNvSpPr>
            <a:spLocks noGrp="1"/>
          </p:cNvSpPr>
          <p:nvPr>
            <p:ph type="sldNum" sz="quarter" idx="12"/>
          </p:nvPr>
        </p:nvSpPr>
        <p:spPr/>
        <p:txBody>
          <a:bodyPr/>
          <a:lstStyle/>
          <a:p>
            <a:fld id="{F11F598D-4087-4021-AE95-39A4275A7901}" type="slidenum">
              <a:rPr lang="en-IN" smtClean="0"/>
              <a:t>‹#›</a:t>
            </a:fld>
            <a:endParaRPr lang="en-IN"/>
          </a:p>
        </p:txBody>
      </p:sp>
    </p:spTree>
    <p:extLst>
      <p:ext uri="{BB962C8B-B14F-4D97-AF65-F5344CB8AC3E}">
        <p14:creationId xmlns:p14="http://schemas.microsoft.com/office/powerpoint/2010/main" val="42331190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A3E20C-5DEF-3D89-4A89-2A5690FA2BC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C78F6F83-9A63-782E-A16A-9E09458313F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937145D-0191-174B-AD8A-56E08D2CBB78}"/>
              </a:ext>
            </a:extLst>
          </p:cNvPr>
          <p:cNvSpPr>
            <a:spLocks noGrp="1"/>
          </p:cNvSpPr>
          <p:nvPr>
            <p:ph type="dt" sz="half" idx="10"/>
          </p:nvPr>
        </p:nvSpPr>
        <p:spPr/>
        <p:txBody>
          <a:bodyPr/>
          <a:lstStyle/>
          <a:p>
            <a:fld id="{1570840E-C011-4C25-B259-5EAAA6CD79DB}" type="datetimeFigureOut">
              <a:rPr lang="en-IN" smtClean="0"/>
              <a:t>20-10-2024</a:t>
            </a:fld>
            <a:endParaRPr lang="en-IN"/>
          </a:p>
        </p:txBody>
      </p:sp>
      <p:sp>
        <p:nvSpPr>
          <p:cNvPr id="5" name="Footer Placeholder 4">
            <a:extLst>
              <a:ext uri="{FF2B5EF4-FFF2-40B4-BE49-F238E27FC236}">
                <a16:creationId xmlns:a16="http://schemas.microsoft.com/office/drawing/2014/main" id="{BC643B73-ABFE-1E32-5B66-AAC079D06F3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BDBAFE4-D403-ABA9-BC13-826147A4BB7B}"/>
              </a:ext>
            </a:extLst>
          </p:cNvPr>
          <p:cNvSpPr>
            <a:spLocks noGrp="1"/>
          </p:cNvSpPr>
          <p:nvPr>
            <p:ph type="sldNum" sz="quarter" idx="12"/>
          </p:nvPr>
        </p:nvSpPr>
        <p:spPr/>
        <p:txBody>
          <a:bodyPr/>
          <a:lstStyle/>
          <a:p>
            <a:fld id="{F11F598D-4087-4021-AE95-39A4275A7901}" type="slidenum">
              <a:rPr lang="en-IN" smtClean="0"/>
              <a:t>‹#›</a:t>
            </a:fld>
            <a:endParaRPr lang="en-IN"/>
          </a:p>
        </p:txBody>
      </p:sp>
    </p:spTree>
    <p:extLst>
      <p:ext uri="{BB962C8B-B14F-4D97-AF65-F5344CB8AC3E}">
        <p14:creationId xmlns:p14="http://schemas.microsoft.com/office/powerpoint/2010/main" val="5148338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A2EB08-754D-2148-E242-51836DB9151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9478CE9-3C21-02CD-A9BE-3BEE8220E91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57E3CDED-16DA-C899-7018-AEB3D480CCD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52CF1498-3EDE-E840-9CF7-16E1B860CD19}"/>
              </a:ext>
            </a:extLst>
          </p:cNvPr>
          <p:cNvSpPr>
            <a:spLocks noGrp="1"/>
          </p:cNvSpPr>
          <p:nvPr>
            <p:ph type="dt" sz="half" idx="10"/>
          </p:nvPr>
        </p:nvSpPr>
        <p:spPr/>
        <p:txBody>
          <a:bodyPr/>
          <a:lstStyle/>
          <a:p>
            <a:fld id="{1570840E-C011-4C25-B259-5EAAA6CD79DB}" type="datetimeFigureOut">
              <a:rPr lang="en-IN" smtClean="0"/>
              <a:t>20-10-2024</a:t>
            </a:fld>
            <a:endParaRPr lang="en-IN"/>
          </a:p>
        </p:txBody>
      </p:sp>
      <p:sp>
        <p:nvSpPr>
          <p:cNvPr id="6" name="Footer Placeholder 5">
            <a:extLst>
              <a:ext uri="{FF2B5EF4-FFF2-40B4-BE49-F238E27FC236}">
                <a16:creationId xmlns:a16="http://schemas.microsoft.com/office/drawing/2014/main" id="{846D9E4B-926C-2809-99CC-835C6EA79C2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6CAE5FD-7B68-3E79-CB1F-4AF54C20A3BF}"/>
              </a:ext>
            </a:extLst>
          </p:cNvPr>
          <p:cNvSpPr>
            <a:spLocks noGrp="1"/>
          </p:cNvSpPr>
          <p:nvPr>
            <p:ph type="sldNum" sz="quarter" idx="12"/>
          </p:nvPr>
        </p:nvSpPr>
        <p:spPr/>
        <p:txBody>
          <a:bodyPr/>
          <a:lstStyle/>
          <a:p>
            <a:fld id="{F11F598D-4087-4021-AE95-39A4275A7901}" type="slidenum">
              <a:rPr lang="en-IN" smtClean="0"/>
              <a:t>‹#›</a:t>
            </a:fld>
            <a:endParaRPr lang="en-IN"/>
          </a:p>
        </p:txBody>
      </p:sp>
    </p:spTree>
    <p:extLst>
      <p:ext uri="{BB962C8B-B14F-4D97-AF65-F5344CB8AC3E}">
        <p14:creationId xmlns:p14="http://schemas.microsoft.com/office/powerpoint/2010/main" val="32037718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A03C6C-1849-0D8E-955C-FD9195FA71D7}"/>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94D98CA-3B96-E75C-5C5E-8EA8F285569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E426456-F9B1-0683-C950-CE87787A609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1ABD1312-927B-F4E5-1406-AAEBD8E4154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289D4E6-D2C9-991C-31D4-E50E222E9EF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7D883EE0-FA78-4EDA-5CD1-C766708A2963}"/>
              </a:ext>
            </a:extLst>
          </p:cNvPr>
          <p:cNvSpPr>
            <a:spLocks noGrp="1"/>
          </p:cNvSpPr>
          <p:nvPr>
            <p:ph type="dt" sz="half" idx="10"/>
          </p:nvPr>
        </p:nvSpPr>
        <p:spPr/>
        <p:txBody>
          <a:bodyPr/>
          <a:lstStyle/>
          <a:p>
            <a:fld id="{1570840E-C011-4C25-B259-5EAAA6CD79DB}" type="datetimeFigureOut">
              <a:rPr lang="en-IN" smtClean="0"/>
              <a:t>20-10-2024</a:t>
            </a:fld>
            <a:endParaRPr lang="en-IN"/>
          </a:p>
        </p:txBody>
      </p:sp>
      <p:sp>
        <p:nvSpPr>
          <p:cNvPr id="8" name="Footer Placeholder 7">
            <a:extLst>
              <a:ext uri="{FF2B5EF4-FFF2-40B4-BE49-F238E27FC236}">
                <a16:creationId xmlns:a16="http://schemas.microsoft.com/office/drawing/2014/main" id="{B62D05C0-2D26-1FF1-FF6F-65410103B082}"/>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974B2F36-16D5-8786-A13F-E4189EF08D6C}"/>
              </a:ext>
            </a:extLst>
          </p:cNvPr>
          <p:cNvSpPr>
            <a:spLocks noGrp="1"/>
          </p:cNvSpPr>
          <p:nvPr>
            <p:ph type="sldNum" sz="quarter" idx="12"/>
          </p:nvPr>
        </p:nvSpPr>
        <p:spPr/>
        <p:txBody>
          <a:bodyPr/>
          <a:lstStyle/>
          <a:p>
            <a:fld id="{F11F598D-4087-4021-AE95-39A4275A7901}" type="slidenum">
              <a:rPr lang="en-IN" smtClean="0"/>
              <a:t>‹#›</a:t>
            </a:fld>
            <a:endParaRPr lang="en-IN"/>
          </a:p>
        </p:txBody>
      </p:sp>
    </p:spTree>
    <p:extLst>
      <p:ext uri="{BB962C8B-B14F-4D97-AF65-F5344CB8AC3E}">
        <p14:creationId xmlns:p14="http://schemas.microsoft.com/office/powerpoint/2010/main" val="409479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D076E8-78F3-5D89-0A71-61EBEE884B95}"/>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63F19764-852D-3A62-7377-AB675CAA0AF2}"/>
              </a:ext>
            </a:extLst>
          </p:cNvPr>
          <p:cNvSpPr>
            <a:spLocks noGrp="1"/>
          </p:cNvSpPr>
          <p:nvPr>
            <p:ph type="dt" sz="half" idx="10"/>
          </p:nvPr>
        </p:nvSpPr>
        <p:spPr/>
        <p:txBody>
          <a:bodyPr/>
          <a:lstStyle/>
          <a:p>
            <a:fld id="{1570840E-C011-4C25-B259-5EAAA6CD79DB}" type="datetimeFigureOut">
              <a:rPr lang="en-IN" smtClean="0"/>
              <a:t>20-10-2024</a:t>
            </a:fld>
            <a:endParaRPr lang="en-IN"/>
          </a:p>
        </p:txBody>
      </p:sp>
      <p:sp>
        <p:nvSpPr>
          <p:cNvPr id="4" name="Footer Placeholder 3">
            <a:extLst>
              <a:ext uri="{FF2B5EF4-FFF2-40B4-BE49-F238E27FC236}">
                <a16:creationId xmlns:a16="http://schemas.microsoft.com/office/drawing/2014/main" id="{1BA15342-4FFE-8248-DABA-1869F1455CE8}"/>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0CA5FC14-3615-F3BF-B470-8F834ECEAAFE}"/>
              </a:ext>
            </a:extLst>
          </p:cNvPr>
          <p:cNvSpPr>
            <a:spLocks noGrp="1"/>
          </p:cNvSpPr>
          <p:nvPr>
            <p:ph type="sldNum" sz="quarter" idx="12"/>
          </p:nvPr>
        </p:nvSpPr>
        <p:spPr/>
        <p:txBody>
          <a:bodyPr/>
          <a:lstStyle/>
          <a:p>
            <a:fld id="{F11F598D-4087-4021-AE95-39A4275A7901}" type="slidenum">
              <a:rPr lang="en-IN" smtClean="0"/>
              <a:t>‹#›</a:t>
            </a:fld>
            <a:endParaRPr lang="en-IN"/>
          </a:p>
        </p:txBody>
      </p:sp>
    </p:spTree>
    <p:extLst>
      <p:ext uri="{BB962C8B-B14F-4D97-AF65-F5344CB8AC3E}">
        <p14:creationId xmlns:p14="http://schemas.microsoft.com/office/powerpoint/2010/main" val="29460510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3F9F2D0-1D91-FB19-2E81-BBB3C0A4CF92}"/>
              </a:ext>
            </a:extLst>
          </p:cNvPr>
          <p:cNvSpPr>
            <a:spLocks noGrp="1"/>
          </p:cNvSpPr>
          <p:nvPr>
            <p:ph type="dt" sz="half" idx="10"/>
          </p:nvPr>
        </p:nvSpPr>
        <p:spPr/>
        <p:txBody>
          <a:bodyPr/>
          <a:lstStyle/>
          <a:p>
            <a:fld id="{1570840E-C011-4C25-B259-5EAAA6CD79DB}" type="datetimeFigureOut">
              <a:rPr lang="en-IN" smtClean="0"/>
              <a:t>20-10-2024</a:t>
            </a:fld>
            <a:endParaRPr lang="en-IN"/>
          </a:p>
        </p:txBody>
      </p:sp>
      <p:sp>
        <p:nvSpPr>
          <p:cNvPr id="3" name="Footer Placeholder 2">
            <a:extLst>
              <a:ext uri="{FF2B5EF4-FFF2-40B4-BE49-F238E27FC236}">
                <a16:creationId xmlns:a16="http://schemas.microsoft.com/office/drawing/2014/main" id="{426117EC-75A4-57D8-9143-64C57F83725B}"/>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E9306331-0845-ACE8-0506-F1FE058B39AE}"/>
              </a:ext>
            </a:extLst>
          </p:cNvPr>
          <p:cNvSpPr>
            <a:spLocks noGrp="1"/>
          </p:cNvSpPr>
          <p:nvPr>
            <p:ph type="sldNum" sz="quarter" idx="12"/>
          </p:nvPr>
        </p:nvSpPr>
        <p:spPr/>
        <p:txBody>
          <a:bodyPr/>
          <a:lstStyle/>
          <a:p>
            <a:fld id="{F11F598D-4087-4021-AE95-39A4275A7901}" type="slidenum">
              <a:rPr lang="en-IN" smtClean="0"/>
              <a:t>‹#›</a:t>
            </a:fld>
            <a:endParaRPr lang="en-IN"/>
          </a:p>
        </p:txBody>
      </p:sp>
    </p:spTree>
    <p:extLst>
      <p:ext uri="{BB962C8B-B14F-4D97-AF65-F5344CB8AC3E}">
        <p14:creationId xmlns:p14="http://schemas.microsoft.com/office/powerpoint/2010/main" val="25416239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C6AA05-5E7C-C780-4AD7-B77871313DA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C4862D61-179D-57DB-0C01-8F2D8541198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17718BDE-2015-88BE-5DCB-CE4CAA62FDB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F1FEC08-5307-09AE-51B8-23AE5792BC15}"/>
              </a:ext>
            </a:extLst>
          </p:cNvPr>
          <p:cNvSpPr>
            <a:spLocks noGrp="1"/>
          </p:cNvSpPr>
          <p:nvPr>
            <p:ph type="dt" sz="half" idx="10"/>
          </p:nvPr>
        </p:nvSpPr>
        <p:spPr/>
        <p:txBody>
          <a:bodyPr/>
          <a:lstStyle/>
          <a:p>
            <a:fld id="{1570840E-C011-4C25-B259-5EAAA6CD79DB}" type="datetimeFigureOut">
              <a:rPr lang="en-IN" smtClean="0"/>
              <a:t>20-10-2024</a:t>
            </a:fld>
            <a:endParaRPr lang="en-IN"/>
          </a:p>
        </p:txBody>
      </p:sp>
      <p:sp>
        <p:nvSpPr>
          <p:cNvPr id="6" name="Footer Placeholder 5">
            <a:extLst>
              <a:ext uri="{FF2B5EF4-FFF2-40B4-BE49-F238E27FC236}">
                <a16:creationId xmlns:a16="http://schemas.microsoft.com/office/drawing/2014/main" id="{8A9E71A2-D66B-4F5B-A177-FBA851D88D8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77D7BC9-DF69-0B7A-6E38-3BA38CEEAD3C}"/>
              </a:ext>
            </a:extLst>
          </p:cNvPr>
          <p:cNvSpPr>
            <a:spLocks noGrp="1"/>
          </p:cNvSpPr>
          <p:nvPr>
            <p:ph type="sldNum" sz="quarter" idx="12"/>
          </p:nvPr>
        </p:nvSpPr>
        <p:spPr/>
        <p:txBody>
          <a:bodyPr/>
          <a:lstStyle/>
          <a:p>
            <a:fld id="{F11F598D-4087-4021-AE95-39A4275A7901}" type="slidenum">
              <a:rPr lang="en-IN" smtClean="0"/>
              <a:t>‹#›</a:t>
            </a:fld>
            <a:endParaRPr lang="en-IN"/>
          </a:p>
        </p:txBody>
      </p:sp>
    </p:spTree>
    <p:extLst>
      <p:ext uri="{BB962C8B-B14F-4D97-AF65-F5344CB8AC3E}">
        <p14:creationId xmlns:p14="http://schemas.microsoft.com/office/powerpoint/2010/main" val="40763642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244E2F-3AB8-4D21-690C-9D7DF14BB46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94B8C761-AA01-417A-2433-744C853F2A5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1CDAA6C2-E317-2249-2356-2F1D24A19E5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D43C1DB-372F-402F-333E-B959BFA0C656}"/>
              </a:ext>
            </a:extLst>
          </p:cNvPr>
          <p:cNvSpPr>
            <a:spLocks noGrp="1"/>
          </p:cNvSpPr>
          <p:nvPr>
            <p:ph type="dt" sz="half" idx="10"/>
          </p:nvPr>
        </p:nvSpPr>
        <p:spPr/>
        <p:txBody>
          <a:bodyPr/>
          <a:lstStyle/>
          <a:p>
            <a:fld id="{1570840E-C011-4C25-B259-5EAAA6CD79DB}" type="datetimeFigureOut">
              <a:rPr lang="en-IN" smtClean="0"/>
              <a:t>20-10-2024</a:t>
            </a:fld>
            <a:endParaRPr lang="en-IN"/>
          </a:p>
        </p:txBody>
      </p:sp>
      <p:sp>
        <p:nvSpPr>
          <p:cNvPr id="6" name="Footer Placeholder 5">
            <a:extLst>
              <a:ext uri="{FF2B5EF4-FFF2-40B4-BE49-F238E27FC236}">
                <a16:creationId xmlns:a16="http://schemas.microsoft.com/office/drawing/2014/main" id="{02DE71AA-B5DF-D1BB-F9D0-C6FDCE8FA8C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5437012-EBC6-9187-1C84-16025328374E}"/>
              </a:ext>
            </a:extLst>
          </p:cNvPr>
          <p:cNvSpPr>
            <a:spLocks noGrp="1"/>
          </p:cNvSpPr>
          <p:nvPr>
            <p:ph type="sldNum" sz="quarter" idx="12"/>
          </p:nvPr>
        </p:nvSpPr>
        <p:spPr/>
        <p:txBody>
          <a:bodyPr/>
          <a:lstStyle/>
          <a:p>
            <a:fld id="{F11F598D-4087-4021-AE95-39A4275A7901}" type="slidenum">
              <a:rPr lang="en-IN" smtClean="0"/>
              <a:t>‹#›</a:t>
            </a:fld>
            <a:endParaRPr lang="en-IN"/>
          </a:p>
        </p:txBody>
      </p:sp>
    </p:spTree>
    <p:extLst>
      <p:ext uri="{BB962C8B-B14F-4D97-AF65-F5344CB8AC3E}">
        <p14:creationId xmlns:p14="http://schemas.microsoft.com/office/powerpoint/2010/main" val="16812055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2324B4-5191-BCFF-A97A-D82CC4856B84}"/>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0662F73-FBB3-F528-E1F2-F0489D2914D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3A5E2A7-715D-84E9-D71D-28AEDACA6109}"/>
              </a:ext>
            </a:extLst>
          </p:cNvPr>
          <p:cNvSpPr>
            <a:spLocks noGrp="1"/>
          </p:cNvSpPr>
          <p:nvPr>
            <p:ph type="dt" sz="half" idx="10"/>
          </p:nvPr>
        </p:nvSpPr>
        <p:spPr/>
        <p:txBody>
          <a:bodyPr/>
          <a:lstStyle/>
          <a:p>
            <a:fld id="{1570840E-C011-4C25-B259-5EAAA6CD79DB}" type="datetimeFigureOut">
              <a:rPr lang="en-IN" smtClean="0"/>
              <a:t>20-10-2024</a:t>
            </a:fld>
            <a:endParaRPr lang="en-IN"/>
          </a:p>
        </p:txBody>
      </p:sp>
      <p:sp>
        <p:nvSpPr>
          <p:cNvPr id="5" name="Footer Placeholder 4">
            <a:extLst>
              <a:ext uri="{FF2B5EF4-FFF2-40B4-BE49-F238E27FC236}">
                <a16:creationId xmlns:a16="http://schemas.microsoft.com/office/drawing/2014/main" id="{90AD2EE0-B106-B6E1-A8C6-C78CAD25E20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53493EA-64B1-1EB6-8CC7-D63DA6442F75}"/>
              </a:ext>
            </a:extLst>
          </p:cNvPr>
          <p:cNvSpPr>
            <a:spLocks noGrp="1"/>
          </p:cNvSpPr>
          <p:nvPr>
            <p:ph type="sldNum" sz="quarter" idx="12"/>
          </p:nvPr>
        </p:nvSpPr>
        <p:spPr/>
        <p:txBody>
          <a:bodyPr/>
          <a:lstStyle/>
          <a:p>
            <a:fld id="{F11F598D-4087-4021-AE95-39A4275A7901}" type="slidenum">
              <a:rPr lang="en-IN" smtClean="0"/>
              <a:t>‹#›</a:t>
            </a:fld>
            <a:endParaRPr lang="en-IN"/>
          </a:p>
        </p:txBody>
      </p:sp>
    </p:spTree>
    <p:extLst>
      <p:ext uri="{BB962C8B-B14F-4D97-AF65-F5344CB8AC3E}">
        <p14:creationId xmlns:p14="http://schemas.microsoft.com/office/powerpoint/2010/main" val="7630512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7673639-DCF2-3100-FAD8-336F834C30E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69FE4FA-904D-79C1-CAA3-C9D7E65BFB3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60B9B87-B01A-DC07-1631-A73F420F51CE}"/>
              </a:ext>
            </a:extLst>
          </p:cNvPr>
          <p:cNvSpPr>
            <a:spLocks noGrp="1"/>
          </p:cNvSpPr>
          <p:nvPr>
            <p:ph type="dt" sz="half" idx="10"/>
          </p:nvPr>
        </p:nvSpPr>
        <p:spPr/>
        <p:txBody>
          <a:bodyPr/>
          <a:lstStyle/>
          <a:p>
            <a:fld id="{1570840E-C011-4C25-B259-5EAAA6CD79DB}" type="datetimeFigureOut">
              <a:rPr lang="en-IN" smtClean="0"/>
              <a:t>20-10-2024</a:t>
            </a:fld>
            <a:endParaRPr lang="en-IN"/>
          </a:p>
        </p:txBody>
      </p:sp>
      <p:sp>
        <p:nvSpPr>
          <p:cNvPr id="5" name="Footer Placeholder 4">
            <a:extLst>
              <a:ext uri="{FF2B5EF4-FFF2-40B4-BE49-F238E27FC236}">
                <a16:creationId xmlns:a16="http://schemas.microsoft.com/office/drawing/2014/main" id="{29793FCE-C2B9-3911-6D48-BA1A12283F5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D21BB27-E938-20D2-7818-8AD7927E79F4}"/>
              </a:ext>
            </a:extLst>
          </p:cNvPr>
          <p:cNvSpPr>
            <a:spLocks noGrp="1"/>
          </p:cNvSpPr>
          <p:nvPr>
            <p:ph type="sldNum" sz="quarter" idx="12"/>
          </p:nvPr>
        </p:nvSpPr>
        <p:spPr/>
        <p:txBody>
          <a:bodyPr/>
          <a:lstStyle/>
          <a:p>
            <a:fld id="{F11F598D-4087-4021-AE95-39A4275A7901}" type="slidenum">
              <a:rPr lang="en-IN" smtClean="0"/>
              <a:t>‹#›</a:t>
            </a:fld>
            <a:endParaRPr lang="en-IN"/>
          </a:p>
        </p:txBody>
      </p:sp>
    </p:spTree>
    <p:extLst>
      <p:ext uri="{BB962C8B-B14F-4D97-AF65-F5344CB8AC3E}">
        <p14:creationId xmlns:p14="http://schemas.microsoft.com/office/powerpoint/2010/main" val="12200989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413E1DF-430C-6B60-37DB-1439CDEECB9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2D4C279-8F29-A75D-4BAB-DBAEA012D8C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C3B91E8-CBEB-2E8D-3B33-1A45A73E24D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570840E-C011-4C25-B259-5EAAA6CD79DB}" type="datetimeFigureOut">
              <a:rPr lang="en-IN" smtClean="0"/>
              <a:t>20-10-2024</a:t>
            </a:fld>
            <a:endParaRPr lang="en-IN"/>
          </a:p>
        </p:txBody>
      </p:sp>
      <p:sp>
        <p:nvSpPr>
          <p:cNvPr id="5" name="Footer Placeholder 4">
            <a:extLst>
              <a:ext uri="{FF2B5EF4-FFF2-40B4-BE49-F238E27FC236}">
                <a16:creationId xmlns:a16="http://schemas.microsoft.com/office/drawing/2014/main" id="{F0198E39-FE32-F237-53FE-EA4601768E9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902F36C9-7521-5414-F5BA-A04671A2543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11F598D-4087-4021-AE95-39A4275A7901}" type="slidenum">
              <a:rPr lang="en-IN" smtClean="0"/>
              <a:t>‹#›</a:t>
            </a:fld>
            <a:endParaRPr lang="en-IN"/>
          </a:p>
        </p:txBody>
      </p:sp>
    </p:spTree>
    <p:extLst>
      <p:ext uri="{BB962C8B-B14F-4D97-AF65-F5344CB8AC3E}">
        <p14:creationId xmlns:p14="http://schemas.microsoft.com/office/powerpoint/2010/main" val="155725360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eg"/><Relationship Id="rId1" Type="http://schemas.openxmlformats.org/officeDocument/2006/relationships/slideLayout" Target="../slideLayouts/slideLayout1.xml"/><Relationship Id="rId4" Type="http://schemas.openxmlformats.org/officeDocument/2006/relationships/image" Target="../media/image9.svg"/></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7.jpeg"/><Relationship Id="rId1" Type="http://schemas.openxmlformats.org/officeDocument/2006/relationships/slideLayout" Target="../slideLayouts/slideLayout1.xml"/><Relationship Id="rId6" Type="http://schemas.openxmlformats.org/officeDocument/2006/relationships/image" Target="../media/image13.svg"/><Relationship Id="rId5" Type="http://schemas.openxmlformats.org/officeDocument/2006/relationships/image" Target="../media/image12.png"/><Relationship Id="rId4" Type="http://schemas.openxmlformats.org/officeDocument/2006/relationships/image" Target="../media/image11.svg"/></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2EB6FCF-A5ED-65C1-EDF8-4BF89CE6E530}"/>
              </a:ext>
            </a:extLst>
          </p:cNvPr>
          <p:cNvSpPr txBox="1"/>
          <p:nvPr/>
        </p:nvSpPr>
        <p:spPr>
          <a:xfrm>
            <a:off x="2360061" y="2748146"/>
            <a:ext cx="8280399" cy="1631216"/>
          </a:xfrm>
          <a:prstGeom prst="rect">
            <a:avLst/>
          </a:prstGeom>
          <a:noFill/>
        </p:spPr>
        <p:txBody>
          <a:bodyPr wrap="square" rtlCol="0">
            <a:spAutoFit/>
          </a:bodyPr>
          <a:lstStyle/>
          <a:p>
            <a:r>
              <a:rPr lang="en-IN" sz="10000" dirty="0">
                <a:solidFill>
                  <a:schemeClr val="bg1"/>
                </a:solidFill>
                <a:latin typeface="Inter Black" panose="020B0A02050000000004" pitchFamily="34" charset="0"/>
                <a:ea typeface="Inter Black" panose="020B0A02050000000004" pitchFamily="34" charset="0"/>
              </a:rPr>
              <a:t>WELCOME</a:t>
            </a:r>
          </a:p>
        </p:txBody>
      </p:sp>
    </p:spTree>
    <p:extLst>
      <p:ext uri="{BB962C8B-B14F-4D97-AF65-F5344CB8AC3E}">
        <p14:creationId xmlns:p14="http://schemas.microsoft.com/office/powerpoint/2010/main" val="347749416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C8E8785-F2DE-D415-5D12-DDEA78A2A012}"/>
              </a:ext>
            </a:extLst>
          </p:cNvPr>
          <p:cNvSpPr/>
          <p:nvPr/>
        </p:nvSpPr>
        <p:spPr>
          <a:xfrm>
            <a:off x="0" y="0"/>
            <a:ext cx="2873829" cy="68580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028" name="Picture 4" descr="How To Begin Your Presentation With Impact: A Step-by-Step Guide">
            <a:extLst>
              <a:ext uri="{FF2B5EF4-FFF2-40B4-BE49-F238E27FC236}">
                <a16:creationId xmlns:a16="http://schemas.microsoft.com/office/drawing/2014/main" id="{72786CBB-C61A-7F11-FCA3-42B105F3779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30351" y="1371600"/>
            <a:ext cx="7315200" cy="4114800"/>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ED67BDF2-DF95-A7D2-2483-71BC94A9E34E}"/>
              </a:ext>
            </a:extLst>
          </p:cNvPr>
          <p:cNvSpPr txBox="1"/>
          <p:nvPr/>
        </p:nvSpPr>
        <p:spPr>
          <a:xfrm>
            <a:off x="410547" y="233265"/>
            <a:ext cx="1791477" cy="523220"/>
          </a:xfrm>
          <a:prstGeom prst="rect">
            <a:avLst/>
          </a:prstGeom>
          <a:solidFill>
            <a:schemeClr val="accent6">
              <a:lumMod val="75000"/>
            </a:schemeClr>
          </a:solidFill>
        </p:spPr>
        <p:txBody>
          <a:bodyPr wrap="square" rtlCol="0">
            <a:spAutoFit/>
          </a:bodyPr>
          <a:lstStyle/>
          <a:p>
            <a:r>
              <a:rPr lang="en-IN" sz="2800" b="1" dirty="0"/>
              <a:t>CONTENTS</a:t>
            </a:r>
          </a:p>
        </p:txBody>
      </p:sp>
      <p:sp>
        <p:nvSpPr>
          <p:cNvPr id="4" name="TextBox 3">
            <a:extLst>
              <a:ext uri="{FF2B5EF4-FFF2-40B4-BE49-F238E27FC236}">
                <a16:creationId xmlns:a16="http://schemas.microsoft.com/office/drawing/2014/main" id="{392512C7-9C5C-ED11-01AC-498CB8F38381}"/>
              </a:ext>
            </a:extLst>
          </p:cNvPr>
          <p:cNvSpPr txBox="1"/>
          <p:nvPr/>
        </p:nvSpPr>
        <p:spPr>
          <a:xfrm>
            <a:off x="93306" y="1619887"/>
            <a:ext cx="2276669" cy="461665"/>
          </a:xfrm>
          <a:prstGeom prst="rect">
            <a:avLst/>
          </a:prstGeom>
          <a:noFill/>
        </p:spPr>
        <p:txBody>
          <a:bodyPr wrap="square" rtlCol="0">
            <a:spAutoFit/>
          </a:bodyPr>
          <a:lstStyle/>
          <a:p>
            <a:r>
              <a:rPr lang="en-IN" sz="2400" b="1" dirty="0"/>
              <a:t>INTRODUCTION</a:t>
            </a:r>
          </a:p>
        </p:txBody>
      </p:sp>
      <p:sp>
        <p:nvSpPr>
          <p:cNvPr id="5" name="TextBox 4">
            <a:extLst>
              <a:ext uri="{FF2B5EF4-FFF2-40B4-BE49-F238E27FC236}">
                <a16:creationId xmlns:a16="http://schemas.microsoft.com/office/drawing/2014/main" id="{996EF73D-0435-A004-9682-A10D9967F273}"/>
              </a:ext>
            </a:extLst>
          </p:cNvPr>
          <p:cNvSpPr txBox="1"/>
          <p:nvPr/>
        </p:nvSpPr>
        <p:spPr>
          <a:xfrm>
            <a:off x="149290" y="2900090"/>
            <a:ext cx="1772816" cy="461665"/>
          </a:xfrm>
          <a:prstGeom prst="rect">
            <a:avLst/>
          </a:prstGeom>
          <a:noFill/>
        </p:spPr>
        <p:txBody>
          <a:bodyPr wrap="square" rtlCol="0">
            <a:spAutoFit/>
          </a:bodyPr>
          <a:lstStyle/>
          <a:p>
            <a:r>
              <a:rPr lang="en-IN" sz="2400" b="1" dirty="0">
                <a:solidFill>
                  <a:schemeClr val="tx1">
                    <a:lumMod val="50000"/>
                    <a:lumOff val="50000"/>
                  </a:schemeClr>
                </a:solidFill>
              </a:rPr>
              <a:t>OBJECTIVES</a:t>
            </a:r>
          </a:p>
        </p:txBody>
      </p:sp>
      <p:sp>
        <p:nvSpPr>
          <p:cNvPr id="6" name="TextBox 5">
            <a:extLst>
              <a:ext uri="{FF2B5EF4-FFF2-40B4-BE49-F238E27FC236}">
                <a16:creationId xmlns:a16="http://schemas.microsoft.com/office/drawing/2014/main" id="{A9B3CE4F-CFA4-F8EE-C91F-D34653540BB3}"/>
              </a:ext>
            </a:extLst>
          </p:cNvPr>
          <p:cNvSpPr txBox="1"/>
          <p:nvPr/>
        </p:nvSpPr>
        <p:spPr>
          <a:xfrm>
            <a:off x="125962" y="4180293"/>
            <a:ext cx="2276669" cy="461665"/>
          </a:xfrm>
          <a:prstGeom prst="rect">
            <a:avLst/>
          </a:prstGeom>
          <a:noFill/>
        </p:spPr>
        <p:txBody>
          <a:bodyPr wrap="square" rtlCol="0">
            <a:spAutoFit/>
          </a:bodyPr>
          <a:lstStyle/>
          <a:p>
            <a:r>
              <a:rPr lang="en-IN" sz="2400" b="1" dirty="0">
                <a:solidFill>
                  <a:schemeClr val="tx1">
                    <a:lumMod val="50000"/>
                    <a:lumOff val="50000"/>
                  </a:schemeClr>
                </a:solidFill>
              </a:rPr>
              <a:t>METHODOLOGY</a:t>
            </a:r>
          </a:p>
        </p:txBody>
      </p:sp>
      <p:sp>
        <p:nvSpPr>
          <p:cNvPr id="8" name="TextBox 7">
            <a:extLst>
              <a:ext uri="{FF2B5EF4-FFF2-40B4-BE49-F238E27FC236}">
                <a16:creationId xmlns:a16="http://schemas.microsoft.com/office/drawing/2014/main" id="{7F87EA77-3528-0BE9-E0AD-5B183FABE984}"/>
              </a:ext>
            </a:extLst>
          </p:cNvPr>
          <p:cNvSpPr txBox="1"/>
          <p:nvPr/>
        </p:nvSpPr>
        <p:spPr>
          <a:xfrm>
            <a:off x="93307" y="5460496"/>
            <a:ext cx="2108718" cy="461665"/>
          </a:xfrm>
          <a:prstGeom prst="rect">
            <a:avLst/>
          </a:prstGeom>
          <a:noFill/>
        </p:spPr>
        <p:txBody>
          <a:bodyPr wrap="square" rtlCol="0">
            <a:spAutoFit/>
          </a:bodyPr>
          <a:lstStyle/>
          <a:p>
            <a:r>
              <a:rPr lang="en-IN" sz="2400" b="1" dirty="0">
                <a:solidFill>
                  <a:schemeClr val="tx1">
                    <a:lumMod val="50000"/>
                    <a:lumOff val="50000"/>
                  </a:schemeClr>
                </a:solidFill>
              </a:rPr>
              <a:t>FUTURE SCOPE</a:t>
            </a:r>
          </a:p>
        </p:txBody>
      </p:sp>
      <p:sp>
        <p:nvSpPr>
          <p:cNvPr id="13" name="Arrow: Left 12">
            <a:extLst>
              <a:ext uri="{FF2B5EF4-FFF2-40B4-BE49-F238E27FC236}">
                <a16:creationId xmlns:a16="http://schemas.microsoft.com/office/drawing/2014/main" id="{68FE4958-1160-FC2B-228E-93AAEBA853E6}"/>
              </a:ext>
            </a:extLst>
          </p:cNvPr>
          <p:cNvSpPr/>
          <p:nvPr/>
        </p:nvSpPr>
        <p:spPr>
          <a:xfrm>
            <a:off x="2309325" y="1580131"/>
            <a:ext cx="564504" cy="541176"/>
          </a:xfrm>
          <a:prstGeom prst="leftArrow">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5" name="Straight Connector 14">
            <a:extLst>
              <a:ext uri="{FF2B5EF4-FFF2-40B4-BE49-F238E27FC236}">
                <a16:creationId xmlns:a16="http://schemas.microsoft.com/office/drawing/2014/main" id="{EF3B946B-71F0-E83B-603D-F1E43593C43D}"/>
              </a:ext>
            </a:extLst>
          </p:cNvPr>
          <p:cNvCxnSpPr/>
          <p:nvPr/>
        </p:nvCxnSpPr>
        <p:spPr>
          <a:xfrm>
            <a:off x="0" y="1026367"/>
            <a:ext cx="2873829" cy="0"/>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50876642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7585FDFC-52B3-AF21-2338-9FD1C7BD3BF8}"/>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67F3BC40-1FB2-F4FF-56E5-2217880F90DA}"/>
              </a:ext>
            </a:extLst>
          </p:cNvPr>
          <p:cNvSpPr/>
          <p:nvPr/>
        </p:nvSpPr>
        <p:spPr>
          <a:xfrm>
            <a:off x="0" y="0"/>
            <a:ext cx="2873829" cy="68580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8A30F63D-335D-7878-B95B-C6DB7B76CAF0}"/>
              </a:ext>
            </a:extLst>
          </p:cNvPr>
          <p:cNvSpPr txBox="1"/>
          <p:nvPr/>
        </p:nvSpPr>
        <p:spPr>
          <a:xfrm>
            <a:off x="410547" y="233265"/>
            <a:ext cx="1791477" cy="523220"/>
          </a:xfrm>
          <a:prstGeom prst="rect">
            <a:avLst/>
          </a:prstGeom>
          <a:solidFill>
            <a:schemeClr val="accent6">
              <a:lumMod val="75000"/>
            </a:schemeClr>
          </a:solidFill>
        </p:spPr>
        <p:txBody>
          <a:bodyPr wrap="square" rtlCol="0">
            <a:spAutoFit/>
          </a:bodyPr>
          <a:lstStyle/>
          <a:p>
            <a:r>
              <a:rPr lang="en-IN" sz="2800" b="1" dirty="0"/>
              <a:t>CONTENTS</a:t>
            </a:r>
          </a:p>
        </p:txBody>
      </p:sp>
      <p:sp>
        <p:nvSpPr>
          <p:cNvPr id="4" name="TextBox 3">
            <a:extLst>
              <a:ext uri="{FF2B5EF4-FFF2-40B4-BE49-F238E27FC236}">
                <a16:creationId xmlns:a16="http://schemas.microsoft.com/office/drawing/2014/main" id="{0EDBB7FC-55D8-BDC3-9AEE-A2809476AFF1}"/>
              </a:ext>
            </a:extLst>
          </p:cNvPr>
          <p:cNvSpPr txBox="1"/>
          <p:nvPr/>
        </p:nvSpPr>
        <p:spPr>
          <a:xfrm>
            <a:off x="93306" y="1619887"/>
            <a:ext cx="2276669" cy="461665"/>
          </a:xfrm>
          <a:prstGeom prst="rect">
            <a:avLst/>
          </a:prstGeom>
          <a:noFill/>
        </p:spPr>
        <p:txBody>
          <a:bodyPr wrap="square" rtlCol="0">
            <a:spAutoFit/>
          </a:bodyPr>
          <a:lstStyle/>
          <a:p>
            <a:r>
              <a:rPr lang="en-IN" sz="2400" b="1" dirty="0">
                <a:solidFill>
                  <a:schemeClr val="tx1">
                    <a:lumMod val="50000"/>
                    <a:lumOff val="50000"/>
                  </a:schemeClr>
                </a:solidFill>
              </a:rPr>
              <a:t>INTRODUCTION</a:t>
            </a:r>
          </a:p>
        </p:txBody>
      </p:sp>
      <p:sp>
        <p:nvSpPr>
          <p:cNvPr id="5" name="TextBox 4">
            <a:extLst>
              <a:ext uri="{FF2B5EF4-FFF2-40B4-BE49-F238E27FC236}">
                <a16:creationId xmlns:a16="http://schemas.microsoft.com/office/drawing/2014/main" id="{51145292-0F99-D0D5-D8B2-1A00D8660A00}"/>
              </a:ext>
            </a:extLst>
          </p:cNvPr>
          <p:cNvSpPr txBox="1"/>
          <p:nvPr/>
        </p:nvSpPr>
        <p:spPr>
          <a:xfrm>
            <a:off x="149290" y="2900090"/>
            <a:ext cx="1772816" cy="461665"/>
          </a:xfrm>
          <a:prstGeom prst="rect">
            <a:avLst/>
          </a:prstGeom>
          <a:noFill/>
        </p:spPr>
        <p:txBody>
          <a:bodyPr wrap="square" rtlCol="0">
            <a:spAutoFit/>
          </a:bodyPr>
          <a:lstStyle/>
          <a:p>
            <a:r>
              <a:rPr lang="en-IN" sz="2400" b="1" dirty="0"/>
              <a:t>OBJECTIVES</a:t>
            </a:r>
          </a:p>
        </p:txBody>
      </p:sp>
      <p:sp>
        <p:nvSpPr>
          <p:cNvPr id="6" name="TextBox 5">
            <a:extLst>
              <a:ext uri="{FF2B5EF4-FFF2-40B4-BE49-F238E27FC236}">
                <a16:creationId xmlns:a16="http://schemas.microsoft.com/office/drawing/2014/main" id="{36B3CA77-147D-1D63-6D01-8E4AFF4971E9}"/>
              </a:ext>
            </a:extLst>
          </p:cNvPr>
          <p:cNvSpPr txBox="1"/>
          <p:nvPr/>
        </p:nvSpPr>
        <p:spPr>
          <a:xfrm>
            <a:off x="125962" y="4180293"/>
            <a:ext cx="2276669" cy="461665"/>
          </a:xfrm>
          <a:prstGeom prst="rect">
            <a:avLst/>
          </a:prstGeom>
          <a:noFill/>
        </p:spPr>
        <p:txBody>
          <a:bodyPr wrap="square" rtlCol="0">
            <a:spAutoFit/>
          </a:bodyPr>
          <a:lstStyle/>
          <a:p>
            <a:r>
              <a:rPr lang="en-IN" sz="2400" b="1" dirty="0">
                <a:solidFill>
                  <a:schemeClr val="tx1">
                    <a:lumMod val="50000"/>
                    <a:lumOff val="50000"/>
                  </a:schemeClr>
                </a:solidFill>
              </a:rPr>
              <a:t>METHODOLOGY</a:t>
            </a:r>
          </a:p>
        </p:txBody>
      </p:sp>
      <p:sp>
        <p:nvSpPr>
          <p:cNvPr id="8" name="TextBox 7">
            <a:extLst>
              <a:ext uri="{FF2B5EF4-FFF2-40B4-BE49-F238E27FC236}">
                <a16:creationId xmlns:a16="http://schemas.microsoft.com/office/drawing/2014/main" id="{D3A77952-FDAD-F306-8EC3-2691AEF57929}"/>
              </a:ext>
            </a:extLst>
          </p:cNvPr>
          <p:cNvSpPr txBox="1"/>
          <p:nvPr/>
        </p:nvSpPr>
        <p:spPr>
          <a:xfrm>
            <a:off x="93307" y="5460496"/>
            <a:ext cx="2108718" cy="461665"/>
          </a:xfrm>
          <a:prstGeom prst="rect">
            <a:avLst/>
          </a:prstGeom>
          <a:noFill/>
        </p:spPr>
        <p:txBody>
          <a:bodyPr wrap="square" rtlCol="0">
            <a:spAutoFit/>
          </a:bodyPr>
          <a:lstStyle/>
          <a:p>
            <a:r>
              <a:rPr lang="en-IN" sz="2400" b="1" dirty="0">
                <a:solidFill>
                  <a:schemeClr val="tx1">
                    <a:lumMod val="50000"/>
                    <a:lumOff val="50000"/>
                  </a:schemeClr>
                </a:solidFill>
              </a:rPr>
              <a:t>FUTURE SCOPE</a:t>
            </a:r>
          </a:p>
        </p:txBody>
      </p:sp>
      <p:sp>
        <p:nvSpPr>
          <p:cNvPr id="13" name="Arrow: Left 12">
            <a:extLst>
              <a:ext uri="{FF2B5EF4-FFF2-40B4-BE49-F238E27FC236}">
                <a16:creationId xmlns:a16="http://schemas.microsoft.com/office/drawing/2014/main" id="{9EB2C66C-42E5-59DA-0FA3-D5DD3FD18E60}"/>
              </a:ext>
            </a:extLst>
          </p:cNvPr>
          <p:cNvSpPr/>
          <p:nvPr/>
        </p:nvSpPr>
        <p:spPr>
          <a:xfrm>
            <a:off x="2309325" y="2820579"/>
            <a:ext cx="564504" cy="541176"/>
          </a:xfrm>
          <a:prstGeom prst="leftArrow">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5" name="Straight Connector 14">
            <a:extLst>
              <a:ext uri="{FF2B5EF4-FFF2-40B4-BE49-F238E27FC236}">
                <a16:creationId xmlns:a16="http://schemas.microsoft.com/office/drawing/2014/main" id="{6C898CB1-C3D9-1F74-FAA7-44C29A05644F}"/>
              </a:ext>
            </a:extLst>
          </p:cNvPr>
          <p:cNvCxnSpPr/>
          <p:nvPr/>
        </p:nvCxnSpPr>
        <p:spPr>
          <a:xfrm>
            <a:off x="0" y="1026367"/>
            <a:ext cx="2873829" cy="0"/>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pic>
        <p:nvPicPr>
          <p:cNvPr id="2050" name="Picture 2" descr="Our Objective is to Provide world class, Super quality and product services  to customers - Ripple Construction Products Pvt Ltd">
            <a:extLst>
              <a:ext uri="{FF2B5EF4-FFF2-40B4-BE49-F238E27FC236}">
                <a16:creationId xmlns:a16="http://schemas.microsoft.com/office/drawing/2014/main" id="{88989881-DCB2-282E-8A7F-3E7392D9FF0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37921" y="1214729"/>
            <a:ext cx="5904721" cy="4428541"/>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6748896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8D09DD06-57A4-A745-7A39-FEB33687401D}"/>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D0020457-A926-B7BC-4B22-9501378C7AED}"/>
              </a:ext>
            </a:extLst>
          </p:cNvPr>
          <p:cNvSpPr/>
          <p:nvPr/>
        </p:nvSpPr>
        <p:spPr>
          <a:xfrm>
            <a:off x="0" y="0"/>
            <a:ext cx="2873829" cy="68580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8CAE1729-08A6-11EA-CFAF-6D056AEAB0D7}"/>
              </a:ext>
            </a:extLst>
          </p:cNvPr>
          <p:cNvSpPr txBox="1"/>
          <p:nvPr/>
        </p:nvSpPr>
        <p:spPr>
          <a:xfrm>
            <a:off x="410547" y="233265"/>
            <a:ext cx="1791477" cy="523220"/>
          </a:xfrm>
          <a:prstGeom prst="rect">
            <a:avLst/>
          </a:prstGeom>
          <a:solidFill>
            <a:schemeClr val="accent6">
              <a:lumMod val="75000"/>
            </a:schemeClr>
          </a:solidFill>
        </p:spPr>
        <p:txBody>
          <a:bodyPr wrap="square" rtlCol="0">
            <a:spAutoFit/>
          </a:bodyPr>
          <a:lstStyle/>
          <a:p>
            <a:r>
              <a:rPr lang="en-IN" sz="2800" b="1" dirty="0"/>
              <a:t>CONTENTS</a:t>
            </a:r>
          </a:p>
        </p:txBody>
      </p:sp>
      <p:sp>
        <p:nvSpPr>
          <p:cNvPr id="4" name="TextBox 3">
            <a:extLst>
              <a:ext uri="{FF2B5EF4-FFF2-40B4-BE49-F238E27FC236}">
                <a16:creationId xmlns:a16="http://schemas.microsoft.com/office/drawing/2014/main" id="{D96E195D-549E-2A41-A39A-FCE16347EA78}"/>
              </a:ext>
            </a:extLst>
          </p:cNvPr>
          <p:cNvSpPr txBox="1"/>
          <p:nvPr/>
        </p:nvSpPr>
        <p:spPr>
          <a:xfrm>
            <a:off x="93306" y="1619887"/>
            <a:ext cx="2276669" cy="461665"/>
          </a:xfrm>
          <a:prstGeom prst="rect">
            <a:avLst/>
          </a:prstGeom>
          <a:noFill/>
        </p:spPr>
        <p:txBody>
          <a:bodyPr wrap="square" rtlCol="0">
            <a:spAutoFit/>
          </a:bodyPr>
          <a:lstStyle/>
          <a:p>
            <a:r>
              <a:rPr lang="en-IN" sz="2400" b="1" dirty="0">
                <a:solidFill>
                  <a:schemeClr val="tx1">
                    <a:lumMod val="50000"/>
                    <a:lumOff val="50000"/>
                  </a:schemeClr>
                </a:solidFill>
              </a:rPr>
              <a:t>INTRODUCTION</a:t>
            </a:r>
          </a:p>
        </p:txBody>
      </p:sp>
      <p:sp>
        <p:nvSpPr>
          <p:cNvPr id="5" name="TextBox 4">
            <a:extLst>
              <a:ext uri="{FF2B5EF4-FFF2-40B4-BE49-F238E27FC236}">
                <a16:creationId xmlns:a16="http://schemas.microsoft.com/office/drawing/2014/main" id="{DDADE1FD-2795-8BEE-1AE5-87FF31F9F2A9}"/>
              </a:ext>
            </a:extLst>
          </p:cNvPr>
          <p:cNvSpPr txBox="1"/>
          <p:nvPr/>
        </p:nvSpPr>
        <p:spPr>
          <a:xfrm>
            <a:off x="149290" y="2900090"/>
            <a:ext cx="1772816" cy="461665"/>
          </a:xfrm>
          <a:prstGeom prst="rect">
            <a:avLst/>
          </a:prstGeom>
          <a:noFill/>
        </p:spPr>
        <p:txBody>
          <a:bodyPr wrap="square" rtlCol="0">
            <a:spAutoFit/>
          </a:bodyPr>
          <a:lstStyle/>
          <a:p>
            <a:r>
              <a:rPr lang="en-IN" sz="2400" b="1" dirty="0">
                <a:solidFill>
                  <a:schemeClr val="tx1">
                    <a:lumMod val="50000"/>
                    <a:lumOff val="50000"/>
                  </a:schemeClr>
                </a:solidFill>
              </a:rPr>
              <a:t>OBJECTIVES</a:t>
            </a:r>
          </a:p>
        </p:txBody>
      </p:sp>
      <p:sp>
        <p:nvSpPr>
          <p:cNvPr id="6" name="TextBox 5">
            <a:extLst>
              <a:ext uri="{FF2B5EF4-FFF2-40B4-BE49-F238E27FC236}">
                <a16:creationId xmlns:a16="http://schemas.microsoft.com/office/drawing/2014/main" id="{AA0EBDEA-6BCD-472E-ACD1-EDB947DCF2FD}"/>
              </a:ext>
            </a:extLst>
          </p:cNvPr>
          <p:cNvSpPr txBox="1"/>
          <p:nvPr/>
        </p:nvSpPr>
        <p:spPr>
          <a:xfrm>
            <a:off x="125962" y="4180293"/>
            <a:ext cx="2276669" cy="461665"/>
          </a:xfrm>
          <a:prstGeom prst="rect">
            <a:avLst/>
          </a:prstGeom>
          <a:noFill/>
        </p:spPr>
        <p:txBody>
          <a:bodyPr wrap="square" rtlCol="0">
            <a:spAutoFit/>
          </a:bodyPr>
          <a:lstStyle/>
          <a:p>
            <a:r>
              <a:rPr lang="en-IN" sz="2400" b="1" dirty="0"/>
              <a:t>METHODOLOGY</a:t>
            </a:r>
          </a:p>
        </p:txBody>
      </p:sp>
      <p:sp>
        <p:nvSpPr>
          <p:cNvPr id="8" name="TextBox 7">
            <a:extLst>
              <a:ext uri="{FF2B5EF4-FFF2-40B4-BE49-F238E27FC236}">
                <a16:creationId xmlns:a16="http://schemas.microsoft.com/office/drawing/2014/main" id="{9419F2B5-AF09-11EF-AE8A-2DD67237C145}"/>
              </a:ext>
            </a:extLst>
          </p:cNvPr>
          <p:cNvSpPr txBox="1"/>
          <p:nvPr/>
        </p:nvSpPr>
        <p:spPr>
          <a:xfrm>
            <a:off x="93307" y="5460496"/>
            <a:ext cx="2108718" cy="461665"/>
          </a:xfrm>
          <a:prstGeom prst="rect">
            <a:avLst/>
          </a:prstGeom>
          <a:noFill/>
        </p:spPr>
        <p:txBody>
          <a:bodyPr wrap="square" rtlCol="0">
            <a:spAutoFit/>
          </a:bodyPr>
          <a:lstStyle/>
          <a:p>
            <a:r>
              <a:rPr lang="en-IN" sz="2400" b="1" dirty="0">
                <a:solidFill>
                  <a:schemeClr val="tx1">
                    <a:lumMod val="50000"/>
                    <a:lumOff val="50000"/>
                  </a:schemeClr>
                </a:solidFill>
              </a:rPr>
              <a:t>FUTURE SCOPE</a:t>
            </a:r>
          </a:p>
        </p:txBody>
      </p:sp>
      <p:sp>
        <p:nvSpPr>
          <p:cNvPr id="13" name="Arrow: Left 12">
            <a:extLst>
              <a:ext uri="{FF2B5EF4-FFF2-40B4-BE49-F238E27FC236}">
                <a16:creationId xmlns:a16="http://schemas.microsoft.com/office/drawing/2014/main" id="{95C4DBBA-0D69-0203-00A4-0CF87D3672A7}"/>
              </a:ext>
            </a:extLst>
          </p:cNvPr>
          <p:cNvSpPr/>
          <p:nvPr/>
        </p:nvSpPr>
        <p:spPr>
          <a:xfrm>
            <a:off x="2309325" y="4140537"/>
            <a:ext cx="564504" cy="541176"/>
          </a:xfrm>
          <a:prstGeom prst="leftArrow">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5" name="Straight Connector 14">
            <a:extLst>
              <a:ext uri="{FF2B5EF4-FFF2-40B4-BE49-F238E27FC236}">
                <a16:creationId xmlns:a16="http://schemas.microsoft.com/office/drawing/2014/main" id="{83933D20-8FB8-3123-90C9-BC47F5A8DA92}"/>
              </a:ext>
            </a:extLst>
          </p:cNvPr>
          <p:cNvCxnSpPr/>
          <p:nvPr/>
        </p:nvCxnSpPr>
        <p:spPr>
          <a:xfrm>
            <a:off x="0" y="1026367"/>
            <a:ext cx="2873829" cy="0"/>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pic>
        <p:nvPicPr>
          <p:cNvPr id="3074" name="Picture 2" descr="Methodology Infographics Google Slides and PowerPoint template">
            <a:extLst>
              <a:ext uri="{FF2B5EF4-FFF2-40B4-BE49-F238E27FC236}">
                <a16:creationId xmlns:a16="http://schemas.microsoft.com/office/drawing/2014/main" id="{506607F6-1AB4-A6C8-4D51-BF923B1B330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76057" y="1447800"/>
            <a:ext cx="7048500" cy="3962400"/>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6">
            <a:extLst>
              <a:ext uri="{FF2B5EF4-FFF2-40B4-BE49-F238E27FC236}">
                <a16:creationId xmlns:a16="http://schemas.microsoft.com/office/drawing/2014/main" id="{BE28C17D-2664-B9F3-6B04-B9C2927D1D9A}"/>
              </a:ext>
            </a:extLst>
          </p:cNvPr>
          <p:cNvSpPr/>
          <p:nvPr/>
        </p:nvSpPr>
        <p:spPr>
          <a:xfrm>
            <a:off x="7100596" y="3881535"/>
            <a:ext cx="2873829" cy="298758"/>
          </a:xfrm>
          <a:prstGeom prst="rect">
            <a:avLst/>
          </a:prstGeom>
          <a:solidFill>
            <a:srgbClr val="FFFFFF"/>
          </a:solid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56979323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0E71D7E8-D57B-EECB-248E-62B2F4AA08BC}"/>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433E92BF-D34F-5CD2-B22B-33E0904EB053}"/>
              </a:ext>
            </a:extLst>
          </p:cNvPr>
          <p:cNvSpPr/>
          <p:nvPr/>
        </p:nvSpPr>
        <p:spPr>
          <a:xfrm>
            <a:off x="0" y="0"/>
            <a:ext cx="2873829" cy="68580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DBF0AB41-5EBD-D354-B39E-99AE49208A7E}"/>
              </a:ext>
            </a:extLst>
          </p:cNvPr>
          <p:cNvSpPr txBox="1"/>
          <p:nvPr/>
        </p:nvSpPr>
        <p:spPr>
          <a:xfrm>
            <a:off x="410547" y="233265"/>
            <a:ext cx="1791477" cy="523220"/>
          </a:xfrm>
          <a:prstGeom prst="rect">
            <a:avLst/>
          </a:prstGeom>
          <a:solidFill>
            <a:schemeClr val="accent6">
              <a:lumMod val="75000"/>
            </a:schemeClr>
          </a:solidFill>
        </p:spPr>
        <p:txBody>
          <a:bodyPr wrap="square" rtlCol="0">
            <a:spAutoFit/>
          </a:bodyPr>
          <a:lstStyle/>
          <a:p>
            <a:r>
              <a:rPr lang="en-IN" sz="2800" b="1" dirty="0"/>
              <a:t>CONTENTS</a:t>
            </a:r>
          </a:p>
        </p:txBody>
      </p:sp>
      <p:sp>
        <p:nvSpPr>
          <p:cNvPr id="4" name="TextBox 3">
            <a:extLst>
              <a:ext uri="{FF2B5EF4-FFF2-40B4-BE49-F238E27FC236}">
                <a16:creationId xmlns:a16="http://schemas.microsoft.com/office/drawing/2014/main" id="{69C33B11-8167-E126-37BF-9DEE3798F015}"/>
              </a:ext>
            </a:extLst>
          </p:cNvPr>
          <p:cNvSpPr txBox="1"/>
          <p:nvPr/>
        </p:nvSpPr>
        <p:spPr>
          <a:xfrm>
            <a:off x="93306" y="1619887"/>
            <a:ext cx="2276669" cy="461665"/>
          </a:xfrm>
          <a:prstGeom prst="rect">
            <a:avLst/>
          </a:prstGeom>
          <a:noFill/>
        </p:spPr>
        <p:txBody>
          <a:bodyPr wrap="square" rtlCol="0">
            <a:spAutoFit/>
          </a:bodyPr>
          <a:lstStyle/>
          <a:p>
            <a:r>
              <a:rPr lang="en-IN" sz="2400" b="1" dirty="0">
                <a:solidFill>
                  <a:schemeClr val="tx1">
                    <a:lumMod val="50000"/>
                    <a:lumOff val="50000"/>
                  </a:schemeClr>
                </a:solidFill>
              </a:rPr>
              <a:t>INTRODUCTION</a:t>
            </a:r>
          </a:p>
        </p:txBody>
      </p:sp>
      <p:sp>
        <p:nvSpPr>
          <p:cNvPr id="5" name="TextBox 4">
            <a:extLst>
              <a:ext uri="{FF2B5EF4-FFF2-40B4-BE49-F238E27FC236}">
                <a16:creationId xmlns:a16="http://schemas.microsoft.com/office/drawing/2014/main" id="{9ABCC0EF-D482-7EFB-4CF6-F09805A80231}"/>
              </a:ext>
            </a:extLst>
          </p:cNvPr>
          <p:cNvSpPr txBox="1"/>
          <p:nvPr/>
        </p:nvSpPr>
        <p:spPr>
          <a:xfrm>
            <a:off x="149290" y="2900090"/>
            <a:ext cx="1772816" cy="461665"/>
          </a:xfrm>
          <a:prstGeom prst="rect">
            <a:avLst/>
          </a:prstGeom>
          <a:noFill/>
        </p:spPr>
        <p:txBody>
          <a:bodyPr wrap="square" rtlCol="0">
            <a:spAutoFit/>
          </a:bodyPr>
          <a:lstStyle/>
          <a:p>
            <a:r>
              <a:rPr lang="en-IN" sz="2400" b="1" dirty="0">
                <a:solidFill>
                  <a:schemeClr val="tx1">
                    <a:lumMod val="50000"/>
                    <a:lumOff val="50000"/>
                  </a:schemeClr>
                </a:solidFill>
              </a:rPr>
              <a:t>OBJECTIVES</a:t>
            </a:r>
          </a:p>
        </p:txBody>
      </p:sp>
      <p:sp>
        <p:nvSpPr>
          <p:cNvPr id="6" name="TextBox 5">
            <a:extLst>
              <a:ext uri="{FF2B5EF4-FFF2-40B4-BE49-F238E27FC236}">
                <a16:creationId xmlns:a16="http://schemas.microsoft.com/office/drawing/2014/main" id="{27E1C360-5D4C-3573-A47F-BDCCB77E7D27}"/>
              </a:ext>
            </a:extLst>
          </p:cNvPr>
          <p:cNvSpPr txBox="1"/>
          <p:nvPr/>
        </p:nvSpPr>
        <p:spPr>
          <a:xfrm>
            <a:off x="125962" y="4180293"/>
            <a:ext cx="2276669" cy="461665"/>
          </a:xfrm>
          <a:prstGeom prst="rect">
            <a:avLst/>
          </a:prstGeom>
          <a:noFill/>
        </p:spPr>
        <p:txBody>
          <a:bodyPr wrap="square" rtlCol="0">
            <a:spAutoFit/>
          </a:bodyPr>
          <a:lstStyle/>
          <a:p>
            <a:r>
              <a:rPr lang="en-IN" sz="2400" b="1" dirty="0">
                <a:solidFill>
                  <a:schemeClr val="tx1">
                    <a:lumMod val="50000"/>
                    <a:lumOff val="50000"/>
                  </a:schemeClr>
                </a:solidFill>
              </a:rPr>
              <a:t>METHODOLOGY</a:t>
            </a:r>
          </a:p>
        </p:txBody>
      </p:sp>
      <p:sp>
        <p:nvSpPr>
          <p:cNvPr id="8" name="TextBox 7">
            <a:extLst>
              <a:ext uri="{FF2B5EF4-FFF2-40B4-BE49-F238E27FC236}">
                <a16:creationId xmlns:a16="http://schemas.microsoft.com/office/drawing/2014/main" id="{E281E284-463E-A563-E902-A79BCF92E443}"/>
              </a:ext>
            </a:extLst>
          </p:cNvPr>
          <p:cNvSpPr txBox="1"/>
          <p:nvPr/>
        </p:nvSpPr>
        <p:spPr>
          <a:xfrm>
            <a:off x="93307" y="5460496"/>
            <a:ext cx="2108718" cy="461665"/>
          </a:xfrm>
          <a:prstGeom prst="rect">
            <a:avLst/>
          </a:prstGeom>
          <a:noFill/>
        </p:spPr>
        <p:txBody>
          <a:bodyPr wrap="square" rtlCol="0">
            <a:spAutoFit/>
          </a:bodyPr>
          <a:lstStyle/>
          <a:p>
            <a:r>
              <a:rPr lang="en-IN" sz="2400" b="1" dirty="0"/>
              <a:t>FUTURE SCOPE</a:t>
            </a:r>
          </a:p>
        </p:txBody>
      </p:sp>
      <p:sp>
        <p:nvSpPr>
          <p:cNvPr id="13" name="Arrow: Left 12">
            <a:extLst>
              <a:ext uri="{FF2B5EF4-FFF2-40B4-BE49-F238E27FC236}">
                <a16:creationId xmlns:a16="http://schemas.microsoft.com/office/drawing/2014/main" id="{6F976486-34AE-C801-5FAE-9B715140A46E}"/>
              </a:ext>
            </a:extLst>
          </p:cNvPr>
          <p:cNvSpPr/>
          <p:nvPr/>
        </p:nvSpPr>
        <p:spPr>
          <a:xfrm>
            <a:off x="2309325" y="5420740"/>
            <a:ext cx="564504" cy="541176"/>
          </a:xfrm>
          <a:prstGeom prst="leftArrow">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5" name="Straight Connector 14">
            <a:extLst>
              <a:ext uri="{FF2B5EF4-FFF2-40B4-BE49-F238E27FC236}">
                <a16:creationId xmlns:a16="http://schemas.microsoft.com/office/drawing/2014/main" id="{5DF3150F-D062-1F7C-650A-34313A2CFB6A}"/>
              </a:ext>
            </a:extLst>
          </p:cNvPr>
          <p:cNvCxnSpPr/>
          <p:nvPr/>
        </p:nvCxnSpPr>
        <p:spPr>
          <a:xfrm>
            <a:off x="0" y="1026367"/>
            <a:ext cx="2873829" cy="0"/>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pic>
        <p:nvPicPr>
          <p:cNvPr id="4098" name="Picture 2" descr="Focus Topics - Evonik Industries">
            <a:extLst>
              <a:ext uri="{FF2B5EF4-FFF2-40B4-BE49-F238E27FC236}">
                <a16:creationId xmlns:a16="http://schemas.microsoft.com/office/drawing/2014/main" id="{A4A6CDE7-FEF4-274C-FDAE-BF29191CDE5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82266" y="1610740"/>
            <a:ext cx="7210425" cy="381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6115320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6D8924E-E15F-9671-8E44-7E11BCE9CF08}"/>
              </a:ext>
            </a:extLst>
          </p:cNvPr>
          <p:cNvSpPr txBox="1"/>
          <p:nvPr/>
        </p:nvSpPr>
        <p:spPr>
          <a:xfrm>
            <a:off x="720290" y="178420"/>
            <a:ext cx="10751419" cy="1938992"/>
          </a:xfrm>
          <a:prstGeom prst="rect">
            <a:avLst/>
          </a:prstGeom>
          <a:noFill/>
        </p:spPr>
        <p:txBody>
          <a:bodyPr wrap="square" rtlCol="0">
            <a:spAutoFit/>
          </a:bodyPr>
          <a:lstStyle/>
          <a:p>
            <a:pPr algn="ctr"/>
            <a:r>
              <a:rPr lang="en-GB" altLang="en-US" sz="4800" b="1" dirty="0"/>
              <a:t>Expense Tracking and Budgeting using Expense Tracker</a:t>
            </a:r>
            <a:endParaRPr lang="en-GB" sz="4800" b="1" dirty="0">
              <a:latin typeface="Inter Black" panose="020B0A02050000000004" pitchFamily="34" charset="0"/>
              <a:ea typeface="Inter Black" panose="020B0A02050000000004" pitchFamily="34" charset="0"/>
            </a:endParaRPr>
          </a:p>
          <a:p>
            <a:pPr algn="ctr"/>
            <a:endParaRPr lang="en-IN" sz="2400" b="1" dirty="0">
              <a:latin typeface="Inter Black" panose="020B0A02050000000004" pitchFamily="34" charset="0"/>
              <a:ea typeface="Inter Black" panose="020B0A02050000000004" pitchFamily="34" charset="0"/>
            </a:endParaRPr>
          </a:p>
        </p:txBody>
      </p:sp>
    </p:spTree>
    <p:extLst>
      <p:ext uri="{BB962C8B-B14F-4D97-AF65-F5344CB8AC3E}">
        <p14:creationId xmlns:p14="http://schemas.microsoft.com/office/powerpoint/2010/main" val="3728193234"/>
      </p:ext>
    </p:extLst>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BEA0D7D7-1FD4-918E-852F-9D49C7D08E75}"/>
              </a:ext>
            </a:extLst>
          </p:cNvPr>
          <p:cNvSpPr txBox="1"/>
          <p:nvPr/>
        </p:nvSpPr>
        <p:spPr>
          <a:xfrm>
            <a:off x="2281084" y="1992696"/>
            <a:ext cx="5879690" cy="2400657"/>
          </a:xfrm>
          <a:custGeom>
            <a:avLst/>
            <a:gdLst>
              <a:gd name="connsiteX0" fmla="*/ 0 w 4955458"/>
              <a:gd name="connsiteY0" fmla="*/ 0 h 1754326"/>
              <a:gd name="connsiteX1" fmla="*/ 4955458 w 4955458"/>
              <a:gd name="connsiteY1" fmla="*/ 0 h 1754326"/>
              <a:gd name="connsiteX2" fmla="*/ 4955458 w 4955458"/>
              <a:gd name="connsiteY2" fmla="*/ 1754326 h 1754326"/>
              <a:gd name="connsiteX3" fmla="*/ 0 w 4955458"/>
              <a:gd name="connsiteY3" fmla="*/ 1754326 h 1754326"/>
              <a:gd name="connsiteX4" fmla="*/ 0 w 4955458"/>
              <a:gd name="connsiteY4" fmla="*/ 0 h 1754326"/>
              <a:gd name="connsiteX0" fmla="*/ 0 w 4955458"/>
              <a:gd name="connsiteY0" fmla="*/ 609600 h 2363926"/>
              <a:gd name="connsiteX1" fmla="*/ 4827638 w 4955458"/>
              <a:gd name="connsiteY1" fmla="*/ 0 h 2363926"/>
              <a:gd name="connsiteX2" fmla="*/ 4955458 w 4955458"/>
              <a:gd name="connsiteY2" fmla="*/ 2363926 h 2363926"/>
              <a:gd name="connsiteX3" fmla="*/ 0 w 4955458"/>
              <a:gd name="connsiteY3" fmla="*/ 2363926 h 2363926"/>
              <a:gd name="connsiteX4" fmla="*/ 0 w 4955458"/>
              <a:gd name="connsiteY4" fmla="*/ 609600 h 2363926"/>
              <a:gd name="connsiteX0" fmla="*/ 0 w 4955458"/>
              <a:gd name="connsiteY0" fmla="*/ 609600 h 2363926"/>
              <a:gd name="connsiteX1" fmla="*/ 4827638 w 4955458"/>
              <a:gd name="connsiteY1" fmla="*/ 0 h 2363926"/>
              <a:gd name="connsiteX2" fmla="*/ 4955458 w 4955458"/>
              <a:gd name="connsiteY2" fmla="*/ 2118119 h 2363926"/>
              <a:gd name="connsiteX3" fmla="*/ 0 w 4955458"/>
              <a:gd name="connsiteY3" fmla="*/ 2363926 h 2363926"/>
              <a:gd name="connsiteX4" fmla="*/ 0 w 4955458"/>
              <a:gd name="connsiteY4" fmla="*/ 609600 h 2363926"/>
              <a:gd name="connsiteX0" fmla="*/ 0 w 5879690"/>
              <a:gd name="connsiteY0" fmla="*/ 1170039 h 2924365"/>
              <a:gd name="connsiteX1" fmla="*/ 5879690 w 5879690"/>
              <a:gd name="connsiteY1" fmla="*/ 0 h 2924365"/>
              <a:gd name="connsiteX2" fmla="*/ 4955458 w 5879690"/>
              <a:gd name="connsiteY2" fmla="*/ 2678558 h 2924365"/>
              <a:gd name="connsiteX3" fmla="*/ 0 w 5879690"/>
              <a:gd name="connsiteY3" fmla="*/ 2924365 h 2924365"/>
              <a:gd name="connsiteX4" fmla="*/ 0 w 5879690"/>
              <a:gd name="connsiteY4" fmla="*/ 1170039 h 29243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79690" h="2924365">
                <a:moveTo>
                  <a:pt x="0" y="1170039"/>
                </a:moveTo>
                <a:lnTo>
                  <a:pt x="5879690" y="0"/>
                </a:lnTo>
                <a:lnTo>
                  <a:pt x="4955458" y="2678558"/>
                </a:lnTo>
                <a:lnTo>
                  <a:pt x="0" y="2924365"/>
                </a:lnTo>
                <a:lnTo>
                  <a:pt x="0" y="1170039"/>
                </a:lnTo>
                <a:close/>
              </a:path>
            </a:pathLst>
          </a:custGeom>
          <a:noFill/>
        </p:spPr>
        <p:txBody>
          <a:bodyPr wrap="square" rtlCol="0">
            <a:spAutoFit/>
          </a:bodyPr>
          <a:lstStyle/>
          <a:p>
            <a:r>
              <a:rPr lang="en-GB" altLang="en-US" sz="2000" b="1" dirty="0"/>
              <a:t>Developed by</a:t>
            </a:r>
            <a:r>
              <a:rPr lang="en-GB" altLang="en-US" sz="2000" dirty="0"/>
              <a:t>:-</a:t>
            </a:r>
            <a:r>
              <a:rPr lang="en-GB" altLang="en-US" sz="1800" dirty="0"/>
              <a:t>  </a:t>
            </a:r>
            <a:r>
              <a:rPr lang="en-GB" altLang="en-US" sz="2400" dirty="0"/>
              <a:t>Abhi Gupta  </a:t>
            </a:r>
            <a:endParaRPr lang="en-GB" altLang="en-US" sz="1800" dirty="0"/>
          </a:p>
          <a:p>
            <a:r>
              <a:rPr lang="en-GB" altLang="en-US" dirty="0"/>
              <a:t>                             </a:t>
            </a:r>
            <a:r>
              <a:rPr lang="en-GB" altLang="en-US" sz="2400" dirty="0"/>
              <a:t>Omkar Katore</a:t>
            </a:r>
            <a:endParaRPr lang="en-GB" altLang="en-US" sz="1800" dirty="0"/>
          </a:p>
          <a:p>
            <a:endParaRPr lang="en-GB" altLang="en-US" sz="1800" dirty="0"/>
          </a:p>
          <a:p>
            <a:r>
              <a:rPr lang="en-GB" altLang="en-US" sz="2000" b="1" dirty="0"/>
              <a:t>Project Guide:- </a:t>
            </a:r>
            <a:r>
              <a:rPr lang="en-GB" altLang="en-US" sz="2400" dirty="0"/>
              <a:t>Dr . Kamlesh Meshram Sir</a:t>
            </a:r>
            <a:endParaRPr lang="en-GB" altLang="en-US" sz="1800" dirty="0"/>
          </a:p>
          <a:p>
            <a:endParaRPr lang="en-GB" altLang="en-US" sz="1800" dirty="0"/>
          </a:p>
          <a:p>
            <a:r>
              <a:rPr lang="en-GB" altLang="en-US" sz="2000" b="1" dirty="0"/>
              <a:t>Presentation by:</a:t>
            </a:r>
            <a:r>
              <a:rPr lang="en-GB" altLang="en-US" sz="2000" dirty="0"/>
              <a:t>-</a:t>
            </a:r>
            <a:r>
              <a:rPr lang="en-GB" altLang="en-US" sz="1800" dirty="0"/>
              <a:t> </a:t>
            </a:r>
            <a:r>
              <a:rPr lang="en-GB" altLang="en-US" sz="2400" dirty="0"/>
              <a:t>Abhi Gupta</a:t>
            </a:r>
            <a:endParaRPr lang="en-GB" altLang="en-US" sz="1800" dirty="0"/>
          </a:p>
          <a:p>
            <a:endParaRPr lang="en-IN" dirty="0"/>
          </a:p>
        </p:txBody>
      </p:sp>
    </p:spTree>
    <p:extLst>
      <p:ext uri="{BB962C8B-B14F-4D97-AF65-F5344CB8AC3E}">
        <p14:creationId xmlns:p14="http://schemas.microsoft.com/office/powerpoint/2010/main" val="52769035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F435CF38-A028-277A-EAA8-B34A5C7832A8}"/>
              </a:ext>
            </a:extLst>
          </p:cNvPr>
          <p:cNvSpPr txBox="1"/>
          <p:nvPr/>
        </p:nvSpPr>
        <p:spPr>
          <a:xfrm>
            <a:off x="1373026" y="2955329"/>
            <a:ext cx="4475364" cy="769441"/>
          </a:xfrm>
          <a:prstGeom prst="rect">
            <a:avLst/>
          </a:prstGeom>
          <a:noFill/>
        </p:spPr>
        <p:txBody>
          <a:bodyPr wrap="square" rtlCol="0">
            <a:spAutoFit/>
          </a:bodyPr>
          <a:lstStyle/>
          <a:p>
            <a:r>
              <a:rPr lang="en-IN" sz="4400" b="1" dirty="0"/>
              <a:t>INTRODUCTION</a:t>
            </a:r>
          </a:p>
        </p:txBody>
      </p:sp>
      <p:sp>
        <p:nvSpPr>
          <p:cNvPr id="7" name="TextBox 6">
            <a:extLst>
              <a:ext uri="{FF2B5EF4-FFF2-40B4-BE49-F238E27FC236}">
                <a16:creationId xmlns:a16="http://schemas.microsoft.com/office/drawing/2014/main" id="{C2006DF0-E307-E3A8-1B91-D93B67419BA4}"/>
              </a:ext>
            </a:extLst>
          </p:cNvPr>
          <p:cNvSpPr txBox="1"/>
          <p:nvPr/>
        </p:nvSpPr>
        <p:spPr>
          <a:xfrm>
            <a:off x="6528619" y="624537"/>
            <a:ext cx="5406707" cy="5632311"/>
          </a:xfrm>
          <a:prstGeom prst="rect">
            <a:avLst/>
          </a:prstGeom>
          <a:noFill/>
        </p:spPr>
        <p:txBody>
          <a:bodyPr wrap="square" rtlCol="0">
            <a:spAutoFit/>
          </a:bodyPr>
          <a:lstStyle/>
          <a:p>
            <a:r>
              <a:rPr lang="en-US" dirty="0"/>
              <a:t>In today's fast-paced world, </a:t>
            </a:r>
            <a:r>
              <a:rPr lang="en-US" b="1" dirty="0"/>
              <a:t>managing personal finances </a:t>
            </a:r>
            <a:r>
              <a:rPr lang="en-US" dirty="0"/>
              <a:t>is crucial for maintaining financial stability. Keeping track of daily expenses can help individuals gain better control over their spending habits, plan budgets effectively, and make informed financial decisions. However, manually recording expenses can be time-consuming and prone to errors, leading to inefficient tracking and unorganized financial records.</a:t>
            </a:r>
          </a:p>
          <a:p>
            <a:pPr marL="285750" indent="-285750">
              <a:buFont typeface="Arial" panose="020B0604020202020204" pitchFamily="34" charset="0"/>
              <a:buChar char="•"/>
            </a:pPr>
            <a:r>
              <a:rPr lang="en-US" dirty="0"/>
              <a:t>This project aims to develop a </a:t>
            </a:r>
            <a:r>
              <a:rPr lang="en-US" b="1" dirty="0"/>
              <a:t>Daily Expense Tracker</a:t>
            </a:r>
            <a:r>
              <a:rPr lang="en-US" dirty="0"/>
              <a:t> using Python, designed to automate and simplify the process of recording and managing personal expenses.</a:t>
            </a:r>
          </a:p>
          <a:p>
            <a:pPr marL="285750" indent="-285750">
              <a:buFont typeface="Arial" panose="020B0604020202020204" pitchFamily="34" charset="0"/>
              <a:buChar char="•"/>
            </a:pPr>
            <a:r>
              <a:rPr lang="en-US" dirty="0"/>
              <a:t> The application will allow users to log their daily expenditures, categorize them, and visualize their spending patterns through interactive charts and summaries.</a:t>
            </a:r>
          </a:p>
          <a:p>
            <a:pPr marL="285750" indent="-285750">
              <a:buFont typeface="Arial" panose="020B0604020202020204" pitchFamily="34" charset="0"/>
              <a:buChar char="•"/>
            </a:pPr>
            <a:r>
              <a:rPr lang="en-US" dirty="0"/>
              <a:t> By providing a clear overview of where the user's money is being spent, this tool will assist in better financial planning and budgeting.</a:t>
            </a:r>
          </a:p>
          <a:p>
            <a:endParaRPr lang="en-US" dirty="0">
              <a:latin typeface="arial" panose="020B0604020202020204" pitchFamily="34" charset="0"/>
            </a:endParaRPr>
          </a:p>
        </p:txBody>
      </p:sp>
    </p:spTree>
    <p:extLst>
      <p:ext uri="{BB962C8B-B14F-4D97-AF65-F5344CB8AC3E}">
        <p14:creationId xmlns:p14="http://schemas.microsoft.com/office/powerpoint/2010/main" val="272651612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fade">
                                      <p:cBhvr>
                                        <p:cTn id="12" dur="500"/>
                                        <p:tgtEl>
                                          <p:spTgt spid="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7">
                                            <p:txEl>
                                              <p:pRg st="2" end="2"/>
                                            </p:txEl>
                                          </p:spTgt>
                                        </p:tgtEl>
                                        <p:attrNameLst>
                                          <p:attrName>style.visibility</p:attrName>
                                        </p:attrNameLst>
                                      </p:cBhvr>
                                      <p:to>
                                        <p:strVal val="visible"/>
                                      </p:to>
                                    </p:set>
                                    <p:animEffect transition="in" filter="fade">
                                      <p:cBhvr>
                                        <p:cTn id="17" dur="500"/>
                                        <p:tgtEl>
                                          <p:spTgt spid="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7">
                                            <p:txEl>
                                              <p:pRg st="3" end="3"/>
                                            </p:txEl>
                                          </p:spTgt>
                                        </p:tgtEl>
                                        <p:attrNameLst>
                                          <p:attrName>style.visibility</p:attrName>
                                        </p:attrNameLst>
                                      </p:cBhvr>
                                      <p:to>
                                        <p:strVal val="visible"/>
                                      </p:to>
                                    </p:set>
                                    <p:animEffect transition="in" filter="fade">
                                      <p:cBhvr>
                                        <p:cTn id="22" dur="500"/>
                                        <p:tgtEl>
                                          <p:spTgt spid="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0DC45C58-75F4-73ED-8889-203D61114D66}"/>
              </a:ext>
            </a:extLst>
          </p:cNvPr>
          <p:cNvSpPr/>
          <p:nvPr/>
        </p:nvSpPr>
        <p:spPr>
          <a:xfrm rot="16200000">
            <a:off x="-1411616" y="3735103"/>
            <a:ext cx="3663755" cy="284288"/>
          </a:xfrm>
          <a:custGeom>
            <a:avLst/>
            <a:gdLst>
              <a:gd name="connsiteX0" fmla="*/ 0 w 3663755"/>
              <a:gd name="connsiteY0" fmla="*/ 0 h 284288"/>
              <a:gd name="connsiteX1" fmla="*/ 3663755 w 3663755"/>
              <a:gd name="connsiteY1" fmla="*/ 0 h 284288"/>
              <a:gd name="connsiteX2" fmla="*/ 3663755 w 3663755"/>
              <a:gd name="connsiteY2" fmla="*/ 284288 h 284288"/>
              <a:gd name="connsiteX3" fmla="*/ 0 w 3663755"/>
              <a:gd name="connsiteY3" fmla="*/ 284288 h 284288"/>
              <a:gd name="connsiteX4" fmla="*/ 0 w 3663755"/>
              <a:gd name="connsiteY4" fmla="*/ 0 h 2842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63755" h="284288">
                <a:moveTo>
                  <a:pt x="0" y="0"/>
                </a:moveTo>
                <a:lnTo>
                  <a:pt x="3663755" y="0"/>
                </a:lnTo>
                <a:lnTo>
                  <a:pt x="3663755" y="284288"/>
                </a:lnTo>
                <a:lnTo>
                  <a:pt x="0" y="284288"/>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 tIns="0" rIns="250727" bIns="-1" numCol="1" spcCol="1270" anchor="t" anchorCtr="0">
            <a:noAutofit/>
          </a:bodyPr>
          <a:lstStyle/>
          <a:p>
            <a:pPr marL="0" lvl="0" indent="0" algn="r" defTabSz="889000">
              <a:lnSpc>
                <a:spcPct val="90000"/>
              </a:lnSpc>
              <a:spcBef>
                <a:spcPct val="0"/>
              </a:spcBef>
              <a:spcAft>
                <a:spcPct val="35000"/>
              </a:spcAft>
              <a:buNone/>
            </a:pPr>
            <a:endParaRPr lang="en-IN" sz="2000" kern="1200"/>
          </a:p>
        </p:txBody>
      </p:sp>
      <p:sp>
        <p:nvSpPr>
          <p:cNvPr id="8" name="Freeform: Shape 7">
            <a:extLst>
              <a:ext uri="{FF2B5EF4-FFF2-40B4-BE49-F238E27FC236}">
                <a16:creationId xmlns:a16="http://schemas.microsoft.com/office/drawing/2014/main" id="{35DB48D1-F4EC-9D83-D00E-D97EF4927C7C}"/>
              </a:ext>
            </a:extLst>
          </p:cNvPr>
          <p:cNvSpPr/>
          <p:nvPr/>
        </p:nvSpPr>
        <p:spPr>
          <a:xfrm>
            <a:off x="420261" y="1931832"/>
            <a:ext cx="2305241" cy="3416916"/>
          </a:xfrm>
          <a:custGeom>
            <a:avLst/>
            <a:gdLst>
              <a:gd name="connsiteX0" fmla="*/ 0 w 1416058"/>
              <a:gd name="connsiteY0" fmla="*/ 0 h 3663755"/>
              <a:gd name="connsiteX1" fmla="*/ 1416058 w 1416058"/>
              <a:gd name="connsiteY1" fmla="*/ 0 h 3663755"/>
              <a:gd name="connsiteX2" fmla="*/ 1416058 w 1416058"/>
              <a:gd name="connsiteY2" fmla="*/ 3663755 h 3663755"/>
              <a:gd name="connsiteX3" fmla="*/ 0 w 1416058"/>
              <a:gd name="connsiteY3" fmla="*/ 3663755 h 3663755"/>
              <a:gd name="connsiteX4" fmla="*/ 0 w 1416058"/>
              <a:gd name="connsiteY4" fmla="*/ 0 h 36637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6058" h="3663755">
                <a:moveTo>
                  <a:pt x="0" y="0"/>
                </a:moveTo>
                <a:lnTo>
                  <a:pt x="1416058" y="0"/>
                </a:lnTo>
                <a:lnTo>
                  <a:pt x="1416058" y="3663755"/>
                </a:lnTo>
                <a:lnTo>
                  <a:pt x="0" y="3663755"/>
                </a:lnTo>
                <a:lnTo>
                  <a:pt x="0" y="0"/>
                </a:lnTo>
                <a:close/>
              </a:path>
            </a:pathLst>
          </a:custGeom>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120904" tIns="250727" rIns="120904" bIns="120904" numCol="1" spcCol="1270" anchor="t" anchorCtr="0">
            <a:noAutofit/>
          </a:bodyPr>
          <a:lstStyle/>
          <a:p>
            <a:pPr marL="0" lvl="1" algn="ctr" defTabSz="577850">
              <a:lnSpc>
                <a:spcPct val="90000"/>
              </a:lnSpc>
              <a:spcBef>
                <a:spcPct val="0"/>
              </a:spcBef>
              <a:spcAft>
                <a:spcPct val="15000"/>
              </a:spcAft>
            </a:pPr>
            <a:r>
              <a:rPr lang="en-US" sz="1600" b="1" dirty="0"/>
              <a:t>Automate Expense Tracking</a:t>
            </a:r>
          </a:p>
          <a:p>
            <a:pPr marL="0" lvl="1" algn="l" defTabSz="577850">
              <a:lnSpc>
                <a:spcPct val="90000"/>
              </a:lnSpc>
              <a:spcBef>
                <a:spcPct val="0"/>
              </a:spcBef>
              <a:spcAft>
                <a:spcPct val="15000"/>
              </a:spcAft>
            </a:pPr>
            <a:endParaRPr lang="en-US" sz="1400" b="1" dirty="0"/>
          </a:p>
          <a:p>
            <a:pPr marL="0" lvl="1" algn="l" defTabSz="577850">
              <a:lnSpc>
                <a:spcPct val="90000"/>
              </a:lnSpc>
              <a:spcBef>
                <a:spcPct val="0"/>
              </a:spcBef>
              <a:spcAft>
                <a:spcPct val="15000"/>
              </a:spcAft>
            </a:pPr>
            <a:r>
              <a:rPr lang="en-US" sz="1400" dirty="0"/>
              <a:t> Develop a Python-based tool that allows users to efficiently log and track daily expenses, reducing the manual effort required to maintain personal financial records.</a:t>
            </a:r>
            <a:endParaRPr lang="en-IN" sz="1300" b="1" dirty="0">
              <a:solidFill>
                <a:schemeClr val="tx1"/>
              </a:solidFill>
              <a:latin typeface="Amazon Ember"/>
            </a:endParaRPr>
          </a:p>
        </p:txBody>
      </p:sp>
      <p:sp>
        <p:nvSpPr>
          <p:cNvPr id="10" name="Freeform: Shape 9">
            <a:extLst>
              <a:ext uri="{FF2B5EF4-FFF2-40B4-BE49-F238E27FC236}">
                <a16:creationId xmlns:a16="http://schemas.microsoft.com/office/drawing/2014/main" id="{CC2F35BA-8674-5AB0-4F03-6C193D54FE63}"/>
              </a:ext>
            </a:extLst>
          </p:cNvPr>
          <p:cNvSpPr/>
          <p:nvPr/>
        </p:nvSpPr>
        <p:spPr>
          <a:xfrm rot="16200000">
            <a:off x="639639" y="3735103"/>
            <a:ext cx="3663755" cy="284288"/>
          </a:xfrm>
          <a:custGeom>
            <a:avLst/>
            <a:gdLst>
              <a:gd name="connsiteX0" fmla="*/ 0 w 3663755"/>
              <a:gd name="connsiteY0" fmla="*/ 0 h 284288"/>
              <a:gd name="connsiteX1" fmla="*/ 3663755 w 3663755"/>
              <a:gd name="connsiteY1" fmla="*/ 0 h 284288"/>
              <a:gd name="connsiteX2" fmla="*/ 3663755 w 3663755"/>
              <a:gd name="connsiteY2" fmla="*/ 284288 h 284288"/>
              <a:gd name="connsiteX3" fmla="*/ 0 w 3663755"/>
              <a:gd name="connsiteY3" fmla="*/ 284288 h 284288"/>
              <a:gd name="connsiteX4" fmla="*/ 0 w 3663755"/>
              <a:gd name="connsiteY4" fmla="*/ 0 h 2842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63755" h="284288">
                <a:moveTo>
                  <a:pt x="0" y="0"/>
                </a:moveTo>
                <a:lnTo>
                  <a:pt x="3663755" y="0"/>
                </a:lnTo>
                <a:lnTo>
                  <a:pt x="3663755" y="284288"/>
                </a:lnTo>
                <a:lnTo>
                  <a:pt x="0" y="284288"/>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 tIns="0" rIns="250727" bIns="-1" numCol="1" spcCol="1270" anchor="t" anchorCtr="0">
            <a:noAutofit/>
          </a:bodyPr>
          <a:lstStyle/>
          <a:p>
            <a:pPr marL="0" lvl="0" indent="0" algn="r" defTabSz="889000">
              <a:lnSpc>
                <a:spcPct val="90000"/>
              </a:lnSpc>
              <a:spcBef>
                <a:spcPct val="0"/>
              </a:spcBef>
              <a:spcAft>
                <a:spcPct val="35000"/>
              </a:spcAft>
              <a:buNone/>
            </a:pPr>
            <a:endParaRPr lang="en-IN" sz="2000" kern="1200" dirty="0"/>
          </a:p>
        </p:txBody>
      </p:sp>
      <p:sp>
        <p:nvSpPr>
          <p:cNvPr id="11" name="Freeform: Shape 10">
            <a:extLst>
              <a:ext uri="{FF2B5EF4-FFF2-40B4-BE49-F238E27FC236}">
                <a16:creationId xmlns:a16="http://schemas.microsoft.com/office/drawing/2014/main" id="{F155E8CD-6799-86B9-ECBB-E945903057E6}"/>
              </a:ext>
            </a:extLst>
          </p:cNvPr>
          <p:cNvSpPr/>
          <p:nvPr/>
        </p:nvSpPr>
        <p:spPr>
          <a:xfrm>
            <a:off x="3285046" y="1931833"/>
            <a:ext cx="2327800" cy="3416916"/>
          </a:xfrm>
          <a:custGeom>
            <a:avLst/>
            <a:gdLst>
              <a:gd name="connsiteX0" fmla="*/ 0 w 1416058"/>
              <a:gd name="connsiteY0" fmla="*/ 0 h 3663755"/>
              <a:gd name="connsiteX1" fmla="*/ 1416058 w 1416058"/>
              <a:gd name="connsiteY1" fmla="*/ 0 h 3663755"/>
              <a:gd name="connsiteX2" fmla="*/ 1416058 w 1416058"/>
              <a:gd name="connsiteY2" fmla="*/ 3663755 h 3663755"/>
              <a:gd name="connsiteX3" fmla="*/ 0 w 1416058"/>
              <a:gd name="connsiteY3" fmla="*/ 3663755 h 3663755"/>
              <a:gd name="connsiteX4" fmla="*/ 0 w 1416058"/>
              <a:gd name="connsiteY4" fmla="*/ 0 h 36637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6058" h="3663755">
                <a:moveTo>
                  <a:pt x="0" y="0"/>
                </a:moveTo>
                <a:lnTo>
                  <a:pt x="1416058" y="0"/>
                </a:lnTo>
                <a:lnTo>
                  <a:pt x="1416058" y="3663755"/>
                </a:lnTo>
                <a:lnTo>
                  <a:pt x="0" y="3663755"/>
                </a:lnTo>
                <a:lnTo>
                  <a:pt x="0" y="0"/>
                </a:lnTo>
                <a:close/>
              </a:path>
            </a:pathLst>
          </a:custGeom>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120904" tIns="250727" rIns="120904" bIns="120904" numCol="1" spcCol="1270" anchor="t" anchorCtr="0">
            <a:noAutofit/>
          </a:bodyPr>
          <a:lstStyle/>
          <a:p>
            <a:pPr marL="0" lvl="1" algn="ctr" defTabSz="577850">
              <a:lnSpc>
                <a:spcPct val="90000"/>
              </a:lnSpc>
              <a:spcBef>
                <a:spcPct val="0"/>
              </a:spcBef>
              <a:spcAft>
                <a:spcPct val="15000"/>
              </a:spcAft>
            </a:pPr>
            <a:r>
              <a:rPr lang="en-US" sz="1600" b="1" dirty="0"/>
              <a:t>Provide Real-Time Expense Visualization</a:t>
            </a:r>
          </a:p>
          <a:p>
            <a:pPr marL="168275" lvl="1" indent="-168275" algn="l" defTabSz="577850">
              <a:lnSpc>
                <a:spcPct val="90000"/>
              </a:lnSpc>
              <a:spcBef>
                <a:spcPct val="0"/>
              </a:spcBef>
              <a:spcAft>
                <a:spcPct val="15000"/>
              </a:spcAft>
              <a:buFont typeface="Arial" panose="020B0604020202020204" pitchFamily="34" charset="0"/>
              <a:buChar char="•"/>
            </a:pPr>
            <a:endParaRPr lang="en-US" sz="1400" b="1" dirty="0"/>
          </a:p>
          <a:p>
            <a:pPr marL="0" lvl="1" algn="l" defTabSz="577850">
              <a:lnSpc>
                <a:spcPct val="90000"/>
              </a:lnSpc>
              <a:spcBef>
                <a:spcPct val="0"/>
              </a:spcBef>
              <a:spcAft>
                <a:spcPct val="15000"/>
              </a:spcAft>
            </a:pPr>
            <a:r>
              <a:rPr lang="en-US" sz="1400" dirty="0"/>
              <a:t> Implement dynamic pie charts and other visual aids to give users a clear, real-time representation of their spending patterns across different categories, aiding in better financial insights.</a:t>
            </a:r>
            <a:endParaRPr lang="en-IN" sz="1300" b="1" kern="1200" dirty="0"/>
          </a:p>
        </p:txBody>
      </p:sp>
      <p:sp>
        <p:nvSpPr>
          <p:cNvPr id="13" name="Freeform: Shape 12">
            <a:extLst>
              <a:ext uri="{FF2B5EF4-FFF2-40B4-BE49-F238E27FC236}">
                <a16:creationId xmlns:a16="http://schemas.microsoft.com/office/drawing/2014/main" id="{66F71B71-16B7-BE61-80B0-9F472FC0678B}"/>
              </a:ext>
            </a:extLst>
          </p:cNvPr>
          <p:cNvSpPr/>
          <p:nvPr/>
        </p:nvSpPr>
        <p:spPr>
          <a:xfrm rot="16200000">
            <a:off x="2690894" y="3735103"/>
            <a:ext cx="3663755" cy="284288"/>
          </a:xfrm>
          <a:custGeom>
            <a:avLst/>
            <a:gdLst>
              <a:gd name="connsiteX0" fmla="*/ 0 w 3663755"/>
              <a:gd name="connsiteY0" fmla="*/ 0 h 284288"/>
              <a:gd name="connsiteX1" fmla="*/ 3663755 w 3663755"/>
              <a:gd name="connsiteY1" fmla="*/ 0 h 284288"/>
              <a:gd name="connsiteX2" fmla="*/ 3663755 w 3663755"/>
              <a:gd name="connsiteY2" fmla="*/ 284288 h 284288"/>
              <a:gd name="connsiteX3" fmla="*/ 0 w 3663755"/>
              <a:gd name="connsiteY3" fmla="*/ 284288 h 284288"/>
              <a:gd name="connsiteX4" fmla="*/ 0 w 3663755"/>
              <a:gd name="connsiteY4" fmla="*/ 0 h 2842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63755" h="284288">
                <a:moveTo>
                  <a:pt x="0" y="0"/>
                </a:moveTo>
                <a:lnTo>
                  <a:pt x="3663755" y="0"/>
                </a:lnTo>
                <a:lnTo>
                  <a:pt x="3663755" y="284288"/>
                </a:lnTo>
                <a:lnTo>
                  <a:pt x="0" y="284288"/>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 tIns="0" rIns="250727" bIns="-1" numCol="1" spcCol="1270" anchor="t" anchorCtr="0">
            <a:noAutofit/>
          </a:bodyPr>
          <a:lstStyle/>
          <a:p>
            <a:pPr marL="0" lvl="0" indent="0" algn="r" defTabSz="889000">
              <a:lnSpc>
                <a:spcPct val="90000"/>
              </a:lnSpc>
              <a:spcBef>
                <a:spcPct val="0"/>
              </a:spcBef>
              <a:spcAft>
                <a:spcPct val="35000"/>
              </a:spcAft>
              <a:buNone/>
            </a:pPr>
            <a:endParaRPr lang="en-IN" sz="2000" kern="1200"/>
          </a:p>
        </p:txBody>
      </p:sp>
      <p:sp>
        <p:nvSpPr>
          <p:cNvPr id="14" name="Freeform: Shape 13">
            <a:extLst>
              <a:ext uri="{FF2B5EF4-FFF2-40B4-BE49-F238E27FC236}">
                <a16:creationId xmlns:a16="http://schemas.microsoft.com/office/drawing/2014/main" id="{60AEF1BD-C9B1-EEC1-89A8-3D78C32CE99E}"/>
              </a:ext>
            </a:extLst>
          </p:cNvPr>
          <p:cNvSpPr/>
          <p:nvPr/>
        </p:nvSpPr>
        <p:spPr>
          <a:xfrm>
            <a:off x="6172390" y="1931832"/>
            <a:ext cx="2327800" cy="3394352"/>
          </a:xfrm>
          <a:custGeom>
            <a:avLst/>
            <a:gdLst>
              <a:gd name="connsiteX0" fmla="*/ 0 w 1416058"/>
              <a:gd name="connsiteY0" fmla="*/ 0 h 3663755"/>
              <a:gd name="connsiteX1" fmla="*/ 1416058 w 1416058"/>
              <a:gd name="connsiteY1" fmla="*/ 0 h 3663755"/>
              <a:gd name="connsiteX2" fmla="*/ 1416058 w 1416058"/>
              <a:gd name="connsiteY2" fmla="*/ 3663755 h 3663755"/>
              <a:gd name="connsiteX3" fmla="*/ 0 w 1416058"/>
              <a:gd name="connsiteY3" fmla="*/ 3663755 h 3663755"/>
              <a:gd name="connsiteX4" fmla="*/ 0 w 1416058"/>
              <a:gd name="connsiteY4" fmla="*/ 0 h 36637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6058" h="3663755">
                <a:moveTo>
                  <a:pt x="0" y="0"/>
                </a:moveTo>
                <a:lnTo>
                  <a:pt x="1416058" y="0"/>
                </a:lnTo>
                <a:lnTo>
                  <a:pt x="1416058" y="3663755"/>
                </a:lnTo>
                <a:lnTo>
                  <a:pt x="0" y="3663755"/>
                </a:lnTo>
                <a:lnTo>
                  <a:pt x="0" y="0"/>
                </a:lnTo>
                <a:close/>
              </a:path>
            </a:pathLst>
          </a:custGeom>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120904" tIns="250727" rIns="120904" bIns="120904" numCol="1" spcCol="1270" anchor="t" anchorCtr="0">
            <a:noAutofit/>
          </a:bodyPr>
          <a:lstStyle/>
          <a:p>
            <a:pPr marL="0" lvl="1" algn="ctr" defTabSz="577850">
              <a:lnSpc>
                <a:spcPct val="90000"/>
              </a:lnSpc>
              <a:spcBef>
                <a:spcPct val="0"/>
              </a:spcBef>
              <a:spcAft>
                <a:spcPct val="15000"/>
              </a:spcAft>
            </a:pPr>
            <a:r>
              <a:rPr lang="en-US" sz="1600" b="1" dirty="0"/>
              <a:t>Enable Budget Monitoring</a:t>
            </a:r>
            <a:endParaRPr lang="en-US" sz="1400" b="1" dirty="0"/>
          </a:p>
          <a:p>
            <a:pPr marL="114300" lvl="1" indent="-114300" algn="l" defTabSz="577850">
              <a:lnSpc>
                <a:spcPct val="90000"/>
              </a:lnSpc>
              <a:spcBef>
                <a:spcPct val="0"/>
              </a:spcBef>
              <a:spcAft>
                <a:spcPct val="15000"/>
              </a:spcAft>
              <a:buChar char="•"/>
            </a:pPr>
            <a:endParaRPr lang="en-US" sz="1400" b="1" dirty="0"/>
          </a:p>
          <a:p>
            <a:pPr marL="0" lvl="1" algn="l" defTabSz="577850">
              <a:lnSpc>
                <a:spcPct val="90000"/>
              </a:lnSpc>
              <a:spcBef>
                <a:spcPct val="0"/>
              </a:spcBef>
              <a:spcAft>
                <a:spcPct val="15000"/>
              </a:spcAft>
            </a:pPr>
            <a:r>
              <a:rPr lang="en-US" sz="1400" dirty="0"/>
              <a:t> Allow users to set a budget limit and track their current spending relative to that limit, ensuring that they are alerted if they approach or exceed their budget.</a:t>
            </a:r>
            <a:endParaRPr lang="en-IN" sz="1300" b="1" kern="1200" dirty="0"/>
          </a:p>
        </p:txBody>
      </p:sp>
      <p:sp>
        <p:nvSpPr>
          <p:cNvPr id="6" name="TextBox 5">
            <a:extLst>
              <a:ext uri="{FF2B5EF4-FFF2-40B4-BE49-F238E27FC236}">
                <a16:creationId xmlns:a16="http://schemas.microsoft.com/office/drawing/2014/main" id="{C52CF95F-4CFC-C338-9F16-175C963B2E14}"/>
              </a:ext>
            </a:extLst>
          </p:cNvPr>
          <p:cNvSpPr txBox="1"/>
          <p:nvPr/>
        </p:nvSpPr>
        <p:spPr>
          <a:xfrm>
            <a:off x="1701407" y="520292"/>
            <a:ext cx="9126583" cy="769441"/>
          </a:xfrm>
          <a:prstGeom prst="rect">
            <a:avLst/>
          </a:prstGeom>
          <a:noFill/>
        </p:spPr>
        <p:txBody>
          <a:bodyPr wrap="square" rtlCol="0">
            <a:spAutoFit/>
          </a:bodyPr>
          <a:lstStyle/>
          <a:p>
            <a:pPr algn="ctr"/>
            <a:r>
              <a:rPr lang="en-IN" sz="4400" dirty="0">
                <a:solidFill>
                  <a:schemeClr val="bg1"/>
                </a:solidFill>
                <a:latin typeface="Inter Black" panose="020B0A02050000000004" pitchFamily="34" charset="0"/>
                <a:ea typeface="Inter Black" panose="020B0A02050000000004" pitchFamily="34" charset="0"/>
              </a:rPr>
              <a:t>OBJECTIVES</a:t>
            </a:r>
          </a:p>
        </p:txBody>
      </p:sp>
      <p:sp>
        <p:nvSpPr>
          <p:cNvPr id="3" name="Freeform: Shape 2">
            <a:extLst>
              <a:ext uri="{FF2B5EF4-FFF2-40B4-BE49-F238E27FC236}">
                <a16:creationId xmlns:a16="http://schemas.microsoft.com/office/drawing/2014/main" id="{3E76D1D1-E0EF-2A4C-69C4-EEF1A9E082B1}"/>
              </a:ext>
            </a:extLst>
          </p:cNvPr>
          <p:cNvSpPr/>
          <p:nvPr/>
        </p:nvSpPr>
        <p:spPr>
          <a:xfrm>
            <a:off x="9059734" y="1931832"/>
            <a:ext cx="2327800" cy="3394352"/>
          </a:xfrm>
          <a:custGeom>
            <a:avLst/>
            <a:gdLst>
              <a:gd name="connsiteX0" fmla="*/ 0 w 1416058"/>
              <a:gd name="connsiteY0" fmla="*/ 0 h 3663755"/>
              <a:gd name="connsiteX1" fmla="*/ 1416058 w 1416058"/>
              <a:gd name="connsiteY1" fmla="*/ 0 h 3663755"/>
              <a:gd name="connsiteX2" fmla="*/ 1416058 w 1416058"/>
              <a:gd name="connsiteY2" fmla="*/ 3663755 h 3663755"/>
              <a:gd name="connsiteX3" fmla="*/ 0 w 1416058"/>
              <a:gd name="connsiteY3" fmla="*/ 3663755 h 3663755"/>
              <a:gd name="connsiteX4" fmla="*/ 0 w 1416058"/>
              <a:gd name="connsiteY4" fmla="*/ 0 h 36637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6058" h="3663755">
                <a:moveTo>
                  <a:pt x="0" y="0"/>
                </a:moveTo>
                <a:lnTo>
                  <a:pt x="1416058" y="0"/>
                </a:lnTo>
                <a:lnTo>
                  <a:pt x="1416058" y="3663755"/>
                </a:lnTo>
                <a:lnTo>
                  <a:pt x="0" y="3663755"/>
                </a:lnTo>
                <a:lnTo>
                  <a:pt x="0" y="0"/>
                </a:lnTo>
                <a:close/>
              </a:path>
            </a:pathLst>
          </a:custGeom>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120904" tIns="250727" rIns="120904" bIns="120904" numCol="1" spcCol="1270" anchor="t" anchorCtr="0">
            <a:noAutofit/>
          </a:bodyPr>
          <a:lstStyle/>
          <a:p>
            <a:pPr marL="0" lvl="1" algn="ctr" defTabSz="577850">
              <a:lnSpc>
                <a:spcPct val="90000"/>
              </a:lnSpc>
              <a:spcBef>
                <a:spcPct val="0"/>
              </a:spcBef>
              <a:spcAft>
                <a:spcPct val="15000"/>
              </a:spcAft>
            </a:pPr>
            <a:r>
              <a:rPr lang="en-US" sz="1600" b="1" dirty="0"/>
              <a:t>Ensure Flexibility and Customization</a:t>
            </a:r>
          </a:p>
          <a:p>
            <a:pPr marL="114300" lvl="1" indent="-114300" algn="l" defTabSz="577850">
              <a:lnSpc>
                <a:spcPct val="90000"/>
              </a:lnSpc>
              <a:spcBef>
                <a:spcPct val="0"/>
              </a:spcBef>
              <a:spcAft>
                <a:spcPct val="15000"/>
              </a:spcAft>
              <a:buChar char="•"/>
            </a:pPr>
            <a:endParaRPr lang="en-US" sz="1400" b="1" dirty="0"/>
          </a:p>
          <a:p>
            <a:pPr marL="0" lvl="1" algn="l" defTabSz="577850">
              <a:lnSpc>
                <a:spcPct val="90000"/>
              </a:lnSpc>
              <a:spcBef>
                <a:spcPct val="0"/>
              </a:spcBef>
              <a:spcAft>
                <a:spcPct val="15000"/>
              </a:spcAft>
            </a:pPr>
            <a:r>
              <a:rPr lang="en-US" sz="1400" dirty="0"/>
              <a:t> Allow users to customize categories, update or delete expense entries, and view expense summaries over specific time periods to tailor the tracker to their personal financial needs.</a:t>
            </a:r>
            <a:endParaRPr lang="en-IN" sz="1300" b="1" kern="1200" dirty="0"/>
          </a:p>
        </p:txBody>
      </p:sp>
    </p:spTree>
    <p:extLst>
      <p:ext uri="{BB962C8B-B14F-4D97-AF65-F5344CB8AC3E}">
        <p14:creationId xmlns:p14="http://schemas.microsoft.com/office/powerpoint/2010/main" val="221874426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fade">
                                      <p:cBhvr>
                                        <p:cTn id="17" dur="500"/>
                                        <p:tgtEl>
                                          <p:spTgt spid="1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fade">
                                      <p:cBhvr>
                                        <p:cTn id="2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1" grpId="0" animBg="1"/>
      <p:bldP spid="14" grpId="0" animBg="1"/>
      <p:bldP spid="3"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968744-E97B-1CBB-C409-87B9130B8E42}"/>
            </a:ext>
          </a:extLst>
        </p:cNvPr>
        <p:cNvGrpSpPr/>
        <p:nvPr/>
      </p:nvGrpSpPr>
      <p:grpSpPr>
        <a:xfrm>
          <a:off x="0" y="0"/>
          <a:ext cx="0" cy="0"/>
          <a:chOff x="0" y="0"/>
          <a:chExt cx="0" cy="0"/>
        </a:xfrm>
      </p:grpSpPr>
      <p:sp>
        <p:nvSpPr>
          <p:cNvPr id="42" name="TextBox 41">
            <a:extLst>
              <a:ext uri="{FF2B5EF4-FFF2-40B4-BE49-F238E27FC236}">
                <a16:creationId xmlns:a16="http://schemas.microsoft.com/office/drawing/2014/main" id="{CC26A158-926D-642B-0B8C-256E13C3EBC2}"/>
              </a:ext>
            </a:extLst>
          </p:cNvPr>
          <p:cNvSpPr txBox="1"/>
          <p:nvPr/>
        </p:nvSpPr>
        <p:spPr>
          <a:xfrm>
            <a:off x="245533" y="248336"/>
            <a:ext cx="3438331" cy="523220"/>
          </a:xfrm>
          <a:prstGeom prst="rect">
            <a:avLst/>
          </a:prstGeom>
          <a:noFill/>
        </p:spPr>
        <p:txBody>
          <a:bodyPr wrap="square" rtlCol="0">
            <a:spAutoFit/>
          </a:bodyPr>
          <a:lstStyle/>
          <a:p>
            <a:pPr algn="ctr"/>
            <a:r>
              <a:rPr lang="en-IN" sz="2800" b="1" dirty="0">
                <a:solidFill>
                  <a:schemeClr val="bg1"/>
                </a:solidFill>
                <a:latin typeface="Ubuntu" panose="020B0504030602030204" pitchFamily="34" charset="0"/>
                <a:ea typeface="Inter Black" panose="020B0A02050000000004" pitchFamily="34" charset="0"/>
              </a:rPr>
              <a:t>METHODOLOGY</a:t>
            </a:r>
          </a:p>
        </p:txBody>
      </p:sp>
      <p:sp>
        <p:nvSpPr>
          <p:cNvPr id="34" name="Oval 33">
            <a:extLst>
              <a:ext uri="{FF2B5EF4-FFF2-40B4-BE49-F238E27FC236}">
                <a16:creationId xmlns:a16="http://schemas.microsoft.com/office/drawing/2014/main" id="{401F9BBE-C694-89A2-0601-4F0F13C9760A}"/>
              </a:ext>
            </a:extLst>
          </p:cNvPr>
          <p:cNvSpPr/>
          <p:nvPr/>
        </p:nvSpPr>
        <p:spPr>
          <a:xfrm>
            <a:off x="6108441" y="771556"/>
            <a:ext cx="1772000" cy="1581654"/>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Approach</a:t>
            </a:r>
          </a:p>
        </p:txBody>
      </p:sp>
      <p:sp>
        <p:nvSpPr>
          <p:cNvPr id="37" name="Oval 36">
            <a:extLst>
              <a:ext uri="{FF2B5EF4-FFF2-40B4-BE49-F238E27FC236}">
                <a16:creationId xmlns:a16="http://schemas.microsoft.com/office/drawing/2014/main" id="{3DEED28E-E13E-AEE2-13ED-D147016DB8F0}"/>
              </a:ext>
            </a:extLst>
          </p:cNvPr>
          <p:cNvSpPr/>
          <p:nvPr/>
        </p:nvSpPr>
        <p:spPr>
          <a:xfrm>
            <a:off x="3350643" y="1653617"/>
            <a:ext cx="1772000" cy="1581654"/>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Tools</a:t>
            </a:r>
          </a:p>
        </p:txBody>
      </p:sp>
      <p:sp>
        <p:nvSpPr>
          <p:cNvPr id="38" name="Oval 37">
            <a:extLst>
              <a:ext uri="{FF2B5EF4-FFF2-40B4-BE49-F238E27FC236}">
                <a16:creationId xmlns:a16="http://schemas.microsoft.com/office/drawing/2014/main" id="{C1574698-20D6-8D43-0804-FC88BB907AC3}"/>
              </a:ext>
            </a:extLst>
          </p:cNvPr>
          <p:cNvSpPr/>
          <p:nvPr/>
        </p:nvSpPr>
        <p:spPr>
          <a:xfrm>
            <a:off x="6108441" y="4931724"/>
            <a:ext cx="1772000" cy="1581654"/>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Technology</a:t>
            </a:r>
          </a:p>
        </p:txBody>
      </p:sp>
      <p:sp>
        <p:nvSpPr>
          <p:cNvPr id="39" name="Oval 38">
            <a:extLst>
              <a:ext uri="{FF2B5EF4-FFF2-40B4-BE49-F238E27FC236}">
                <a16:creationId xmlns:a16="http://schemas.microsoft.com/office/drawing/2014/main" id="{726B82A2-C140-82F9-A6F3-18A13EA085DF}"/>
              </a:ext>
            </a:extLst>
          </p:cNvPr>
          <p:cNvSpPr/>
          <p:nvPr/>
        </p:nvSpPr>
        <p:spPr>
          <a:xfrm>
            <a:off x="3350643" y="3972946"/>
            <a:ext cx="1772000" cy="1581654"/>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Techniques</a:t>
            </a:r>
          </a:p>
        </p:txBody>
      </p:sp>
      <p:sp>
        <p:nvSpPr>
          <p:cNvPr id="40" name="Rectangle 39">
            <a:extLst>
              <a:ext uri="{FF2B5EF4-FFF2-40B4-BE49-F238E27FC236}">
                <a16:creationId xmlns:a16="http://schemas.microsoft.com/office/drawing/2014/main" id="{A9F75709-7A03-0028-987B-364FF07A342D}"/>
              </a:ext>
            </a:extLst>
          </p:cNvPr>
          <p:cNvSpPr/>
          <p:nvPr/>
        </p:nvSpPr>
        <p:spPr>
          <a:xfrm>
            <a:off x="12120464" y="0"/>
            <a:ext cx="71535" cy="6858000"/>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tx1"/>
              </a:solidFill>
            </a:endParaRPr>
          </a:p>
        </p:txBody>
      </p:sp>
    </p:spTree>
    <p:extLst>
      <p:ext uri="{BB962C8B-B14F-4D97-AF65-F5344CB8AC3E}">
        <p14:creationId xmlns:p14="http://schemas.microsoft.com/office/powerpoint/2010/main" val="87139523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TextBox 41">
            <a:extLst>
              <a:ext uri="{FF2B5EF4-FFF2-40B4-BE49-F238E27FC236}">
                <a16:creationId xmlns:a16="http://schemas.microsoft.com/office/drawing/2014/main" id="{0FF00A8E-BF34-C99C-6A71-1D3F264666F3}"/>
              </a:ext>
            </a:extLst>
          </p:cNvPr>
          <p:cNvSpPr txBox="1"/>
          <p:nvPr/>
        </p:nvSpPr>
        <p:spPr>
          <a:xfrm>
            <a:off x="-1939677" y="171062"/>
            <a:ext cx="11810369" cy="523220"/>
          </a:xfrm>
          <a:prstGeom prst="rect">
            <a:avLst/>
          </a:prstGeom>
          <a:noFill/>
        </p:spPr>
        <p:txBody>
          <a:bodyPr wrap="square" rtlCol="0">
            <a:spAutoFit/>
          </a:bodyPr>
          <a:lstStyle/>
          <a:p>
            <a:pPr algn="ctr"/>
            <a:r>
              <a:rPr lang="en-IN" sz="2800" b="1" dirty="0">
                <a:solidFill>
                  <a:schemeClr val="bg1"/>
                </a:solidFill>
                <a:latin typeface="Ubuntu" panose="020B0504030602030204" pitchFamily="34" charset="0"/>
                <a:ea typeface="Inter Black" panose="020B0A02050000000004" pitchFamily="34" charset="0"/>
              </a:rPr>
              <a:t>METHODOLOGY</a:t>
            </a:r>
          </a:p>
        </p:txBody>
      </p:sp>
      <p:sp>
        <p:nvSpPr>
          <p:cNvPr id="34" name="Oval 33">
            <a:extLst>
              <a:ext uri="{FF2B5EF4-FFF2-40B4-BE49-F238E27FC236}">
                <a16:creationId xmlns:a16="http://schemas.microsoft.com/office/drawing/2014/main" id="{6B680245-933C-0DCD-0895-884B60C531A1}"/>
              </a:ext>
            </a:extLst>
          </p:cNvPr>
          <p:cNvSpPr/>
          <p:nvPr/>
        </p:nvSpPr>
        <p:spPr>
          <a:xfrm>
            <a:off x="5876700" y="2506169"/>
            <a:ext cx="1772000" cy="1581654"/>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Approach</a:t>
            </a:r>
          </a:p>
        </p:txBody>
      </p:sp>
      <p:sp>
        <p:nvSpPr>
          <p:cNvPr id="37" name="Oval 36">
            <a:extLst>
              <a:ext uri="{FF2B5EF4-FFF2-40B4-BE49-F238E27FC236}">
                <a16:creationId xmlns:a16="http://schemas.microsoft.com/office/drawing/2014/main" id="{88D09983-4804-E5A4-D314-1D572DD84E1A}"/>
              </a:ext>
            </a:extLst>
          </p:cNvPr>
          <p:cNvSpPr/>
          <p:nvPr/>
        </p:nvSpPr>
        <p:spPr>
          <a:xfrm>
            <a:off x="2296284" y="1980188"/>
            <a:ext cx="1772000" cy="1581654"/>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Tools</a:t>
            </a:r>
          </a:p>
        </p:txBody>
      </p:sp>
      <p:sp>
        <p:nvSpPr>
          <p:cNvPr id="38" name="Oval 37">
            <a:extLst>
              <a:ext uri="{FF2B5EF4-FFF2-40B4-BE49-F238E27FC236}">
                <a16:creationId xmlns:a16="http://schemas.microsoft.com/office/drawing/2014/main" id="{F2F9EA5A-B6F4-DA0B-2F96-C8F851E748A5}"/>
              </a:ext>
            </a:extLst>
          </p:cNvPr>
          <p:cNvSpPr/>
          <p:nvPr/>
        </p:nvSpPr>
        <p:spPr>
          <a:xfrm>
            <a:off x="4723829" y="4997038"/>
            <a:ext cx="1772000" cy="1581654"/>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Technology</a:t>
            </a:r>
          </a:p>
        </p:txBody>
      </p:sp>
      <p:sp>
        <p:nvSpPr>
          <p:cNvPr id="39" name="Oval 38">
            <a:extLst>
              <a:ext uri="{FF2B5EF4-FFF2-40B4-BE49-F238E27FC236}">
                <a16:creationId xmlns:a16="http://schemas.microsoft.com/office/drawing/2014/main" id="{9FAE1AF0-937D-62E7-E822-BAB95A6378A2}"/>
              </a:ext>
            </a:extLst>
          </p:cNvPr>
          <p:cNvSpPr/>
          <p:nvPr/>
        </p:nvSpPr>
        <p:spPr>
          <a:xfrm>
            <a:off x="2296284" y="4206211"/>
            <a:ext cx="1772000" cy="1581654"/>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Techniques</a:t>
            </a:r>
          </a:p>
        </p:txBody>
      </p:sp>
      <p:sp>
        <p:nvSpPr>
          <p:cNvPr id="40" name="Rectangle 39">
            <a:extLst>
              <a:ext uri="{FF2B5EF4-FFF2-40B4-BE49-F238E27FC236}">
                <a16:creationId xmlns:a16="http://schemas.microsoft.com/office/drawing/2014/main" id="{0C59B8E3-9221-D379-3B2C-97D4F51E3F32}"/>
              </a:ext>
            </a:extLst>
          </p:cNvPr>
          <p:cNvSpPr/>
          <p:nvPr/>
        </p:nvSpPr>
        <p:spPr>
          <a:xfrm>
            <a:off x="8304245" y="1"/>
            <a:ext cx="3887755" cy="6858000"/>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tx1"/>
              </a:solidFill>
            </a:endParaRPr>
          </a:p>
        </p:txBody>
      </p:sp>
      <p:sp>
        <p:nvSpPr>
          <p:cNvPr id="2" name="Rectangle 1">
            <a:extLst>
              <a:ext uri="{FF2B5EF4-FFF2-40B4-BE49-F238E27FC236}">
                <a16:creationId xmlns:a16="http://schemas.microsoft.com/office/drawing/2014/main" id="{B70B0934-7F49-B73C-CF78-F8F1A3569671}"/>
              </a:ext>
            </a:extLst>
          </p:cNvPr>
          <p:cNvSpPr>
            <a:spLocks noChangeArrowheads="1"/>
          </p:cNvSpPr>
          <p:nvPr/>
        </p:nvSpPr>
        <p:spPr bwMode="auto">
          <a:xfrm>
            <a:off x="8538634" y="388508"/>
            <a:ext cx="3653365" cy="58169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1" i="0" u="none" strike="noStrike" cap="none" normalizeH="0" baseline="0" dirty="0">
                <a:ln>
                  <a:noFill/>
                </a:ln>
                <a:solidFill>
                  <a:schemeClr val="tx1"/>
                </a:solidFill>
                <a:effectLst/>
                <a:latin typeface="Arial" panose="020B0604020202020204" pitchFamily="34" charset="0"/>
              </a:rPr>
              <a:t>Requirement Analysis:</a:t>
            </a:r>
            <a:endParaRPr kumimoji="0" lang="en-US" altLang="en-US" sz="12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200" b="0" i="0" u="none" strike="noStrike" cap="none" normalizeH="0" baseline="0" dirty="0">
                <a:ln>
                  <a:noFill/>
                </a:ln>
                <a:solidFill>
                  <a:schemeClr val="tx1"/>
                </a:solidFill>
                <a:effectLst/>
                <a:latin typeface="Arial" panose="020B0604020202020204" pitchFamily="34" charset="0"/>
              </a:rPr>
              <a:t>Identify key features: expense logging, categorization, budget setting, and data visualization.</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2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1" i="0" u="none" strike="noStrike" cap="none" normalizeH="0" baseline="0" dirty="0">
                <a:ln>
                  <a:noFill/>
                </a:ln>
                <a:solidFill>
                  <a:schemeClr val="tx1"/>
                </a:solidFill>
                <a:effectLst/>
                <a:latin typeface="Arial" panose="020B0604020202020204" pitchFamily="34" charset="0"/>
              </a:rPr>
              <a:t>Design Phase:</a:t>
            </a:r>
            <a:endParaRPr kumimoji="0" lang="en-US" altLang="en-US" sz="12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200" b="0" i="0" u="none" strike="noStrike" cap="none" normalizeH="0" baseline="0" dirty="0">
                <a:ln>
                  <a:noFill/>
                </a:ln>
                <a:solidFill>
                  <a:schemeClr val="tx1"/>
                </a:solidFill>
                <a:effectLst/>
                <a:latin typeface="Arial" panose="020B0604020202020204" pitchFamily="34" charset="0"/>
              </a:rPr>
              <a:t>Plan data storage in </a:t>
            </a:r>
            <a:r>
              <a:rPr kumimoji="0" lang="en-US" altLang="en-US" sz="1200" b="1" i="0" u="none" strike="noStrike" cap="none" normalizeH="0" baseline="0" dirty="0">
                <a:ln>
                  <a:noFill/>
                </a:ln>
                <a:solidFill>
                  <a:schemeClr val="tx1"/>
                </a:solidFill>
                <a:effectLst/>
                <a:latin typeface="Arial" panose="020B0604020202020204" pitchFamily="34" charset="0"/>
              </a:rPr>
              <a:t>SQLite</a:t>
            </a:r>
            <a:r>
              <a:rPr kumimoji="0" lang="en-US" altLang="en-US" sz="1200" b="0" i="0" u="none" strike="noStrike" cap="none" normalizeH="0" baseline="0" dirty="0">
                <a:ln>
                  <a:noFill/>
                </a:ln>
                <a:solidFill>
                  <a:schemeClr val="tx1"/>
                </a:solidFill>
                <a:effectLst/>
                <a:latin typeface="Arial" panose="020B0604020202020204" pitchFamily="34" charset="0"/>
              </a:rPr>
              <a:t> for expense details.</a:t>
            </a:r>
          </a:p>
          <a:p>
            <a:pPr marL="0" marR="0" lvl="0" indent="0" algn="l" defTabSz="914400" rtl="0" eaLnBrk="0" fontAlgn="base" latinLnBrk="0" hangingPunct="0">
              <a:lnSpc>
                <a:spcPct val="100000"/>
              </a:lnSpc>
              <a:spcBef>
                <a:spcPct val="0"/>
              </a:spcBef>
              <a:spcAft>
                <a:spcPct val="0"/>
              </a:spcAft>
              <a:buClrTx/>
              <a:buSzTx/>
              <a:tabLst/>
            </a:pPr>
            <a:r>
              <a:rPr kumimoji="0" lang="en-US" altLang="en-US" sz="1200" b="0" i="0" u="none" strike="noStrike" cap="none" normalizeH="0" baseline="0" dirty="0">
                <a:ln>
                  <a:noFill/>
                </a:ln>
                <a:solidFill>
                  <a:schemeClr val="tx1"/>
                </a:solidFill>
                <a:effectLst/>
                <a:latin typeface="Arial" panose="020B0604020202020204" pitchFamily="34" charset="0"/>
              </a:rPr>
              <a:t>Design a modern UI for easy input and data display.</a:t>
            </a:r>
          </a:p>
          <a:p>
            <a:pPr marL="0" marR="0" lvl="0" indent="0" algn="l" defTabSz="914400" rtl="0" eaLnBrk="0" fontAlgn="base" latinLnBrk="0" hangingPunct="0">
              <a:lnSpc>
                <a:spcPct val="100000"/>
              </a:lnSpc>
              <a:spcBef>
                <a:spcPct val="0"/>
              </a:spcBef>
              <a:spcAft>
                <a:spcPct val="0"/>
              </a:spcAft>
              <a:buClrTx/>
              <a:buSzTx/>
              <a:tabLst/>
            </a:pPr>
            <a:r>
              <a:rPr kumimoji="0" lang="en-US" altLang="en-US" sz="1200" b="0" i="0" u="none" strike="noStrike" cap="none" normalizeH="0" baseline="0" dirty="0">
                <a:ln>
                  <a:noFill/>
                </a:ln>
                <a:solidFill>
                  <a:schemeClr val="tx1"/>
                </a:solidFill>
                <a:effectLst/>
                <a:latin typeface="Arial" panose="020B0604020202020204" pitchFamily="34" charset="0"/>
              </a:rPr>
              <a:t>Plan dynamic charts for visualizing expenses.</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2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1" i="0" u="none" strike="noStrike" cap="none" normalizeH="0" baseline="0" dirty="0">
                <a:ln>
                  <a:noFill/>
                </a:ln>
                <a:solidFill>
                  <a:schemeClr val="tx1"/>
                </a:solidFill>
                <a:effectLst/>
                <a:latin typeface="Arial" panose="020B0604020202020204" pitchFamily="34" charset="0"/>
              </a:rPr>
              <a:t>Development Phase:</a:t>
            </a:r>
            <a:endParaRPr kumimoji="0" lang="en-US" altLang="en-US" sz="12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200" b="0" i="0" u="none" strike="noStrike" cap="none" normalizeH="0" baseline="0" dirty="0">
                <a:ln>
                  <a:noFill/>
                </a:ln>
                <a:solidFill>
                  <a:schemeClr val="tx1"/>
                </a:solidFill>
                <a:effectLst/>
                <a:latin typeface="Arial" panose="020B0604020202020204" pitchFamily="34" charset="0"/>
              </a:rPr>
              <a:t>Build UI using Python libraries of </a:t>
            </a:r>
            <a:r>
              <a:rPr kumimoji="0" lang="en-US" altLang="en-US" sz="1200" b="1" i="0" u="none" strike="noStrike" cap="none" normalizeH="0" baseline="0" dirty="0" err="1">
                <a:ln>
                  <a:noFill/>
                </a:ln>
                <a:solidFill>
                  <a:schemeClr val="tx1"/>
                </a:solidFill>
                <a:effectLst/>
                <a:latin typeface="Arial" panose="020B0604020202020204" pitchFamily="34" charset="0"/>
              </a:rPr>
              <a:t>Tkinter</a:t>
            </a:r>
            <a:r>
              <a:rPr kumimoji="0" lang="en-US" altLang="en-US" sz="12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tabLst/>
            </a:pPr>
            <a:r>
              <a:rPr kumimoji="0" lang="en-US" altLang="en-US" sz="1200" b="0" i="0" u="none" strike="noStrike" cap="none" normalizeH="0" baseline="0" dirty="0">
                <a:ln>
                  <a:noFill/>
                </a:ln>
                <a:solidFill>
                  <a:schemeClr val="tx1"/>
                </a:solidFill>
                <a:effectLst/>
                <a:latin typeface="Arial" panose="020B0604020202020204" pitchFamily="34" charset="0"/>
              </a:rPr>
              <a:t>Implement core functions: expense entry, categorization, and budget tracking.</a:t>
            </a:r>
          </a:p>
          <a:p>
            <a:pPr marL="0" marR="0" lvl="0" indent="0" algn="l" defTabSz="914400" rtl="0" eaLnBrk="0" fontAlgn="base" latinLnBrk="0" hangingPunct="0">
              <a:lnSpc>
                <a:spcPct val="100000"/>
              </a:lnSpc>
              <a:spcBef>
                <a:spcPct val="0"/>
              </a:spcBef>
              <a:spcAft>
                <a:spcPct val="0"/>
              </a:spcAft>
              <a:buClrTx/>
              <a:buSzTx/>
              <a:tabLst/>
            </a:pPr>
            <a:r>
              <a:rPr kumimoji="0" lang="en-US" altLang="en-US" sz="1200" b="0" i="0" u="none" strike="noStrike" cap="none" normalizeH="0" baseline="0" dirty="0">
                <a:ln>
                  <a:noFill/>
                </a:ln>
                <a:solidFill>
                  <a:schemeClr val="tx1"/>
                </a:solidFill>
                <a:effectLst/>
                <a:latin typeface="Arial" panose="020B0604020202020204" pitchFamily="34" charset="0"/>
              </a:rPr>
              <a:t>Store data locally for retrieval and updates.</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2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1" i="0" u="none" strike="noStrike" cap="none" normalizeH="0" baseline="0" dirty="0">
                <a:ln>
                  <a:noFill/>
                </a:ln>
                <a:solidFill>
                  <a:schemeClr val="tx1"/>
                </a:solidFill>
                <a:effectLst/>
                <a:latin typeface="Arial" panose="020B0604020202020204" pitchFamily="34" charset="0"/>
              </a:rPr>
              <a:t>Data Visualization:</a:t>
            </a:r>
            <a:endParaRPr kumimoji="0" lang="en-US" altLang="en-US" sz="12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200" b="0" i="0" u="none" strike="noStrike" cap="none" normalizeH="0" baseline="0" dirty="0">
                <a:ln>
                  <a:noFill/>
                </a:ln>
                <a:solidFill>
                  <a:schemeClr val="tx1"/>
                </a:solidFill>
                <a:effectLst/>
                <a:latin typeface="Arial" panose="020B0604020202020204" pitchFamily="34" charset="0"/>
              </a:rPr>
              <a:t>Use libraries </a:t>
            </a:r>
            <a:r>
              <a:rPr kumimoji="0" lang="en-US" altLang="en-US" sz="1200" b="1" i="0" u="none" strike="noStrike" cap="none" normalizeH="0" baseline="0" dirty="0">
                <a:ln>
                  <a:noFill/>
                </a:ln>
                <a:solidFill>
                  <a:schemeClr val="tx1"/>
                </a:solidFill>
                <a:effectLst/>
                <a:latin typeface="Arial" panose="020B0604020202020204" pitchFamily="34" charset="0"/>
              </a:rPr>
              <a:t>Matplotlib</a:t>
            </a:r>
            <a:r>
              <a:rPr kumimoji="0" lang="en-US" altLang="en-US" sz="1200" b="0" i="0" u="none" strike="noStrike" cap="none" normalizeH="0" baseline="0" dirty="0">
                <a:ln>
                  <a:noFill/>
                </a:ln>
                <a:solidFill>
                  <a:schemeClr val="tx1"/>
                </a:solidFill>
                <a:effectLst/>
                <a:latin typeface="Arial" panose="020B0604020202020204" pitchFamily="34" charset="0"/>
              </a:rPr>
              <a:t> to create real-time pie charts and summaries.</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2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1" i="0" u="none" strike="noStrike" cap="none" normalizeH="0" baseline="0" dirty="0">
                <a:ln>
                  <a:noFill/>
                </a:ln>
                <a:solidFill>
                  <a:schemeClr val="tx1"/>
                </a:solidFill>
                <a:effectLst/>
                <a:latin typeface="Arial" panose="020B0604020202020204" pitchFamily="34" charset="0"/>
              </a:rPr>
              <a:t>Testing and Validation:</a:t>
            </a:r>
            <a:endParaRPr kumimoji="0" lang="en-US" altLang="en-US" sz="12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200" b="0" i="0" u="none" strike="noStrike" cap="none" normalizeH="0" baseline="0" dirty="0">
                <a:ln>
                  <a:noFill/>
                </a:ln>
                <a:solidFill>
                  <a:schemeClr val="tx1"/>
                </a:solidFill>
                <a:effectLst/>
                <a:latin typeface="Arial" panose="020B0604020202020204" pitchFamily="34" charset="0"/>
              </a:rPr>
              <a:t>Perform unit and integration testing.</a:t>
            </a:r>
          </a:p>
          <a:p>
            <a:pPr marL="0" marR="0" lvl="0" indent="0" algn="l" defTabSz="914400" rtl="0" eaLnBrk="0" fontAlgn="base" latinLnBrk="0" hangingPunct="0">
              <a:lnSpc>
                <a:spcPct val="100000"/>
              </a:lnSpc>
              <a:spcBef>
                <a:spcPct val="0"/>
              </a:spcBef>
              <a:spcAft>
                <a:spcPct val="0"/>
              </a:spcAft>
              <a:buClrTx/>
              <a:buSzTx/>
              <a:tabLst/>
            </a:pPr>
            <a:r>
              <a:rPr kumimoji="0" lang="en-US" altLang="en-US" sz="1200" b="0" i="0" u="none" strike="noStrike" cap="none" normalizeH="0" baseline="0" dirty="0">
                <a:ln>
                  <a:noFill/>
                </a:ln>
                <a:solidFill>
                  <a:schemeClr val="tx1"/>
                </a:solidFill>
                <a:effectLst/>
                <a:latin typeface="Arial" panose="020B0604020202020204" pitchFamily="34" charset="0"/>
              </a:rPr>
              <a:t>Test user experience and improve based on feedback.</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2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1" i="0" u="none" strike="noStrike" cap="none" normalizeH="0" baseline="0" dirty="0">
                <a:ln>
                  <a:noFill/>
                </a:ln>
                <a:solidFill>
                  <a:schemeClr val="tx1"/>
                </a:solidFill>
                <a:effectLst/>
                <a:latin typeface="Arial" panose="020B0604020202020204" pitchFamily="34" charset="0"/>
              </a:rPr>
              <a:t>Deployment and Maintenance:</a:t>
            </a:r>
            <a:endParaRPr kumimoji="0" lang="en-US" altLang="en-US" sz="12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200" b="0" i="0" u="none" strike="noStrike" cap="none" normalizeH="0" baseline="0" dirty="0">
                <a:ln>
                  <a:noFill/>
                </a:ln>
                <a:solidFill>
                  <a:schemeClr val="tx1"/>
                </a:solidFill>
                <a:effectLst/>
                <a:latin typeface="Arial" panose="020B0604020202020204" pitchFamily="34" charset="0"/>
              </a:rPr>
              <a:t>Deploy the tool, provide user documentation, and ensure continuous updates based on user feedback.</a:t>
            </a:r>
          </a:p>
        </p:txBody>
      </p:sp>
    </p:spTree>
    <p:extLst>
      <p:ext uri="{BB962C8B-B14F-4D97-AF65-F5344CB8AC3E}">
        <p14:creationId xmlns:p14="http://schemas.microsoft.com/office/powerpoint/2010/main" val="19686113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1EFFDB-E674-5FCE-9FBA-A047CA6763BA}"/>
            </a:ext>
          </a:extLst>
        </p:cNvPr>
        <p:cNvGrpSpPr/>
        <p:nvPr/>
      </p:nvGrpSpPr>
      <p:grpSpPr>
        <a:xfrm>
          <a:off x="0" y="0"/>
          <a:ext cx="0" cy="0"/>
          <a:chOff x="0" y="0"/>
          <a:chExt cx="0" cy="0"/>
        </a:xfrm>
      </p:grpSpPr>
      <p:sp>
        <p:nvSpPr>
          <p:cNvPr id="42" name="TextBox 41">
            <a:extLst>
              <a:ext uri="{FF2B5EF4-FFF2-40B4-BE49-F238E27FC236}">
                <a16:creationId xmlns:a16="http://schemas.microsoft.com/office/drawing/2014/main" id="{6FBC799B-213F-4C34-C7E5-86BFE0AFBC5E}"/>
              </a:ext>
            </a:extLst>
          </p:cNvPr>
          <p:cNvSpPr txBox="1"/>
          <p:nvPr/>
        </p:nvSpPr>
        <p:spPr>
          <a:xfrm>
            <a:off x="-1939677" y="171062"/>
            <a:ext cx="11810369" cy="523220"/>
          </a:xfrm>
          <a:prstGeom prst="rect">
            <a:avLst/>
          </a:prstGeom>
          <a:noFill/>
        </p:spPr>
        <p:txBody>
          <a:bodyPr wrap="square" rtlCol="0">
            <a:spAutoFit/>
          </a:bodyPr>
          <a:lstStyle/>
          <a:p>
            <a:pPr algn="ctr"/>
            <a:r>
              <a:rPr lang="en-IN" sz="2800" b="1" dirty="0">
                <a:solidFill>
                  <a:schemeClr val="bg1"/>
                </a:solidFill>
                <a:latin typeface="Ubuntu" panose="020B0504030602030204" pitchFamily="34" charset="0"/>
                <a:ea typeface="Inter Black" panose="020B0A02050000000004" pitchFamily="34" charset="0"/>
              </a:rPr>
              <a:t>METHODOLOGY</a:t>
            </a:r>
          </a:p>
        </p:txBody>
      </p:sp>
      <p:sp>
        <p:nvSpPr>
          <p:cNvPr id="34" name="Oval 33">
            <a:extLst>
              <a:ext uri="{FF2B5EF4-FFF2-40B4-BE49-F238E27FC236}">
                <a16:creationId xmlns:a16="http://schemas.microsoft.com/office/drawing/2014/main" id="{3185C0EA-1522-6671-40A3-96594C138DBA}"/>
              </a:ext>
            </a:extLst>
          </p:cNvPr>
          <p:cNvSpPr/>
          <p:nvPr/>
        </p:nvSpPr>
        <p:spPr>
          <a:xfrm>
            <a:off x="4723829" y="780006"/>
            <a:ext cx="1772000" cy="1581654"/>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Approach</a:t>
            </a:r>
          </a:p>
        </p:txBody>
      </p:sp>
      <p:sp>
        <p:nvSpPr>
          <p:cNvPr id="37" name="Oval 36">
            <a:extLst>
              <a:ext uri="{FF2B5EF4-FFF2-40B4-BE49-F238E27FC236}">
                <a16:creationId xmlns:a16="http://schemas.microsoft.com/office/drawing/2014/main" id="{C30614FA-FC99-215E-2E09-E791BFF8A4CE}"/>
              </a:ext>
            </a:extLst>
          </p:cNvPr>
          <p:cNvSpPr/>
          <p:nvPr/>
        </p:nvSpPr>
        <p:spPr>
          <a:xfrm>
            <a:off x="5763440" y="2638173"/>
            <a:ext cx="1772000" cy="1581654"/>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Tools</a:t>
            </a:r>
          </a:p>
        </p:txBody>
      </p:sp>
      <p:sp>
        <p:nvSpPr>
          <p:cNvPr id="38" name="Oval 37">
            <a:extLst>
              <a:ext uri="{FF2B5EF4-FFF2-40B4-BE49-F238E27FC236}">
                <a16:creationId xmlns:a16="http://schemas.microsoft.com/office/drawing/2014/main" id="{33CF32DC-C8AA-3023-F46B-8C1496911AC9}"/>
              </a:ext>
            </a:extLst>
          </p:cNvPr>
          <p:cNvSpPr/>
          <p:nvPr/>
        </p:nvSpPr>
        <p:spPr>
          <a:xfrm>
            <a:off x="4723829" y="4997038"/>
            <a:ext cx="1772000" cy="1581654"/>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Technology</a:t>
            </a:r>
          </a:p>
        </p:txBody>
      </p:sp>
      <p:sp>
        <p:nvSpPr>
          <p:cNvPr id="39" name="Oval 38">
            <a:extLst>
              <a:ext uri="{FF2B5EF4-FFF2-40B4-BE49-F238E27FC236}">
                <a16:creationId xmlns:a16="http://schemas.microsoft.com/office/drawing/2014/main" id="{7AE23F78-02E1-BE47-292A-3E8B1E8CE774}"/>
              </a:ext>
            </a:extLst>
          </p:cNvPr>
          <p:cNvSpPr/>
          <p:nvPr/>
        </p:nvSpPr>
        <p:spPr>
          <a:xfrm>
            <a:off x="2296284" y="4206211"/>
            <a:ext cx="1772000" cy="1581654"/>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Techniques</a:t>
            </a:r>
          </a:p>
        </p:txBody>
      </p:sp>
      <p:sp>
        <p:nvSpPr>
          <p:cNvPr id="40" name="Rectangle 39">
            <a:extLst>
              <a:ext uri="{FF2B5EF4-FFF2-40B4-BE49-F238E27FC236}">
                <a16:creationId xmlns:a16="http://schemas.microsoft.com/office/drawing/2014/main" id="{BCC9347D-3992-4504-FE57-8006DB1C6315}"/>
              </a:ext>
            </a:extLst>
          </p:cNvPr>
          <p:cNvSpPr/>
          <p:nvPr/>
        </p:nvSpPr>
        <p:spPr>
          <a:xfrm>
            <a:off x="8304245" y="1"/>
            <a:ext cx="3887755" cy="68580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tx1"/>
              </a:solidFill>
            </a:endParaRPr>
          </a:p>
        </p:txBody>
      </p:sp>
      <p:sp>
        <p:nvSpPr>
          <p:cNvPr id="3" name="Rectangle 1">
            <a:extLst>
              <a:ext uri="{FF2B5EF4-FFF2-40B4-BE49-F238E27FC236}">
                <a16:creationId xmlns:a16="http://schemas.microsoft.com/office/drawing/2014/main" id="{C4F0EF76-13E8-1FBE-F802-F6905FA82AF6}"/>
              </a:ext>
            </a:extLst>
          </p:cNvPr>
          <p:cNvSpPr>
            <a:spLocks noChangeArrowheads="1"/>
          </p:cNvSpPr>
          <p:nvPr/>
        </p:nvSpPr>
        <p:spPr bwMode="auto">
          <a:xfrm>
            <a:off x="8484411" y="714505"/>
            <a:ext cx="3428107" cy="47089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1" i="0" u="none" strike="noStrike" cap="none" normalizeH="0" baseline="0" dirty="0" err="1">
                <a:ln>
                  <a:noFill/>
                </a:ln>
                <a:solidFill>
                  <a:schemeClr val="tx1"/>
                </a:solidFill>
                <a:effectLst/>
                <a:latin typeface="Arial Unicode MS"/>
              </a:rPr>
              <a:t>Tkinter</a:t>
            </a:r>
            <a:r>
              <a:rPr kumimoji="0" lang="en-US" altLang="en-US" sz="1000" b="0" i="0" u="none" strike="noStrike" cap="none" normalizeH="0" baseline="0" dirty="0">
                <a:ln>
                  <a:noFill/>
                </a:ln>
                <a:solidFill>
                  <a:schemeClr val="tx1"/>
                </a:solidFill>
                <a:effectLst/>
              </a:rPr>
              <a:t>:</a:t>
            </a:r>
            <a:endParaRPr kumimoji="0" lang="en-US" altLang="en-US" sz="1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lang="en-US" altLang="en-US" sz="1000" b="1" dirty="0">
                <a:latin typeface="Arial" panose="020B0604020202020204" pitchFamily="34" charset="0"/>
              </a:rPr>
              <a:t>  </a:t>
            </a:r>
            <a:r>
              <a:rPr kumimoji="0" lang="en-US" altLang="en-US" sz="1000" b="0" i="0" u="none" strike="noStrike" cap="none" normalizeH="0" baseline="0" dirty="0" err="1">
                <a:ln>
                  <a:noFill/>
                </a:ln>
                <a:solidFill>
                  <a:schemeClr val="tx1"/>
                </a:solidFill>
                <a:effectLst/>
                <a:latin typeface="Arial" panose="020B0604020202020204" pitchFamily="34" charset="0"/>
              </a:rPr>
              <a:t>Tkinter</a:t>
            </a:r>
            <a:r>
              <a:rPr kumimoji="0" lang="en-US" altLang="en-US" sz="1000" b="0" i="0" u="none" strike="noStrike" cap="none" normalizeH="0" baseline="0" dirty="0">
                <a:ln>
                  <a:noFill/>
                </a:ln>
                <a:solidFill>
                  <a:schemeClr val="tx1"/>
                </a:solidFill>
                <a:effectLst/>
                <a:latin typeface="Arial" panose="020B0604020202020204" pitchFamily="34" charset="0"/>
              </a:rPr>
              <a:t> is the standard Python library for creating graphical user interfaces (GUIs). It's used to build the interactive interface of the expense tracker, allowing users to input expenses, view categories, and interact with buttons, labels, and tables.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1" i="0" u="none" strike="noStrike" cap="none" normalizeH="0" baseline="0" dirty="0">
                <a:ln>
                  <a:noFill/>
                </a:ln>
                <a:solidFill>
                  <a:schemeClr val="tx1"/>
                </a:solidFill>
                <a:effectLst/>
                <a:latin typeface="Arial Unicode MS"/>
              </a:rPr>
              <a:t>sqlite3</a:t>
            </a:r>
            <a:r>
              <a:rPr kumimoji="0" lang="en-US" altLang="en-US" sz="1000" b="0" i="0" u="none" strike="noStrike" cap="none" normalizeH="0" baseline="0" dirty="0">
                <a:ln>
                  <a:noFill/>
                </a:ln>
                <a:solidFill>
                  <a:schemeClr val="tx1"/>
                </a:solidFill>
                <a:effectLst/>
              </a:rPr>
              <a:t>:</a:t>
            </a:r>
            <a:endParaRPr kumimoji="0" lang="en-US" altLang="en-US" sz="1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lang="en-US" altLang="en-US" sz="1000" dirty="0">
                <a:latin typeface="Arial" panose="020B0604020202020204" pitchFamily="34" charset="0"/>
              </a:rPr>
              <a:t>  sqlite3 is a lightweight, built-in database management system in Python. It’s used to store, retrieve, and manage expense records, such as date, amount, and category.</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1" i="0" u="none" strike="noStrike" cap="none" normalizeH="0" baseline="0" dirty="0" err="1">
                <a:ln>
                  <a:noFill/>
                </a:ln>
                <a:solidFill>
                  <a:schemeClr val="tx1"/>
                </a:solidFill>
                <a:effectLst/>
                <a:latin typeface="Arial Unicode MS"/>
              </a:rPr>
              <a:t>tkcalendar.DateEntry</a:t>
            </a:r>
            <a:r>
              <a:rPr kumimoji="0" lang="en-US" altLang="en-US" sz="1000" b="0" i="0" u="none" strike="noStrike" cap="none" normalizeH="0" baseline="0" dirty="0">
                <a:ln>
                  <a:noFill/>
                </a:ln>
                <a:solidFill>
                  <a:schemeClr val="tx1"/>
                </a:solidFill>
                <a:effectLst/>
              </a:rPr>
              <a:t>:</a:t>
            </a:r>
            <a:endParaRPr kumimoji="0" lang="en-US" altLang="en-US" sz="1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lang="en-US" altLang="en-US" sz="1000" b="1" dirty="0">
                <a:latin typeface="Arial" panose="020B0604020202020204" pitchFamily="34" charset="0"/>
              </a:rPr>
              <a:t>   </a:t>
            </a:r>
            <a:r>
              <a:rPr kumimoji="0" lang="en-US" altLang="en-US" sz="1000" b="0" i="0" u="none" strike="noStrike" cap="none" normalizeH="0" baseline="0" dirty="0">
                <a:ln>
                  <a:noFill/>
                </a:ln>
                <a:solidFill>
                  <a:schemeClr val="tx1"/>
                </a:solidFill>
                <a:effectLst/>
                <a:latin typeface="Arial" panose="020B0604020202020204" pitchFamily="34" charset="0"/>
              </a:rPr>
              <a:t>This is an additional widget that extends </a:t>
            </a:r>
            <a:r>
              <a:rPr kumimoji="0" lang="en-US" altLang="en-US" sz="1000" b="0" i="0" u="none" strike="noStrike" cap="none" normalizeH="0" baseline="0" dirty="0" err="1">
                <a:ln>
                  <a:noFill/>
                </a:ln>
                <a:solidFill>
                  <a:schemeClr val="tx1"/>
                </a:solidFill>
                <a:effectLst/>
                <a:latin typeface="Arial" panose="020B0604020202020204" pitchFamily="34" charset="0"/>
              </a:rPr>
              <a:t>Tkinter’s</a:t>
            </a:r>
            <a:r>
              <a:rPr kumimoji="0" lang="en-US" altLang="en-US" sz="1000" b="0" i="0" u="none" strike="noStrike" cap="none" normalizeH="0" baseline="0" dirty="0">
                <a:ln>
                  <a:noFill/>
                </a:ln>
                <a:solidFill>
                  <a:schemeClr val="tx1"/>
                </a:solidFill>
                <a:effectLst/>
                <a:latin typeface="Arial" panose="020B0604020202020204" pitchFamily="34" charset="0"/>
              </a:rPr>
              <a:t> capabilities, allowing users to pick dates from a calendar rather than manually entering them. It's particularly useful for selecting dates when logging or filtering expenses.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1" i="0" u="none" strike="noStrike" cap="none" normalizeH="0" baseline="0" dirty="0">
                <a:ln>
                  <a:noFill/>
                </a:ln>
                <a:solidFill>
                  <a:schemeClr val="tx1"/>
                </a:solidFill>
                <a:effectLst/>
                <a:latin typeface="Arial Unicode MS"/>
              </a:rPr>
              <a:t>matplotlib</a:t>
            </a:r>
            <a:r>
              <a:rPr kumimoji="0" lang="en-US" altLang="en-US" sz="1000" b="0" i="0" u="none" strike="noStrike" cap="none" normalizeH="0" baseline="0" dirty="0">
                <a:ln>
                  <a:noFill/>
                </a:ln>
                <a:solidFill>
                  <a:schemeClr val="tx1"/>
                </a:solidFill>
                <a:effectLst/>
              </a:rPr>
              <a:t>:</a:t>
            </a:r>
            <a:endParaRPr kumimoji="0" lang="en-US" altLang="en-US" sz="1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lang="en-US" altLang="en-US" sz="1000" dirty="0">
                <a:latin typeface="Arial" panose="020B0604020202020204" pitchFamily="34" charset="0"/>
              </a:rPr>
              <a:t>  matplotlib is a popular Python library used for creating data visualizations, including charts and graphs. In this project, it is used to create pie charts to visually represent how expenses are distributed across different categories.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1" i="0" u="none" strike="noStrike" cap="none" normalizeH="0" baseline="0" dirty="0" err="1">
                <a:ln>
                  <a:noFill/>
                </a:ln>
                <a:solidFill>
                  <a:schemeClr val="tx1"/>
                </a:solidFill>
                <a:effectLst/>
                <a:latin typeface="Arial Unicode MS"/>
              </a:rPr>
              <a:t>FigureCanvasTkAgg</a:t>
            </a:r>
            <a:r>
              <a:rPr kumimoji="0" lang="en-US" altLang="en-US" sz="1000" b="0" i="0" u="none" strike="noStrike" cap="none" normalizeH="0" baseline="0" dirty="0">
                <a:ln>
                  <a:noFill/>
                </a:ln>
                <a:solidFill>
                  <a:schemeClr val="tx1"/>
                </a:solidFill>
                <a:effectLst/>
              </a:rPr>
              <a:t>:</a:t>
            </a:r>
            <a:endParaRPr kumimoji="0" lang="en-US" altLang="en-US" sz="1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000" b="1" i="0" u="none" strike="noStrike" cap="none" normalizeH="0" baseline="0" dirty="0">
                <a:ln>
                  <a:noFill/>
                </a:ln>
                <a:solidFill>
                  <a:schemeClr val="tx1"/>
                </a:solidFill>
                <a:effectLst/>
                <a:latin typeface="Arial" panose="020B0604020202020204" pitchFamily="34" charset="0"/>
              </a:rPr>
              <a:t>  </a:t>
            </a:r>
            <a:r>
              <a:rPr kumimoji="0" lang="en-US" altLang="en-US" sz="1000" b="0" i="0" u="none" strike="noStrike" cap="none" normalizeH="0" baseline="0" dirty="0">
                <a:ln>
                  <a:noFill/>
                </a:ln>
                <a:solidFill>
                  <a:schemeClr val="tx1"/>
                </a:solidFill>
                <a:effectLst/>
                <a:latin typeface="Arial" panose="020B0604020202020204" pitchFamily="34" charset="0"/>
              </a:rPr>
              <a:t>This is a bridge between Matplotlib and </a:t>
            </a:r>
            <a:r>
              <a:rPr kumimoji="0" lang="en-US" altLang="en-US" sz="1000" b="0" i="0" u="none" strike="noStrike" cap="none" normalizeH="0" baseline="0" dirty="0" err="1">
                <a:ln>
                  <a:noFill/>
                </a:ln>
                <a:solidFill>
                  <a:schemeClr val="tx1"/>
                </a:solidFill>
                <a:effectLst/>
                <a:latin typeface="Arial" panose="020B0604020202020204" pitchFamily="34" charset="0"/>
              </a:rPr>
              <a:t>Tkinter</a:t>
            </a:r>
            <a:r>
              <a:rPr kumimoji="0" lang="en-US" altLang="en-US" sz="1000" b="0" i="0" u="none" strike="noStrike" cap="none" normalizeH="0" baseline="0" dirty="0">
                <a:ln>
                  <a:noFill/>
                </a:ln>
                <a:solidFill>
                  <a:schemeClr val="tx1"/>
                </a:solidFill>
                <a:effectLst/>
                <a:latin typeface="Arial" panose="020B0604020202020204" pitchFamily="34" charset="0"/>
              </a:rPr>
              <a:t>, allowing charts created with Matplotlib to be embedded directly into the </a:t>
            </a:r>
            <a:r>
              <a:rPr kumimoji="0" lang="en-US" altLang="en-US" sz="1000" b="0" i="0" u="none" strike="noStrike" cap="none" normalizeH="0" baseline="0" dirty="0" err="1">
                <a:ln>
                  <a:noFill/>
                </a:ln>
                <a:solidFill>
                  <a:schemeClr val="tx1"/>
                </a:solidFill>
                <a:effectLst/>
                <a:latin typeface="Arial" panose="020B0604020202020204" pitchFamily="34" charset="0"/>
              </a:rPr>
              <a:t>Tkinter</a:t>
            </a:r>
            <a:r>
              <a:rPr kumimoji="0" lang="en-US" altLang="en-US" sz="1000" b="0" i="0" u="none" strike="noStrike" cap="none" normalizeH="0" baseline="0" dirty="0">
                <a:ln>
                  <a:noFill/>
                </a:ln>
                <a:solidFill>
                  <a:schemeClr val="tx1"/>
                </a:solidFill>
                <a:effectLst/>
                <a:latin typeface="Arial" panose="020B0604020202020204" pitchFamily="34" charset="0"/>
              </a:rPr>
              <a:t> window.</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0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16960929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304064-F861-794C-B50F-A43E40370391}"/>
            </a:ext>
          </a:extLst>
        </p:cNvPr>
        <p:cNvGrpSpPr/>
        <p:nvPr/>
      </p:nvGrpSpPr>
      <p:grpSpPr>
        <a:xfrm>
          <a:off x="0" y="0"/>
          <a:ext cx="0" cy="0"/>
          <a:chOff x="0" y="0"/>
          <a:chExt cx="0" cy="0"/>
        </a:xfrm>
      </p:grpSpPr>
      <p:sp>
        <p:nvSpPr>
          <p:cNvPr id="42" name="TextBox 41">
            <a:extLst>
              <a:ext uri="{FF2B5EF4-FFF2-40B4-BE49-F238E27FC236}">
                <a16:creationId xmlns:a16="http://schemas.microsoft.com/office/drawing/2014/main" id="{5CAD30D9-A200-E75D-07EC-430DC6947927}"/>
              </a:ext>
            </a:extLst>
          </p:cNvPr>
          <p:cNvSpPr txBox="1"/>
          <p:nvPr/>
        </p:nvSpPr>
        <p:spPr>
          <a:xfrm>
            <a:off x="-1939677" y="171062"/>
            <a:ext cx="11810369" cy="523220"/>
          </a:xfrm>
          <a:prstGeom prst="rect">
            <a:avLst/>
          </a:prstGeom>
          <a:noFill/>
        </p:spPr>
        <p:txBody>
          <a:bodyPr wrap="square" rtlCol="0">
            <a:spAutoFit/>
          </a:bodyPr>
          <a:lstStyle/>
          <a:p>
            <a:pPr algn="ctr"/>
            <a:r>
              <a:rPr lang="en-IN" sz="2800" b="1" dirty="0">
                <a:solidFill>
                  <a:schemeClr val="bg1"/>
                </a:solidFill>
                <a:latin typeface="Ubuntu" panose="020B0504030602030204" pitchFamily="34" charset="0"/>
                <a:ea typeface="Inter Black" panose="020B0A02050000000004" pitchFamily="34" charset="0"/>
              </a:rPr>
              <a:t>METHODOLOGY</a:t>
            </a:r>
          </a:p>
        </p:txBody>
      </p:sp>
      <p:sp>
        <p:nvSpPr>
          <p:cNvPr id="34" name="Oval 33">
            <a:extLst>
              <a:ext uri="{FF2B5EF4-FFF2-40B4-BE49-F238E27FC236}">
                <a16:creationId xmlns:a16="http://schemas.microsoft.com/office/drawing/2014/main" id="{3C02ED73-32C2-A24D-D2DA-27A1739879FC}"/>
              </a:ext>
            </a:extLst>
          </p:cNvPr>
          <p:cNvSpPr/>
          <p:nvPr/>
        </p:nvSpPr>
        <p:spPr>
          <a:xfrm>
            <a:off x="4723829" y="780006"/>
            <a:ext cx="1772000" cy="1581654"/>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Approach</a:t>
            </a:r>
          </a:p>
        </p:txBody>
      </p:sp>
      <p:sp>
        <p:nvSpPr>
          <p:cNvPr id="37" name="Oval 36">
            <a:extLst>
              <a:ext uri="{FF2B5EF4-FFF2-40B4-BE49-F238E27FC236}">
                <a16:creationId xmlns:a16="http://schemas.microsoft.com/office/drawing/2014/main" id="{43AA653B-19AD-77F5-39B9-EF5A1A56022A}"/>
              </a:ext>
            </a:extLst>
          </p:cNvPr>
          <p:cNvSpPr/>
          <p:nvPr/>
        </p:nvSpPr>
        <p:spPr>
          <a:xfrm>
            <a:off x="2296284" y="1659419"/>
            <a:ext cx="1772000" cy="1581654"/>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Tools</a:t>
            </a:r>
          </a:p>
        </p:txBody>
      </p:sp>
      <p:sp>
        <p:nvSpPr>
          <p:cNvPr id="38" name="Oval 37">
            <a:extLst>
              <a:ext uri="{FF2B5EF4-FFF2-40B4-BE49-F238E27FC236}">
                <a16:creationId xmlns:a16="http://schemas.microsoft.com/office/drawing/2014/main" id="{270885A0-5CD4-5F52-F987-0DC22576239C}"/>
              </a:ext>
            </a:extLst>
          </p:cNvPr>
          <p:cNvSpPr/>
          <p:nvPr/>
        </p:nvSpPr>
        <p:spPr>
          <a:xfrm>
            <a:off x="4723829" y="4997038"/>
            <a:ext cx="1772000" cy="1581654"/>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Technology</a:t>
            </a:r>
          </a:p>
        </p:txBody>
      </p:sp>
      <p:sp>
        <p:nvSpPr>
          <p:cNvPr id="39" name="Oval 38">
            <a:extLst>
              <a:ext uri="{FF2B5EF4-FFF2-40B4-BE49-F238E27FC236}">
                <a16:creationId xmlns:a16="http://schemas.microsoft.com/office/drawing/2014/main" id="{A7F1FCA8-9854-5558-CA11-9650AAA9CEB6}"/>
              </a:ext>
            </a:extLst>
          </p:cNvPr>
          <p:cNvSpPr/>
          <p:nvPr/>
        </p:nvSpPr>
        <p:spPr>
          <a:xfrm>
            <a:off x="6171017" y="2638173"/>
            <a:ext cx="1772000" cy="1581654"/>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Techniques</a:t>
            </a:r>
          </a:p>
        </p:txBody>
      </p:sp>
      <p:sp>
        <p:nvSpPr>
          <p:cNvPr id="40" name="Rectangle 39">
            <a:extLst>
              <a:ext uri="{FF2B5EF4-FFF2-40B4-BE49-F238E27FC236}">
                <a16:creationId xmlns:a16="http://schemas.microsoft.com/office/drawing/2014/main" id="{2FF2E738-F59D-640C-29E2-EAADC1C0F785}"/>
              </a:ext>
            </a:extLst>
          </p:cNvPr>
          <p:cNvSpPr/>
          <p:nvPr/>
        </p:nvSpPr>
        <p:spPr>
          <a:xfrm>
            <a:off x="8304245" y="1"/>
            <a:ext cx="3887755" cy="68580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tx1"/>
              </a:solidFill>
            </a:endParaRPr>
          </a:p>
        </p:txBody>
      </p:sp>
      <p:sp>
        <p:nvSpPr>
          <p:cNvPr id="2" name="Rectangle 1">
            <a:extLst>
              <a:ext uri="{FF2B5EF4-FFF2-40B4-BE49-F238E27FC236}">
                <a16:creationId xmlns:a16="http://schemas.microsoft.com/office/drawing/2014/main" id="{99D4C007-8425-09D4-1634-BA3FC9AC9EA7}"/>
              </a:ext>
            </a:extLst>
          </p:cNvPr>
          <p:cNvSpPr>
            <a:spLocks noChangeArrowheads="1"/>
          </p:cNvSpPr>
          <p:nvPr/>
        </p:nvSpPr>
        <p:spPr bwMode="auto">
          <a:xfrm>
            <a:off x="8530989" y="728260"/>
            <a:ext cx="3434266" cy="54014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1" i="0" u="none" strike="noStrike" cap="none" normalizeH="0" baseline="0" dirty="0">
                <a:ln>
                  <a:noFill/>
                </a:ln>
                <a:solidFill>
                  <a:schemeClr val="tx1"/>
                </a:solidFill>
                <a:effectLst/>
                <a:latin typeface="Arial" panose="020B0604020202020204" pitchFamily="34" charset="0"/>
              </a:rPr>
              <a:t>GUI Design with </a:t>
            </a:r>
            <a:r>
              <a:rPr kumimoji="0" lang="en-US" altLang="en-US" sz="1200" b="1" i="0" u="none" strike="noStrike" cap="none" normalizeH="0" baseline="0" dirty="0" err="1">
                <a:ln>
                  <a:noFill/>
                </a:ln>
                <a:solidFill>
                  <a:schemeClr val="tx1"/>
                </a:solidFill>
                <a:effectLst/>
                <a:latin typeface="Arial" panose="020B0604020202020204" pitchFamily="34" charset="0"/>
              </a:rPr>
              <a:t>Tkinter</a:t>
            </a:r>
            <a:r>
              <a:rPr kumimoji="0" lang="en-US" altLang="en-US" sz="1200" b="1" i="0" u="none" strike="noStrike" cap="none" normalizeH="0" baseline="0" dirty="0">
                <a:ln>
                  <a:noFill/>
                </a:ln>
                <a:solidFill>
                  <a:schemeClr val="tx1"/>
                </a:solidFill>
                <a:effectLst/>
                <a:latin typeface="Arial" panose="020B0604020202020204" pitchFamily="34" charset="0"/>
              </a:rPr>
              <a:t>:</a:t>
            </a:r>
            <a:endParaRPr kumimoji="0" lang="en-US" altLang="en-US" sz="11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100" b="1" i="0" u="none" strike="noStrike" cap="none" normalizeH="0" baseline="0" dirty="0">
                <a:ln>
                  <a:noFill/>
                </a:ln>
                <a:solidFill>
                  <a:schemeClr val="tx1"/>
                </a:solidFill>
                <a:effectLst/>
                <a:latin typeface="Arial" panose="020B0604020202020204" pitchFamily="34" charset="0"/>
              </a:rPr>
              <a:t>    </a:t>
            </a:r>
            <a:r>
              <a:rPr kumimoji="0" lang="en-US" altLang="en-US" sz="1200" b="1" i="0" u="none" strike="noStrike" cap="none" normalizeH="0" baseline="0" dirty="0">
                <a:ln>
                  <a:noFill/>
                </a:ln>
                <a:solidFill>
                  <a:schemeClr val="tx1"/>
                </a:solidFill>
                <a:effectLst/>
                <a:latin typeface="Arial" panose="020B0604020202020204" pitchFamily="34" charset="0"/>
              </a:rPr>
              <a:t>Purpose</a:t>
            </a:r>
            <a:r>
              <a:rPr kumimoji="0" lang="en-US" altLang="en-US" sz="1200" b="0" i="0" u="none" strike="noStrike" cap="none" normalizeH="0" baseline="0" dirty="0">
                <a:ln>
                  <a:noFill/>
                </a:ln>
                <a:solidFill>
                  <a:schemeClr val="tx1"/>
                </a:solidFill>
                <a:effectLst/>
                <a:latin typeface="Arial" panose="020B0604020202020204" pitchFamily="34" charset="0"/>
              </a:rPr>
              <a:t>: Provides an intuitive and interactive way for users to manage their daily expenses.</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1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1" i="0" u="none" strike="noStrike" cap="none" normalizeH="0" baseline="0" dirty="0">
                <a:ln>
                  <a:noFill/>
                </a:ln>
                <a:solidFill>
                  <a:schemeClr val="tx1"/>
                </a:solidFill>
                <a:effectLst/>
                <a:latin typeface="Arial" panose="020B0604020202020204" pitchFamily="34" charset="0"/>
              </a:rPr>
              <a:t>Database Management with SQLite:</a:t>
            </a:r>
            <a:endParaRPr kumimoji="0" lang="en-US" altLang="en-US" sz="12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200" b="1" i="0" u="none" strike="noStrike" cap="none" normalizeH="0" baseline="0" dirty="0">
                <a:ln>
                  <a:noFill/>
                </a:ln>
                <a:solidFill>
                  <a:schemeClr val="tx1"/>
                </a:solidFill>
                <a:effectLst/>
                <a:latin typeface="Arial" panose="020B0604020202020204" pitchFamily="34" charset="0"/>
              </a:rPr>
              <a:t>   Purpose</a:t>
            </a:r>
            <a:r>
              <a:rPr kumimoji="0" lang="en-US" altLang="en-US" sz="1200" b="0" i="0" u="none" strike="noStrike" cap="none" normalizeH="0" baseline="0" dirty="0">
                <a:ln>
                  <a:noFill/>
                </a:ln>
                <a:solidFill>
                  <a:schemeClr val="tx1"/>
                </a:solidFill>
                <a:effectLst/>
                <a:latin typeface="Arial" panose="020B0604020202020204" pitchFamily="34" charset="0"/>
              </a:rPr>
              <a:t>: Ensures efficient and persistent data storage, allowing the tracker to maintain expense history even after closing the app.</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1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1" i="0" u="none" strike="noStrike" cap="none" normalizeH="0" baseline="0" dirty="0">
                <a:ln>
                  <a:noFill/>
                </a:ln>
                <a:solidFill>
                  <a:schemeClr val="tx1"/>
                </a:solidFill>
                <a:effectLst/>
                <a:latin typeface="Arial" panose="020B0604020202020204" pitchFamily="34" charset="0"/>
              </a:rPr>
              <a:t>Data Visualization with Matplotlib:</a:t>
            </a:r>
            <a:endParaRPr kumimoji="0" lang="en-US" altLang="en-US" sz="12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200" b="1" i="0" u="none" strike="noStrike" cap="none" normalizeH="0" baseline="0" dirty="0">
                <a:ln>
                  <a:noFill/>
                </a:ln>
                <a:solidFill>
                  <a:schemeClr val="tx1"/>
                </a:solidFill>
                <a:effectLst/>
                <a:latin typeface="Arial" panose="020B0604020202020204" pitchFamily="34" charset="0"/>
              </a:rPr>
              <a:t>    Purpose</a:t>
            </a:r>
            <a:r>
              <a:rPr kumimoji="0" lang="en-US" altLang="en-US" sz="1200" b="0" i="0" u="none" strike="noStrike" cap="none" normalizeH="0" baseline="0" dirty="0">
                <a:ln>
                  <a:noFill/>
                </a:ln>
                <a:solidFill>
                  <a:schemeClr val="tx1"/>
                </a:solidFill>
                <a:effectLst/>
                <a:latin typeface="Arial" panose="020B0604020202020204" pitchFamily="34" charset="0"/>
              </a:rPr>
              <a:t>: Helps users understand their spending patterns at a glance through graphical representations.</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2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1" i="0" u="none" strike="noStrike" cap="none" normalizeH="0" baseline="0" dirty="0">
                <a:ln>
                  <a:noFill/>
                </a:ln>
                <a:solidFill>
                  <a:schemeClr val="tx1"/>
                </a:solidFill>
                <a:effectLst/>
                <a:latin typeface="Arial" panose="020B0604020202020204" pitchFamily="34" charset="0"/>
              </a:rPr>
              <a:t>Dynamic Budget Tracking:</a:t>
            </a:r>
            <a:endParaRPr kumimoji="0" lang="en-US" altLang="en-US" sz="12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200" b="1" i="0" u="none" strike="noStrike" cap="none" normalizeH="0" baseline="0" dirty="0">
                <a:ln>
                  <a:noFill/>
                </a:ln>
                <a:solidFill>
                  <a:schemeClr val="tx1"/>
                </a:solidFill>
                <a:effectLst/>
                <a:latin typeface="Arial" panose="020B0604020202020204" pitchFamily="34" charset="0"/>
              </a:rPr>
              <a:t>    Purpose</a:t>
            </a:r>
            <a:r>
              <a:rPr kumimoji="0" lang="en-US" altLang="en-US" sz="1200" b="0" i="0" u="none" strike="noStrike" cap="none" normalizeH="0" baseline="0" dirty="0">
                <a:ln>
                  <a:noFill/>
                </a:ln>
                <a:solidFill>
                  <a:schemeClr val="tx1"/>
                </a:solidFill>
                <a:effectLst/>
                <a:latin typeface="Arial" panose="020B0604020202020204" pitchFamily="34" charset="0"/>
              </a:rPr>
              <a:t>: Alerts users when their expenses approach or exceed their set budget, promoting better financial management.</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2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1" i="0" u="none" strike="noStrike" cap="none" normalizeH="0" baseline="0" dirty="0">
                <a:ln>
                  <a:noFill/>
                </a:ln>
                <a:solidFill>
                  <a:schemeClr val="tx1"/>
                </a:solidFill>
                <a:effectLst/>
                <a:latin typeface="Arial" panose="020B0604020202020204" pitchFamily="34" charset="0"/>
              </a:rPr>
              <a:t>Real-Time Date Selection with </a:t>
            </a:r>
            <a:r>
              <a:rPr kumimoji="0" lang="en-US" altLang="en-US" sz="1200" b="1" i="0" u="none" strike="noStrike" cap="none" normalizeH="0" baseline="0" dirty="0" err="1">
                <a:ln>
                  <a:noFill/>
                </a:ln>
                <a:solidFill>
                  <a:schemeClr val="tx1"/>
                </a:solidFill>
                <a:effectLst/>
                <a:latin typeface="Arial" panose="020B0604020202020204" pitchFamily="34" charset="0"/>
              </a:rPr>
              <a:t>tkcalendar</a:t>
            </a:r>
            <a:r>
              <a:rPr kumimoji="0" lang="en-US" altLang="en-US" sz="1200" b="1" i="0" u="none" strike="noStrike" cap="none" normalizeH="0" baseline="0" dirty="0">
                <a:ln>
                  <a:noFill/>
                </a:ln>
                <a:solidFill>
                  <a:schemeClr val="tx1"/>
                </a:solidFill>
                <a:effectLst/>
                <a:latin typeface="Arial" panose="020B0604020202020204" pitchFamily="34" charset="0"/>
              </a:rPr>
              <a:t>:</a:t>
            </a:r>
            <a:endParaRPr kumimoji="0" lang="en-US" altLang="en-US" sz="12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200" b="1" i="0" u="none" strike="noStrike" cap="none" normalizeH="0" baseline="0" dirty="0">
                <a:ln>
                  <a:noFill/>
                </a:ln>
                <a:solidFill>
                  <a:schemeClr val="tx1"/>
                </a:solidFill>
                <a:effectLst/>
                <a:latin typeface="Arial" panose="020B0604020202020204" pitchFamily="34" charset="0"/>
              </a:rPr>
              <a:t>    Purpose</a:t>
            </a:r>
            <a:r>
              <a:rPr kumimoji="0" lang="en-US" altLang="en-US" sz="1200" b="0" i="0" u="none" strike="noStrike" cap="none" normalizeH="0" baseline="0" dirty="0">
                <a:ln>
                  <a:noFill/>
                </a:ln>
                <a:solidFill>
                  <a:schemeClr val="tx1"/>
                </a:solidFill>
                <a:effectLst/>
                <a:latin typeface="Arial" panose="020B0604020202020204" pitchFamily="34" charset="0"/>
              </a:rPr>
              <a:t>: Enhances user experience by simplifying date input, especially when entering or filtering expenses by date.</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2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1" i="0" u="none" strike="noStrike" cap="none" normalizeH="0" baseline="0" dirty="0">
                <a:ln>
                  <a:noFill/>
                </a:ln>
                <a:solidFill>
                  <a:schemeClr val="tx1"/>
                </a:solidFill>
                <a:effectLst/>
                <a:latin typeface="Arial" panose="020B0604020202020204" pitchFamily="34" charset="0"/>
              </a:rPr>
              <a:t>Embedding Charts in the GUI:</a:t>
            </a:r>
          </a:p>
          <a:p>
            <a:pPr marL="0" marR="0" lvl="0" indent="0" algn="l" defTabSz="914400" rtl="0" eaLnBrk="0" fontAlgn="base" latinLnBrk="0" hangingPunct="0">
              <a:lnSpc>
                <a:spcPct val="100000"/>
              </a:lnSpc>
              <a:spcBef>
                <a:spcPct val="0"/>
              </a:spcBef>
              <a:spcAft>
                <a:spcPct val="0"/>
              </a:spcAft>
              <a:buClrTx/>
              <a:buSzTx/>
              <a:tabLst/>
            </a:pPr>
            <a:r>
              <a:rPr lang="en-US" altLang="en-US" sz="1200" b="1" dirty="0">
                <a:latin typeface="Arial" panose="020B0604020202020204" pitchFamily="34" charset="0"/>
              </a:rPr>
              <a:t>    </a:t>
            </a:r>
            <a:r>
              <a:rPr kumimoji="0" lang="en-US" altLang="en-US" sz="1200" b="1" i="0" u="none" strike="noStrike" cap="none" normalizeH="0" baseline="0" dirty="0">
                <a:ln>
                  <a:noFill/>
                </a:ln>
                <a:solidFill>
                  <a:schemeClr val="tx1"/>
                </a:solidFill>
                <a:effectLst/>
                <a:latin typeface="Arial" panose="020B0604020202020204" pitchFamily="34" charset="0"/>
              </a:rPr>
              <a:t>Purpose</a:t>
            </a:r>
            <a:r>
              <a:rPr kumimoji="0" lang="en-US" altLang="en-US" sz="1200" b="0" i="0" u="none" strike="noStrike" cap="none" normalizeH="0" baseline="0" dirty="0">
                <a:ln>
                  <a:noFill/>
                </a:ln>
                <a:solidFill>
                  <a:schemeClr val="tx1"/>
                </a:solidFill>
                <a:effectLst/>
                <a:latin typeface="Arial" panose="020B0604020202020204" pitchFamily="34" charset="0"/>
              </a:rPr>
              <a:t>: Provides seamless integration of visual data representation into the application, keeping everything within a single window.</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1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72195433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57FAED-9E3F-BF41-DB86-BD2824B749BC}"/>
            </a:ext>
          </a:extLst>
        </p:cNvPr>
        <p:cNvGrpSpPr/>
        <p:nvPr/>
      </p:nvGrpSpPr>
      <p:grpSpPr>
        <a:xfrm>
          <a:off x="0" y="0"/>
          <a:ext cx="0" cy="0"/>
          <a:chOff x="0" y="0"/>
          <a:chExt cx="0" cy="0"/>
        </a:xfrm>
      </p:grpSpPr>
      <p:sp>
        <p:nvSpPr>
          <p:cNvPr id="42" name="TextBox 41">
            <a:extLst>
              <a:ext uri="{FF2B5EF4-FFF2-40B4-BE49-F238E27FC236}">
                <a16:creationId xmlns:a16="http://schemas.microsoft.com/office/drawing/2014/main" id="{798FED29-9CED-74D2-DD58-7032ABCE4645}"/>
              </a:ext>
            </a:extLst>
          </p:cNvPr>
          <p:cNvSpPr txBox="1"/>
          <p:nvPr/>
        </p:nvSpPr>
        <p:spPr>
          <a:xfrm>
            <a:off x="-1939677" y="171062"/>
            <a:ext cx="11810369" cy="523220"/>
          </a:xfrm>
          <a:prstGeom prst="rect">
            <a:avLst/>
          </a:prstGeom>
          <a:noFill/>
        </p:spPr>
        <p:txBody>
          <a:bodyPr wrap="square" rtlCol="0">
            <a:spAutoFit/>
          </a:bodyPr>
          <a:lstStyle/>
          <a:p>
            <a:pPr algn="ctr"/>
            <a:r>
              <a:rPr lang="en-IN" sz="2800" b="1" dirty="0">
                <a:solidFill>
                  <a:schemeClr val="bg1"/>
                </a:solidFill>
                <a:latin typeface="Ubuntu" panose="020B0504030602030204" pitchFamily="34" charset="0"/>
                <a:ea typeface="Inter Black" panose="020B0A02050000000004" pitchFamily="34" charset="0"/>
              </a:rPr>
              <a:t>METHODOLOGY</a:t>
            </a:r>
          </a:p>
        </p:txBody>
      </p:sp>
      <p:sp>
        <p:nvSpPr>
          <p:cNvPr id="34" name="Oval 33">
            <a:extLst>
              <a:ext uri="{FF2B5EF4-FFF2-40B4-BE49-F238E27FC236}">
                <a16:creationId xmlns:a16="http://schemas.microsoft.com/office/drawing/2014/main" id="{887F0DA1-3041-8872-89A5-73DB8208C533}"/>
              </a:ext>
            </a:extLst>
          </p:cNvPr>
          <p:cNvSpPr/>
          <p:nvPr/>
        </p:nvSpPr>
        <p:spPr>
          <a:xfrm>
            <a:off x="4723829" y="780006"/>
            <a:ext cx="1772000" cy="1581654"/>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Approach</a:t>
            </a:r>
          </a:p>
        </p:txBody>
      </p:sp>
      <p:sp>
        <p:nvSpPr>
          <p:cNvPr id="37" name="Oval 36">
            <a:extLst>
              <a:ext uri="{FF2B5EF4-FFF2-40B4-BE49-F238E27FC236}">
                <a16:creationId xmlns:a16="http://schemas.microsoft.com/office/drawing/2014/main" id="{429D8B4E-8D49-C04E-BAC2-01A05A149095}"/>
              </a:ext>
            </a:extLst>
          </p:cNvPr>
          <p:cNvSpPr/>
          <p:nvPr/>
        </p:nvSpPr>
        <p:spPr>
          <a:xfrm>
            <a:off x="2296284" y="1659419"/>
            <a:ext cx="1772000" cy="1581654"/>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Tools</a:t>
            </a:r>
          </a:p>
        </p:txBody>
      </p:sp>
      <p:sp>
        <p:nvSpPr>
          <p:cNvPr id="38" name="Oval 37">
            <a:extLst>
              <a:ext uri="{FF2B5EF4-FFF2-40B4-BE49-F238E27FC236}">
                <a16:creationId xmlns:a16="http://schemas.microsoft.com/office/drawing/2014/main" id="{79131F51-1D5E-BC63-B308-63BD45A24E4E}"/>
              </a:ext>
            </a:extLst>
          </p:cNvPr>
          <p:cNvSpPr/>
          <p:nvPr/>
        </p:nvSpPr>
        <p:spPr>
          <a:xfrm>
            <a:off x="6119415" y="2638172"/>
            <a:ext cx="1772000" cy="1581654"/>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Technology</a:t>
            </a:r>
          </a:p>
        </p:txBody>
      </p:sp>
      <p:sp>
        <p:nvSpPr>
          <p:cNvPr id="39" name="Oval 38">
            <a:extLst>
              <a:ext uri="{FF2B5EF4-FFF2-40B4-BE49-F238E27FC236}">
                <a16:creationId xmlns:a16="http://schemas.microsoft.com/office/drawing/2014/main" id="{3FA7D2F8-9865-9C2F-9A0A-116FA4621ED7}"/>
              </a:ext>
            </a:extLst>
          </p:cNvPr>
          <p:cNvSpPr/>
          <p:nvPr/>
        </p:nvSpPr>
        <p:spPr>
          <a:xfrm>
            <a:off x="2296284" y="3962148"/>
            <a:ext cx="1772000" cy="1581654"/>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Techniques</a:t>
            </a:r>
          </a:p>
        </p:txBody>
      </p:sp>
      <p:sp>
        <p:nvSpPr>
          <p:cNvPr id="40" name="Rectangle 39">
            <a:extLst>
              <a:ext uri="{FF2B5EF4-FFF2-40B4-BE49-F238E27FC236}">
                <a16:creationId xmlns:a16="http://schemas.microsoft.com/office/drawing/2014/main" id="{D0351A61-8F9E-4AA0-4F2F-BC54E4EAC935}"/>
              </a:ext>
            </a:extLst>
          </p:cNvPr>
          <p:cNvSpPr/>
          <p:nvPr/>
        </p:nvSpPr>
        <p:spPr>
          <a:xfrm>
            <a:off x="8304245" y="1"/>
            <a:ext cx="3887755" cy="68580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tx1"/>
              </a:solidFill>
            </a:endParaRPr>
          </a:p>
        </p:txBody>
      </p:sp>
      <p:sp>
        <p:nvSpPr>
          <p:cNvPr id="3" name="Rectangle 1">
            <a:extLst>
              <a:ext uri="{FF2B5EF4-FFF2-40B4-BE49-F238E27FC236}">
                <a16:creationId xmlns:a16="http://schemas.microsoft.com/office/drawing/2014/main" id="{51DBEC70-B71D-C734-A872-CD195FF8E157}"/>
              </a:ext>
            </a:extLst>
          </p:cNvPr>
          <p:cNvSpPr>
            <a:spLocks noChangeArrowheads="1"/>
          </p:cNvSpPr>
          <p:nvPr/>
        </p:nvSpPr>
        <p:spPr bwMode="auto">
          <a:xfrm>
            <a:off x="8413534" y="331564"/>
            <a:ext cx="3669175" cy="52168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900" b="1" i="0" u="none" strike="noStrike" cap="none" normalizeH="0" baseline="0" dirty="0">
                <a:ln>
                  <a:noFill/>
                </a:ln>
                <a:solidFill>
                  <a:schemeClr val="tx1"/>
                </a:solidFill>
                <a:effectLst/>
                <a:latin typeface="Arial" panose="020B0604020202020204" pitchFamily="34" charset="0"/>
              </a:rPr>
              <a:t>Python</a:t>
            </a:r>
            <a:r>
              <a:rPr kumimoji="0" lang="en-US" altLang="en-US" sz="9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tabLst/>
            </a:pPr>
            <a:r>
              <a:rPr kumimoji="0" lang="en-US" altLang="en-US" sz="900" b="1" i="0" u="none" strike="noStrike" cap="none" normalizeH="0" baseline="0" dirty="0">
                <a:ln>
                  <a:noFill/>
                </a:ln>
                <a:solidFill>
                  <a:schemeClr val="tx1"/>
                </a:solidFill>
                <a:effectLst/>
                <a:latin typeface="Arial" panose="020B0604020202020204" pitchFamily="34" charset="0"/>
              </a:rPr>
              <a:t>      Core Language</a:t>
            </a:r>
            <a:r>
              <a:rPr kumimoji="0" lang="en-US" altLang="en-US" sz="900" b="0" i="0" u="none" strike="noStrike" cap="none" normalizeH="0" baseline="0" dirty="0">
                <a:ln>
                  <a:noFill/>
                </a:ln>
                <a:solidFill>
                  <a:schemeClr val="tx1"/>
                </a:solidFill>
                <a:effectLst/>
                <a:latin typeface="Arial" panose="020B0604020202020204" pitchFamily="34" charset="0"/>
              </a:rPr>
              <a:t>: Python serves as the primary programming language for developing the entire application, including the interface, database interactions, and visualizations. It offers simplicity and versatility, making it well-suited for this project.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9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900" b="1" i="0" u="none" strike="noStrike" cap="none" normalizeH="0" baseline="0" dirty="0" err="1">
                <a:ln>
                  <a:noFill/>
                </a:ln>
                <a:solidFill>
                  <a:schemeClr val="tx1"/>
                </a:solidFill>
                <a:effectLst/>
                <a:latin typeface="Arial" panose="020B0604020202020204" pitchFamily="34" charset="0"/>
              </a:rPr>
              <a:t>Tkinter</a:t>
            </a:r>
            <a:r>
              <a:rPr kumimoji="0" lang="en-US" altLang="en-US" sz="9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tabLst/>
            </a:pPr>
            <a:r>
              <a:rPr kumimoji="0" lang="en-US" altLang="en-US" sz="900" b="1" i="0" u="none" strike="noStrike" cap="none" normalizeH="0" baseline="0" dirty="0">
                <a:ln>
                  <a:noFill/>
                </a:ln>
                <a:solidFill>
                  <a:schemeClr val="tx1"/>
                </a:solidFill>
                <a:effectLst/>
                <a:latin typeface="Arial" panose="020B0604020202020204" pitchFamily="34" charset="0"/>
              </a:rPr>
              <a:t>     GUI Framework</a:t>
            </a:r>
            <a:r>
              <a:rPr kumimoji="0" lang="en-US" altLang="en-US" sz="900" b="0" i="0" u="none" strike="noStrike" cap="none" normalizeH="0" baseline="0" dirty="0">
                <a:ln>
                  <a:noFill/>
                </a:ln>
                <a:solidFill>
                  <a:schemeClr val="tx1"/>
                </a:solidFill>
                <a:effectLst/>
                <a:latin typeface="Arial" panose="020B0604020202020204" pitchFamily="34" charset="0"/>
              </a:rPr>
              <a:t>: </a:t>
            </a:r>
            <a:r>
              <a:rPr kumimoji="0" lang="en-US" altLang="en-US" sz="900" b="0" i="0" u="none" strike="noStrike" cap="none" normalizeH="0" baseline="0" dirty="0" err="1">
                <a:ln>
                  <a:noFill/>
                </a:ln>
                <a:solidFill>
                  <a:schemeClr val="tx1"/>
                </a:solidFill>
                <a:effectLst/>
                <a:latin typeface="Arial" panose="020B0604020202020204" pitchFamily="34" charset="0"/>
              </a:rPr>
              <a:t>Tkinter</a:t>
            </a:r>
            <a:r>
              <a:rPr kumimoji="0" lang="en-US" altLang="en-US" sz="900" b="0" i="0" u="none" strike="noStrike" cap="none" normalizeH="0" baseline="0" dirty="0">
                <a:ln>
                  <a:noFill/>
                </a:ln>
                <a:solidFill>
                  <a:schemeClr val="tx1"/>
                </a:solidFill>
                <a:effectLst/>
                <a:latin typeface="Arial" panose="020B0604020202020204" pitchFamily="34" charset="0"/>
              </a:rPr>
              <a:t> is used to create the graphical user interface (GUI) of the application, allowing users to interact with the expense tracker through buttons, forms, and visual elements.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9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900" b="1" i="0" u="none" strike="noStrike" cap="none" normalizeH="0" baseline="0" dirty="0">
                <a:ln>
                  <a:noFill/>
                </a:ln>
                <a:solidFill>
                  <a:schemeClr val="tx1"/>
                </a:solidFill>
                <a:effectLst/>
                <a:latin typeface="Arial" panose="020B0604020202020204" pitchFamily="34" charset="0"/>
              </a:rPr>
              <a:t>SQLite</a:t>
            </a:r>
            <a:r>
              <a:rPr kumimoji="0" lang="en-US" altLang="en-US" sz="9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tabLst/>
            </a:pPr>
            <a:r>
              <a:rPr kumimoji="0" lang="en-US" altLang="en-US" sz="900" b="1" i="0" u="none" strike="noStrike" cap="none" normalizeH="0" baseline="0" dirty="0">
                <a:ln>
                  <a:noFill/>
                </a:ln>
                <a:solidFill>
                  <a:schemeClr val="tx1"/>
                </a:solidFill>
                <a:effectLst/>
                <a:latin typeface="Arial" panose="020B0604020202020204" pitchFamily="34" charset="0"/>
              </a:rPr>
              <a:t>     Database Management</a:t>
            </a:r>
            <a:r>
              <a:rPr kumimoji="0" lang="en-US" altLang="en-US" sz="900" b="0" i="0" u="none" strike="noStrike" cap="none" normalizeH="0" baseline="0" dirty="0">
                <a:ln>
                  <a:noFill/>
                </a:ln>
                <a:solidFill>
                  <a:schemeClr val="tx1"/>
                </a:solidFill>
                <a:effectLst/>
                <a:latin typeface="Arial" panose="020B0604020202020204" pitchFamily="34" charset="0"/>
              </a:rPr>
              <a:t>: SQLite is used for local database storage, allowing the application to store and retrieve expense data such as dates, amounts, and categories in a structured format.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9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900" b="1" i="0" u="none" strike="noStrike" cap="none" normalizeH="0" baseline="0" dirty="0">
                <a:ln>
                  <a:noFill/>
                </a:ln>
                <a:solidFill>
                  <a:schemeClr val="tx1"/>
                </a:solidFill>
                <a:effectLst/>
                <a:latin typeface="Arial" panose="020B0604020202020204" pitchFamily="34" charset="0"/>
              </a:rPr>
              <a:t>Matplotlib</a:t>
            </a:r>
            <a:r>
              <a:rPr kumimoji="0" lang="en-US" altLang="en-US" sz="9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tabLst/>
            </a:pPr>
            <a:r>
              <a:rPr kumimoji="0" lang="en-US" altLang="en-US" sz="900" b="1" i="0" u="none" strike="noStrike" cap="none" normalizeH="0" baseline="0" dirty="0">
                <a:ln>
                  <a:noFill/>
                </a:ln>
                <a:solidFill>
                  <a:schemeClr val="tx1"/>
                </a:solidFill>
                <a:effectLst/>
                <a:latin typeface="Arial" panose="020B0604020202020204" pitchFamily="34" charset="0"/>
              </a:rPr>
              <a:t>     Data Visualization Library</a:t>
            </a:r>
            <a:r>
              <a:rPr kumimoji="0" lang="en-US" altLang="en-US" sz="900" b="0" i="0" u="none" strike="noStrike" cap="none" normalizeH="0" baseline="0" dirty="0">
                <a:ln>
                  <a:noFill/>
                </a:ln>
                <a:solidFill>
                  <a:schemeClr val="tx1"/>
                </a:solidFill>
                <a:effectLst/>
                <a:latin typeface="Arial" panose="020B0604020202020204" pitchFamily="34" charset="0"/>
              </a:rPr>
              <a:t>: Matplotlib is employed to generate visualizations, such as pie charts, to display the breakdown of expenses. This makes it easier for users to understand their spending habits.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9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900" b="1" i="0" u="none" strike="noStrike" cap="none" normalizeH="0" baseline="0" dirty="0" err="1">
                <a:ln>
                  <a:noFill/>
                </a:ln>
                <a:solidFill>
                  <a:schemeClr val="tx1"/>
                </a:solidFill>
                <a:effectLst/>
                <a:latin typeface="Arial" panose="020B0604020202020204" pitchFamily="34" charset="0"/>
              </a:rPr>
              <a:t>tkcalendar</a:t>
            </a:r>
            <a:r>
              <a:rPr kumimoji="0" lang="en-US" altLang="en-US" sz="9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tabLst/>
            </a:pPr>
            <a:r>
              <a:rPr kumimoji="0" lang="en-US" altLang="en-US" sz="900" b="1" i="0" u="none" strike="noStrike" cap="none" normalizeH="0" baseline="0" dirty="0">
                <a:ln>
                  <a:noFill/>
                </a:ln>
                <a:solidFill>
                  <a:schemeClr val="tx1"/>
                </a:solidFill>
                <a:effectLst/>
                <a:latin typeface="Arial" panose="020B0604020202020204" pitchFamily="34" charset="0"/>
              </a:rPr>
              <a:t>     Date Widget Library</a:t>
            </a:r>
            <a:r>
              <a:rPr kumimoji="0" lang="en-US" altLang="en-US" sz="900" b="0" i="0" u="none" strike="noStrike" cap="none" normalizeH="0" baseline="0" dirty="0">
                <a:ln>
                  <a:noFill/>
                </a:ln>
                <a:solidFill>
                  <a:schemeClr val="tx1"/>
                </a:solidFill>
                <a:effectLst/>
                <a:latin typeface="Arial" panose="020B0604020202020204" pitchFamily="34" charset="0"/>
              </a:rPr>
              <a:t>: The </a:t>
            </a:r>
            <a:r>
              <a:rPr lang="en-US" altLang="en-US" sz="900" dirty="0" err="1">
                <a:latin typeface="Arial" panose="020B0604020202020204" pitchFamily="34" charset="0"/>
              </a:rPr>
              <a:t>DateEntry</a:t>
            </a:r>
            <a:r>
              <a:rPr lang="en-US" altLang="en-US" sz="900" dirty="0">
                <a:latin typeface="Arial" panose="020B0604020202020204" pitchFamily="34" charset="0"/>
              </a:rPr>
              <a:t> widget from </a:t>
            </a:r>
            <a:r>
              <a:rPr lang="en-US" altLang="en-US" sz="900" dirty="0" err="1">
                <a:latin typeface="Arial" panose="020B0604020202020204" pitchFamily="34" charset="0"/>
              </a:rPr>
              <a:t>tkcalendar</a:t>
            </a:r>
            <a:r>
              <a:rPr lang="en-US" altLang="en-US" sz="900" dirty="0">
                <a:latin typeface="Arial" panose="020B0604020202020204" pitchFamily="34" charset="0"/>
              </a:rPr>
              <a:t> is used to allow users to pick dates from a calendar, simplifying the process of selecting dates when entering expenses.</a:t>
            </a: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9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900" b="1" i="0" u="none" strike="noStrike" cap="none" normalizeH="0" baseline="0" dirty="0">
                <a:ln>
                  <a:noFill/>
                </a:ln>
                <a:solidFill>
                  <a:schemeClr val="tx1"/>
                </a:solidFill>
                <a:effectLst/>
                <a:latin typeface="Arial" panose="020B0604020202020204" pitchFamily="34" charset="0"/>
              </a:rPr>
              <a:t>Python's </a:t>
            </a:r>
            <a:r>
              <a:rPr lang="en-US" altLang="en-US" sz="900" b="1" dirty="0">
                <a:latin typeface="Arial" panose="020B0604020202020204" pitchFamily="34" charset="0"/>
              </a:rPr>
              <a:t>sqlite3 Module:</a:t>
            </a:r>
          </a:p>
          <a:p>
            <a:pPr marL="0" marR="0" lvl="0" indent="0" algn="l" defTabSz="914400" rtl="0" eaLnBrk="0" fontAlgn="base" latinLnBrk="0" hangingPunct="0">
              <a:lnSpc>
                <a:spcPct val="100000"/>
              </a:lnSpc>
              <a:spcBef>
                <a:spcPct val="0"/>
              </a:spcBef>
              <a:spcAft>
                <a:spcPct val="0"/>
              </a:spcAft>
              <a:buClrTx/>
              <a:buSzTx/>
              <a:tabLst/>
            </a:pPr>
            <a:r>
              <a:rPr kumimoji="0" lang="en-US" altLang="en-US" sz="900" b="1" i="0" u="none" strike="noStrike" cap="none" normalizeH="0" baseline="0" dirty="0">
                <a:ln>
                  <a:noFill/>
                </a:ln>
                <a:solidFill>
                  <a:schemeClr val="tx1"/>
                </a:solidFill>
                <a:effectLst/>
                <a:latin typeface="Arial" panose="020B0604020202020204" pitchFamily="34" charset="0"/>
              </a:rPr>
              <a:t>     Database Interface</a:t>
            </a:r>
            <a:r>
              <a:rPr kumimoji="0" lang="en-US" altLang="en-US" sz="900" b="0" i="0" u="none" strike="noStrike" cap="none" normalizeH="0" baseline="0" dirty="0">
                <a:ln>
                  <a:noFill/>
                </a:ln>
                <a:solidFill>
                  <a:schemeClr val="tx1"/>
                </a:solidFill>
                <a:effectLst/>
                <a:latin typeface="Arial" panose="020B0604020202020204" pitchFamily="34" charset="0"/>
              </a:rPr>
              <a:t>: The </a:t>
            </a:r>
            <a:r>
              <a:rPr lang="en-US" altLang="en-US" sz="900" dirty="0">
                <a:latin typeface="Arial" panose="020B0604020202020204" pitchFamily="34" charset="0"/>
              </a:rPr>
              <a:t>sqlite3 module in Python is used to interact with the SQLite database, handling tasks such as inserting, querying, and updating expense data.</a:t>
            </a: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9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900" b="1" i="0" u="none" strike="noStrike" cap="none" normalizeH="0" baseline="0" dirty="0">
                <a:ln>
                  <a:noFill/>
                </a:ln>
                <a:solidFill>
                  <a:schemeClr val="tx1"/>
                </a:solidFill>
                <a:effectLst/>
                <a:latin typeface="Arial" panose="020B0604020202020204" pitchFamily="34" charset="0"/>
              </a:rPr>
              <a:t>Matplotlib-</a:t>
            </a:r>
            <a:r>
              <a:rPr kumimoji="0" lang="en-US" altLang="en-US" sz="900" b="1" i="0" u="none" strike="noStrike" cap="none" normalizeH="0" baseline="0" dirty="0" err="1">
                <a:ln>
                  <a:noFill/>
                </a:ln>
                <a:solidFill>
                  <a:schemeClr val="tx1"/>
                </a:solidFill>
                <a:effectLst/>
                <a:latin typeface="Arial" panose="020B0604020202020204" pitchFamily="34" charset="0"/>
              </a:rPr>
              <a:t>Tkinter</a:t>
            </a:r>
            <a:r>
              <a:rPr kumimoji="0" lang="en-US" altLang="en-US" sz="900" b="1" i="0" u="none" strike="noStrike" cap="none" normalizeH="0" baseline="0" dirty="0">
                <a:ln>
                  <a:noFill/>
                </a:ln>
                <a:solidFill>
                  <a:schemeClr val="tx1"/>
                </a:solidFill>
                <a:effectLst/>
                <a:latin typeface="Arial" panose="020B0604020202020204" pitchFamily="34" charset="0"/>
              </a:rPr>
              <a:t> Integration (</a:t>
            </a:r>
            <a:r>
              <a:rPr kumimoji="0" lang="en-US" altLang="en-US" sz="900" b="1" i="0" u="none" strike="noStrike" cap="none" normalizeH="0" baseline="0" dirty="0" err="1">
                <a:ln>
                  <a:noFill/>
                </a:ln>
                <a:solidFill>
                  <a:schemeClr val="tx1"/>
                </a:solidFill>
                <a:effectLst/>
                <a:latin typeface="Arial" panose="020B0604020202020204" pitchFamily="34" charset="0"/>
              </a:rPr>
              <a:t>FigureCanvasTkAgg</a:t>
            </a:r>
            <a:r>
              <a:rPr kumimoji="0" lang="en-US" altLang="en-US" sz="900" b="1" i="0" u="none" strike="noStrike" cap="none" normalizeH="0" baseline="0" dirty="0">
                <a:ln>
                  <a:noFill/>
                </a:ln>
                <a:solidFill>
                  <a:schemeClr val="tx1"/>
                </a:solidFill>
                <a:effectLst/>
                <a:latin typeface="Arial" panose="020B0604020202020204" pitchFamily="34" charset="0"/>
              </a:rPr>
              <a:t>)</a:t>
            </a:r>
            <a:r>
              <a:rPr kumimoji="0" lang="en-US" altLang="en-US" sz="9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tabLst/>
            </a:pPr>
            <a:r>
              <a:rPr kumimoji="0" lang="en-US" altLang="en-US" sz="900" b="1" i="0" u="none" strike="noStrike" cap="none" normalizeH="0" baseline="0" dirty="0">
                <a:ln>
                  <a:noFill/>
                </a:ln>
                <a:solidFill>
                  <a:schemeClr val="tx1"/>
                </a:solidFill>
                <a:effectLst/>
                <a:latin typeface="Arial" panose="020B0604020202020204" pitchFamily="34" charset="0"/>
              </a:rPr>
              <a:t>     Embedding Charts in GUI</a:t>
            </a:r>
            <a:r>
              <a:rPr kumimoji="0" lang="en-US" altLang="en-US" sz="900" b="0" i="0" u="none" strike="noStrike" cap="none" normalizeH="0" baseline="0" dirty="0">
                <a:ln>
                  <a:noFill/>
                </a:ln>
                <a:solidFill>
                  <a:schemeClr val="tx1"/>
                </a:solidFill>
                <a:effectLst/>
                <a:latin typeface="Arial" panose="020B0604020202020204" pitchFamily="34" charset="0"/>
              </a:rPr>
              <a:t>: This module bridges Matplotlib and </a:t>
            </a:r>
            <a:r>
              <a:rPr kumimoji="0" lang="en-US" altLang="en-US" sz="900" b="0" i="0" u="none" strike="noStrike" cap="none" normalizeH="0" baseline="0" dirty="0" err="1">
                <a:ln>
                  <a:noFill/>
                </a:ln>
                <a:solidFill>
                  <a:schemeClr val="tx1"/>
                </a:solidFill>
                <a:effectLst/>
                <a:latin typeface="Arial" panose="020B0604020202020204" pitchFamily="34" charset="0"/>
              </a:rPr>
              <a:t>Tkinter</a:t>
            </a:r>
            <a:r>
              <a:rPr kumimoji="0" lang="en-US" altLang="en-US" sz="900" b="0" i="0" u="none" strike="noStrike" cap="none" normalizeH="0" baseline="0" dirty="0">
                <a:ln>
                  <a:noFill/>
                </a:ln>
                <a:solidFill>
                  <a:schemeClr val="tx1"/>
                </a:solidFill>
                <a:effectLst/>
                <a:latin typeface="Arial" panose="020B0604020202020204" pitchFamily="34" charset="0"/>
              </a:rPr>
              <a:t>, allowing charts to be embedded directly into the application's interface.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9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96471041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6D8924E-E15F-9671-8E44-7E11BCE9CF08}"/>
              </a:ext>
            </a:extLst>
          </p:cNvPr>
          <p:cNvSpPr txBox="1"/>
          <p:nvPr/>
        </p:nvSpPr>
        <p:spPr>
          <a:xfrm>
            <a:off x="789717" y="2505670"/>
            <a:ext cx="10751419" cy="923330"/>
          </a:xfrm>
          <a:prstGeom prst="rect">
            <a:avLst/>
          </a:prstGeom>
          <a:noFill/>
        </p:spPr>
        <p:txBody>
          <a:bodyPr wrap="square" rtlCol="0">
            <a:spAutoFit/>
          </a:bodyPr>
          <a:lstStyle/>
          <a:p>
            <a:pPr algn="ctr"/>
            <a:r>
              <a:rPr lang="en-IN" sz="5400" b="1" dirty="0">
                <a:solidFill>
                  <a:sysClr val="windowText" lastClr="000000"/>
                </a:solidFill>
                <a:latin typeface="Inter Black" panose="020B0A02050000000004" pitchFamily="34" charset="0"/>
                <a:ea typeface="Inter Black" panose="020B0A02050000000004" pitchFamily="34" charset="0"/>
              </a:rPr>
              <a:t>Execution of Model</a:t>
            </a:r>
          </a:p>
        </p:txBody>
      </p:sp>
    </p:spTree>
    <p:extLst>
      <p:ext uri="{BB962C8B-B14F-4D97-AF65-F5344CB8AC3E}">
        <p14:creationId xmlns:p14="http://schemas.microsoft.com/office/powerpoint/2010/main" val="2919644644"/>
      </p:ext>
    </p:extLst>
  </p:cSld>
  <p:clrMapOvr>
    <a:masterClrMapping/>
  </p:clrMapOvr>
  <p:transition spd="slow">
    <p:wipe/>
  </p:transition>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23" name="TextBox 22">
            <a:extLst>
              <a:ext uri="{FF2B5EF4-FFF2-40B4-BE49-F238E27FC236}">
                <a16:creationId xmlns:a16="http://schemas.microsoft.com/office/drawing/2014/main" id="{F8DABF98-53D9-A655-01F5-E2E2AEAE2681}"/>
              </a:ext>
            </a:extLst>
          </p:cNvPr>
          <p:cNvSpPr txBox="1"/>
          <p:nvPr/>
        </p:nvSpPr>
        <p:spPr>
          <a:xfrm>
            <a:off x="-552112" y="241744"/>
            <a:ext cx="6460878" cy="707886"/>
          </a:xfrm>
          <a:prstGeom prst="rect">
            <a:avLst/>
          </a:prstGeom>
          <a:noFill/>
        </p:spPr>
        <p:txBody>
          <a:bodyPr wrap="square" rtlCol="0">
            <a:spAutoFit/>
          </a:bodyPr>
          <a:lstStyle/>
          <a:p>
            <a:pPr algn="ctr"/>
            <a:r>
              <a:rPr lang="en-IN" sz="4000" b="1" dirty="0">
                <a:solidFill>
                  <a:sysClr val="windowText" lastClr="000000"/>
                </a:solidFill>
                <a:latin typeface="Ubuntu" panose="020B0504030602030204" pitchFamily="34" charset="0"/>
                <a:ea typeface="Inter Black" panose="020B0A02050000000004" pitchFamily="34" charset="0"/>
              </a:rPr>
              <a:t>UML Diagram</a:t>
            </a:r>
          </a:p>
        </p:txBody>
      </p:sp>
      <p:pic>
        <p:nvPicPr>
          <p:cNvPr id="2" name="Graphic 1" descr="UseCase">
            <a:extLst>
              <a:ext uri="{FF2B5EF4-FFF2-40B4-BE49-F238E27FC236}">
                <a16:creationId xmlns:a16="http://schemas.microsoft.com/office/drawing/2014/main" id="{D76D3880-76B6-519A-78A6-EF3B418C062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98412" y="1797632"/>
            <a:ext cx="4229100" cy="3609975"/>
          </a:xfrm>
          <a:prstGeom prst="rect">
            <a:avLst/>
          </a:prstGeom>
        </p:spPr>
      </p:pic>
      <p:sp>
        <p:nvSpPr>
          <p:cNvPr id="24" name="TextBox 23">
            <a:extLst>
              <a:ext uri="{FF2B5EF4-FFF2-40B4-BE49-F238E27FC236}">
                <a16:creationId xmlns:a16="http://schemas.microsoft.com/office/drawing/2014/main" id="{62A5C727-1763-0145-B0F3-9A2261087A98}"/>
              </a:ext>
            </a:extLst>
          </p:cNvPr>
          <p:cNvSpPr txBox="1"/>
          <p:nvPr/>
        </p:nvSpPr>
        <p:spPr>
          <a:xfrm>
            <a:off x="2216444" y="5683170"/>
            <a:ext cx="2637448" cy="461665"/>
          </a:xfrm>
          <a:prstGeom prst="rect">
            <a:avLst/>
          </a:prstGeom>
          <a:noFill/>
        </p:spPr>
        <p:txBody>
          <a:bodyPr wrap="square" rtlCol="0">
            <a:spAutoFit/>
          </a:bodyPr>
          <a:lstStyle/>
          <a:p>
            <a:r>
              <a:rPr lang="en-GB" sz="2400" b="1" dirty="0">
                <a:effectLst/>
                <a:latin typeface="Calibri" panose="020F0502020204030204" pitchFamily="34" charset="0"/>
                <a:ea typeface="DengXian" panose="02010600030101010101" pitchFamily="2" charset="-122"/>
                <a:cs typeface="Times New Roman" panose="02020603050405020304" pitchFamily="18" charset="0"/>
              </a:rPr>
              <a:t>Use Case Diagram</a:t>
            </a:r>
            <a:endParaRPr lang="en-IN" sz="2400" b="1" dirty="0">
              <a:effectLst/>
              <a:latin typeface="Calibri" panose="020F0502020204030204" pitchFamily="34" charset="0"/>
              <a:ea typeface="DengXian" panose="02010600030101010101" pitchFamily="2" charset="-122"/>
              <a:cs typeface="Times New Roman" panose="02020603050405020304" pitchFamily="18" charset="0"/>
            </a:endParaRPr>
          </a:p>
        </p:txBody>
      </p:sp>
      <p:grpSp>
        <p:nvGrpSpPr>
          <p:cNvPr id="26" name="Graphic 24" descr="ClassDiagram">
            <a:extLst>
              <a:ext uri="{FF2B5EF4-FFF2-40B4-BE49-F238E27FC236}">
                <a16:creationId xmlns:a16="http://schemas.microsoft.com/office/drawing/2014/main" id="{5C7AC07D-6DD5-B925-352C-24D214F308B2}"/>
              </a:ext>
            </a:extLst>
          </p:cNvPr>
          <p:cNvGrpSpPr/>
          <p:nvPr/>
        </p:nvGrpSpPr>
        <p:grpSpPr>
          <a:xfrm>
            <a:off x="6269712" y="1934731"/>
            <a:ext cx="4917518" cy="3335777"/>
            <a:chOff x="6165540" y="1867172"/>
            <a:chExt cx="4917518" cy="3335777"/>
          </a:xfrm>
        </p:grpSpPr>
        <p:grpSp>
          <p:nvGrpSpPr>
            <p:cNvPr id="27" name="Graphic 24" descr="ClassDiagram">
              <a:extLst>
                <a:ext uri="{FF2B5EF4-FFF2-40B4-BE49-F238E27FC236}">
                  <a16:creationId xmlns:a16="http://schemas.microsoft.com/office/drawing/2014/main" id="{D5C71180-C134-E30B-2F52-B9DF5712DB5F}"/>
                </a:ext>
              </a:extLst>
            </p:cNvPr>
            <p:cNvGrpSpPr/>
            <p:nvPr/>
          </p:nvGrpSpPr>
          <p:grpSpPr>
            <a:xfrm>
              <a:off x="6165540" y="3754705"/>
              <a:ext cx="1887532" cy="1448244"/>
              <a:chOff x="6165540" y="3754705"/>
              <a:chExt cx="1887532" cy="1448244"/>
            </a:xfrm>
          </p:grpSpPr>
          <p:sp>
            <p:nvSpPr>
              <p:cNvPr id="28" name="Freeform: Shape 27">
                <a:extLst>
                  <a:ext uri="{FF2B5EF4-FFF2-40B4-BE49-F238E27FC236}">
                    <a16:creationId xmlns:a16="http://schemas.microsoft.com/office/drawing/2014/main" id="{BD2DE9F3-FE66-092E-FAB4-902779C4A2BC}"/>
                  </a:ext>
                </a:extLst>
              </p:cNvPr>
              <p:cNvSpPr/>
              <p:nvPr/>
            </p:nvSpPr>
            <p:spPr>
              <a:xfrm>
                <a:off x="6165540" y="3754705"/>
                <a:ext cx="1887532" cy="1448244"/>
              </a:xfrm>
              <a:custGeom>
                <a:avLst/>
                <a:gdLst>
                  <a:gd name="connsiteX0" fmla="*/ 1868657 w 1887532"/>
                  <a:gd name="connsiteY0" fmla="*/ 0 h 1448244"/>
                  <a:gd name="connsiteX1" fmla="*/ 1887532 w 1887532"/>
                  <a:gd name="connsiteY1" fmla="*/ 21724 h 1448244"/>
                  <a:gd name="connsiteX2" fmla="*/ 1887532 w 1887532"/>
                  <a:gd name="connsiteY2" fmla="*/ 1426520 h 1448244"/>
                  <a:gd name="connsiteX3" fmla="*/ 1868657 w 1887532"/>
                  <a:gd name="connsiteY3" fmla="*/ 1448244 h 1448244"/>
                  <a:gd name="connsiteX4" fmla="*/ 18875 w 1887532"/>
                  <a:gd name="connsiteY4" fmla="*/ 1448244 h 1448244"/>
                  <a:gd name="connsiteX5" fmla="*/ 0 w 1887532"/>
                  <a:gd name="connsiteY5" fmla="*/ 1426520 h 1448244"/>
                  <a:gd name="connsiteX6" fmla="*/ 0 w 1887532"/>
                  <a:gd name="connsiteY6" fmla="*/ 21724 h 1448244"/>
                  <a:gd name="connsiteX7" fmla="*/ 18875 w 1887532"/>
                  <a:gd name="connsiteY7" fmla="*/ 0 h 14482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87532" h="1448244">
                    <a:moveTo>
                      <a:pt x="1868657" y="0"/>
                    </a:moveTo>
                    <a:cubicBezTo>
                      <a:pt x="1879082" y="0"/>
                      <a:pt x="1887532" y="9726"/>
                      <a:pt x="1887532" y="21724"/>
                    </a:cubicBezTo>
                    <a:lnTo>
                      <a:pt x="1887532" y="1426520"/>
                    </a:lnTo>
                    <a:cubicBezTo>
                      <a:pt x="1887532" y="1438518"/>
                      <a:pt x="1879082" y="1448244"/>
                      <a:pt x="1868657" y="1448244"/>
                    </a:cubicBezTo>
                    <a:lnTo>
                      <a:pt x="18875" y="1448244"/>
                    </a:lnTo>
                    <a:cubicBezTo>
                      <a:pt x="8451" y="1448244"/>
                      <a:pt x="0" y="1438518"/>
                      <a:pt x="0" y="1426520"/>
                    </a:cubicBezTo>
                    <a:lnTo>
                      <a:pt x="0" y="21724"/>
                    </a:lnTo>
                    <a:cubicBezTo>
                      <a:pt x="0" y="9726"/>
                      <a:pt x="8451" y="0"/>
                      <a:pt x="18875" y="0"/>
                    </a:cubicBezTo>
                    <a:close/>
                  </a:path>
                </a:pathLst>
              </a:custGeom>
              <a:solidFill>
                <a:srgbClr val="F1F1F1"/>
              </a:solidFill>
              <a:ln w="4959" cap="flat">
                <a:solidFill>
                  <a:srgbClr val="181818"/>
                </a:solidFill>
                <a:prstDash val="solid"/>
                <a:miter/>
              </a:ln>
            </p:spPr>
            <p:txBody>
              <a:bodyPr rtlCol="0" anchor="ctr"/>
              <a:lstStyle/>
              <a:p>
                <a:endParaRPr lang="en-IN"/>
              </a:p>
            </p:txBody>
          </p:sp>
          <p:sp>
            <p:nvSpPr>
              <p:cNvPr id="29" name="Freeform: Shape 28">
                <a:extLst>
                  <a:ext uri="{FF2B5EF4-FFF2-40B4-BE49-F238E27FC236}">
                    <a16:creationId xmlns:a16="http://schemas.microsoft.com/office/drawing/2014/main" id="{95D161ED-851E-B283-F13A-1E22A8D312AB}"/>
                  </a:ext>
                </a:extLst>
              </p:cNvPr>
              <p:cNvSpPr/>
              <p:nvPr/>
            </p:nvSpPr>
            <p:spPr>
              <a:xfrm>
                <a:off x="6659776" y="3804376"/>
                <a:ext cx="218556" cy="218556"/>
              </a:xfrm>
              <a:custGeom>
                <a:avLst/>
                <a:gdLst>
                  <a:gd name="connsiteX0" fmla="*/ 218556 w 218556"/>
                  <a:gd name="connsiteY0" fmla="*/ 109278 h 218556"/>
                  <a:gd name="connsiteX1" fmla="*/ 109278 w 218556"/>
                  <a:gd name="connsiteY1" fmla="*/ 218556 h 218556"/>
                  <a:gd name="connsiteX2" fmla="*/ 0 w 218556"/>
                  <a:gd name="connsiteY2" fmla="*/ 109278 h 218556"/>
                  <a:gd name="connsiteX3" fmla="*/ 109278 w 218556"/>
                  <a:gd name="connsiteY3" fmla="*/ 0 h 218556"/>
                  <a:gd name="connsiteX4" fmla="*/ 218556 w 218556"/>
                  <a:gd name="connsiteY4" fmla="*/ 109278 h 2185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8556" h="218556">
                    <a:moveTo>
                      <a:pt x="218556" y="109278"/>
                    </a:moveTo>
                    <a:cubicBezTo>
                      <a:pt x="218556" y="169631"/>
                      <a:pt x="169631" y="218556"/>
                      <a:pt x="109278" y="218556"/>
                    </a:cubicBezTo>
                    <a:cubicBezTo>
                      <a:pt x="48926" y="218556"/>
                      <a:pt x="0" y="169631"/>
                      <a:pt x="0" y="109278"/>
                    </a:cubicBezTo>
                    <a:cubicBezTo>
                      <a:pt x="0" y="48925"/>
                      <a:pt x="48926" y="0"/>
                      <a:pt x="109278" y="0"/>
                    </a:cubicBezTo>
                    <a:cubicBezTo>
                      <a:pt x="169631" y="0"/>
                      <a:pt x="218556" y="48925"/>
                      <a:pt x="218556" y="109278"/>
                    </a:cubicBezTo>
                    <a:close/>
                  </a:path>
                </a:pathLst>
              </a:custGeom>
              <a:solidFill>
                <a:srgbClr val="ADD1B2"/>
              </a:solidFill>
              <a:ln w="9918" cap="flat">
                <a:solidFill>
                  <a:srgbClr val="181818"/>
                </a:solidFill>
                <a:prstDash val="solid"/>
                <a:miter/>
              </a:ln>
            </p:spPr>
            <p:txBody>
              <a:bodyPr rtlCol="0" anchor="ctr"/>
              <a:lstStyle/>
              <a:p>
                <a:endParaRPr lang="en-IN"/>
              </a:p>
            </p:txBody>
          </p:sp>
          <p:sp>
            <p:nvSpPr>
              <p:cNvPr id="30" name="Freeform: Shape 29">
                <a:extLst>
                  <a:ext uri="{FF2B5EF4-FFF2-40B4-BE49-F238E27FC236}">
                    <a16:creationId xmlns:a16="http://schemas.microsoft.com/office/drawing/2014/main" id="{D8167148-1716-0E3F-5F1E-E2921704F79F}"/>
                  </a:ext>
                </a:extLst>
              </p:cNvPr>
              <p:cNvSpPr/>
              <p:nvPr/>
            </p:nvSpPr>
            <p:spPr>
              <a:xfrm>
                <a:off x="6722020" y="3847839"/>
                <a:ext cx="76526" cy="127746"/>
              </a:xfrm>
              <a:custGeom>
                <a:avLst/>
                <a:gdLst>
                  <a:gd name="connsiteX0" fmla="*/ 76527 w 76526"/>
                  <a:gd name="connsiteY0" fmla="*/ 121855 h 127746"/>
                  <a:gd name="connsiteX1" fmla="*/ 64419 w 76526"/>
                  <a:gd name="connsiteY1" fmla="*/ 126196 h 127746"/>
                  <a:gd name="connsiteX2" fmla="*/ 51070 w 76526"/>
                  <a:gd name="connsiteY2" fmla="*/ 127746 h 127746"/>
                  <a:gd name="connsiteX3" fmla="*/ 13039 w 76526"/>
                  <a:gd name="connsiteY3" fmla="*/ 111454 h 127746"/>
                  <a:gd name="connsiteX4" fmla="*/ 0 w 76526"/>
                  <a:gd name="connsiteY4" fmla="*/ 63958 h 127746"/>
                  <a:gd name="connsiteX5" fmla="*/ 13039 w 76526"/>
                  <a:gd name="connsiteY5" fmla="*/ 16451 h 127746"/>
                  <a:gd name="connsiteX6" fmla="*/ 51070 w 76526"/>
                  <a:gd name="connsiteY6" fmla="*/ 0 h 127746"/>
                  <a:gd name="connsiteX7" fmla="*/ 64419 w 76526"/>
                  <a:gd name="connsiteY7" fmla="*/ 1550 h 127746"/>
                  <a:gd name="connsiteX8" fmla="*/ 76527 w 76526"/>
                  <a:gd name="connsiteY8" fmla="*/ 6050 h 127746"/>
                  <a:gd name="connsiteX9" fmla="*/ 76527 w 76526"/>
                  <a:gd name="connsiteY9" fmla="*/ 33062 h 127746"/>
                  <a:gd name="connsiteX10" fmla="*/ 64419 w 76526"/>
                  <a:gd name="connsiteY10" fmla="*/ 24677 h 127746"/>
                  <a:gd name="connsiteX11" fmla="*/ 52312 w 76526"/>
                  <a:gd name="connsiteY11" fmla="*/ 21885 h 127746"/>
                  <a:gd name="connsiteX12" fmla="*/ 32132 w 76526"/>
                  <a:gd name="connsiteY12" fmla="*/ 32595 h 127746"/>
                  <a:gd name="connsiteX13" fmla="*/ 25302 w 76526"/>
                  <a:gd name="connsiteY13" fmla="*/ 63958 h 127746"/>
                  <a:gd name="connsiteX14" fmla="*/ 32132 w 76526"/>
                  <a:gd name="connsiteY14" fmla="*/ 95459 h 127746"/>
                  <a:gd name="connsiteX15" fmla="*/ 52312 w 76526"/>
                  <a:gd name="connsiteY15" fmla="*/ 106020 h 127746"/>
                  <a:gd name="connsiteX16" fmla="*/ 64419 w 76526"/>
                  <a:gd name="connsiteY16" fmla="*/ 103377 h 127746"/>
                  <a:gd name="connsiteX17" fmla="*/ 76527 w 76526"/>
                  <a:gd name="connsiteY17" fmla="*/ 94844 h 127746"/>
                  <a:gd name="connsiteX18" fmla="*/ 76527 w 76526"/>
                  <a:gd name="connsiteY18" fmla="*/ 121855 h 1277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76526" h="127746">
                    <a:moveTo>
                      <a:pt x="76527" y="121855"/>
                    </a:moveTo>
                    <a:cubicBezTo>
                      <a:pt x="72697" y="123822"/>
                      <a:pt x="68662" y="125263"/>
                      <a:pt x="64419" y="126196"/>
                    </a:cubicBezTo>
                    <a:cubicBezTo>
                      <a:pt x="60176" y="127230"/>
                      <a:pt x="55726" y="127746"/>
                      <a:pt x="51070" y="127746"/>
                    </a:cubicBezTo>
                    <a:cubicBezTo>
                      <a:pt x="34512" y="127746"/>
                      <a:pt x="21836" y="122322"/>
                      <a:pt x="13039" y="111454"/>
                    </a:cubicBezTo>
                    <a:cubicBezTo>
                      <a:pt x="4346" y="100486"/>
                      <a:pt x="0" y="84651"/>
                      <a:pt x="0" y="63958"/>
                    </a:cubicBezTo>
                    <a:cubicBezTo>
                      <a:pt x="0" y="43254"/>
                      <a:pt x="4346" y="27419"/>
                      <a:pt x="13039" y="16451"/>
                    </a:cubicBezTo>
                    <a:cubicBezTo>
                      <a:pt x="21836" y="5484"/>
                      <a:pt x="34512" y="0"/>
                      <a:pt x="51070" y="0"/>
                    </a:cubicBezTo>
                    <a:cubicBezTo>
                      <a:pt x="55726" y="0"/>
                      <a:pt x="60176" y="517"/>
                      <a:pt x="64419" y="1550"/>
                    </a:cubicBezTo>
                    <a:cubicBezTo>
                      <a:pt x="68765" y="2583"/>
                      <a:pt x="72801" y="4083"/>
                      <a:pt x="76527" y="6050"/>
                    </a:cubicBezTo>
                    <a:lnTo>
                      <a:pt x="76527" y="33062"/>
                    </a:lnTo>
                    <a:cubicBezTo>
                      <a:pt x="72387" y="29237"/>
                      <a:pt x="68352" y="26435"/>
                      <a:pt x="64419" y="24677"/>
                    </a:cubicBezTo>
                    <a:cubicBezTo>
                      <a:pt x="60487" y="22819"/>
                      <a:pt x="56451" y="21885"/>
                      <a:pt x="52312" y="21885"/>
                    </a:cubicBezTo>
                    <a:cubicBezTo>
                      <a:pt x="43411" y="21885"/>
                      <a:pt x="36685" y="25462"/>
                      <a:pt x="32132" y="32595"/>
                    </a:cubicBezTo>
                    <a:cubicBezTo>
                      <a:pt x="27579" y="39638"/>
                      <a:pt x="25302" y="50089"/>
                      <a:pt x="25302" y="63958"/>
                    </a:cubicBezTo>
                    <a:cubicBezTo>
                      <a:pt x="25302" y="77816"/>
                      <a:pt x="27579" y="88327"/>
                      <a:pt x="32132" y="95459"/>
                    </a:cubicBezTo>
                    <a:cubicBezTo>
                      <a:pt x="36685" y="102503"/>
                      <a:pt x="43411" y="106020"/>
                      <a:pt x="52312" y="106020"/>
                    </a:cubicBezTo>
                    <a:cubicBezTo>
                      <a:pt x="56451" y="106020"/>
                      <a:pt x="60487" y="105135"/>
                      <a:pt x="64419" y="103377"/>
                    </a:cubicBezTo>
                    <a:cubicBezTo>
                      <a:pt x="68352" y="101519"/>
                      <a:pt x="72387" y="98668"/>
                      <a:pt x="76527" y="94844"/>
                    </a:cubicBezTo>
                    <a:lnTo>
                      <a:pt x="76527" y="121855"/>
                    </a:lnTo>
                    <a:close/>
                  </a:path>
                </a:pathLst>
              </a:custGeom>
              <a:solidFill>
                <a:srgbClr val="000000"/>
              </a:solidFill>
              <a:ln w="9918" cap="flat">
                <a:noFill/>
                <a:prstDash val="solid"/>
                <a:miter/>
              </a:ln>
            </p:spPr>
            <p:txBody>
              <a:bodyPr rtlCol="0" anchor="ctr"/>
              <a:lstStyle/>
              <a:p>
                <a:endParaRPr lang="en-IN"/>
              </a:p>
            </p:txBody>
          </p:sp>
          <p:sp>
            <p:nvSpPr>
              <p:cNvPr id="31" name="TextBox 30">
                <a:extLst>
                  <a:ext uri="{FF2B5EF4-FFF2-40B4-BE49-F238E27FC236}">
                    <a16:creationId xmlns:a16="http://schemas.microsoft.com/office/drawing/2014/main" id="{1B8D7B05-EDE0-6869-3C11-E49DF424B265}"/>
                  </a:ext>
                </a:extLst>
              </p:cNvPr>
              <p:cNvSpPr txBox="1"/>
              <p:nvPr/>
            </p:nvSpPr>
            <p:spPr>
              <a:xfrm>
                <a:off x="6881269" y="3786940"/>
                <a:ext cx="719336" cy="250390"/>
              </a:xfrm>
              <a:prstGeom prst="rect">
                <a:avLst/>
              </a:prstGeom>
              <a:noFill/>
            </p:spPr>
            <p:txBody>
              <a:bodyPr wrap="none" rtlCol="0">
                <a:spAutoFit/>
              </a:bodyPr>
              <a:lstStyle/>
              <a:p>
                <a:pPr algn="l"/>
                <a:r>
                  <a:rPr lang="en-IN" sz="1050" spc="0" baseline="0" dirty="0">
                    <a:ln/>
                    <a:solidFill>
                      <a:srgbClr val="000000"/>
                    </a:solidFill>
                    <a:latin typeface="Arial"/>
                    <a:cs typeface="Arial"/>
                    <a:sym typeface="Arial"/>
                    <a:rtl val="0"/>
                  </a:rPr>
                  <a:t>Expense</a:t>
                </a:r>
              </a:p>
            </p:txBody>
          </p:sp>
          <p:sp>
            <p:nvSpPr>
              <p:cNvPr id="32" name="Freeform: Shape 31">
                <a:extLst>
                  <a:ext uri="{FF2B5EF4-FFF2-40B4-BE49-F238E27FC236}">
                    <a16:creationId xmlns:a16="http://schemas.microsoft.com/office/drawing/2014/main" id="{A4C583DC-6116-3B2F-6ADC-6EE50211D78C}"/>
                  </a:ext>
                </a:extLst>
              </p:cNvPr>
              <p:cNvSpPr/>
              <p:nvPr/>
            </p:nvSpPr>
            <p:spPr>
              <a:xfrm>
                <a:off x="6175475" y="4072605"/>
                <a:ext cx="1867663" cy="9934"/>
              </a:xfrm>
              <a:custGeom>
                <a:avLst/>
                <a:gdLst>
                  <a:gd name="connsiteX0" fmla="*/ 0 w 1867663"/>
                  <a:gd name="connsiteY0" fmla="*/ 0 h 9934"/>
                  <a:gd name="connsiteX1" fmla="*/ 1867664 w 1867663"/>
                  <a:gd name="connsiteY1" fmla="*/ 0 h 9934"/>
                </a:gdLst>
                <a:ahLst/>
                <a:cxnLst>
                  <a:cxn ang="0">
                    <a:pos x="connsiteX0" y="connsiteY0"/>
                  </a:cxn>
                  <a:cxn ang="0">
                    <a:pos x="connsiteX1" y="connsiteY1"/>
                  </a:cxn>
                </a:cxnLst>
                <a:rect l="l" t="t" r="r" b="b"/>
                <a:pathLst>
                  <a:path w="1867663" h="9934">
                    <a:moveTo>
                      <a:pt x="0" y="0"/>
                    </a:moveTo>
                    <a:lnTo>
                      <a:pt x="1867664" y="0"/>
                    </a:lnTo>
                  </a:path>
                </a:pathLst>
              </a:custGeom>
              <a:ln w="4959" cap="flat">
                <a:solidFill>
                  <a:srgbClr val="181818"/>
                </a:solidFill>
                <a:prstDash val="solid"/>
                <a:miter/>
              </a:ln>
            </p:spPr>
            <p:txBody>
              <a:bodyPr rtlCol="0" anchor="ctr"/>
              <a:lstStyle/>
              <a:p>
                <a:endParaRPr lang="en-IN"/>
              </a:p>
            </p:txBody>
          </p:sp>
          <p:sp>
            <p:nvSpPr>
              <p:cNvPr id="33" name="Freeform: Shape 32">
                <a:extLst>
                  <a:ext uri="{FF2B5EF4-FFF2-40B4-BE49-F238E27FC236}">
                    <a16:creationId xmlns:a16="http://schemas.microsoft.com/office/drawing/2014/main" id="{ABFC5AAC-F01A-C917-1A51-763B7DBF6C8D}"/>
                  </a:ext>
                </a:extLst>
              </p:cNvPr>
              <p:cNvSpPr/>
              <p:nvPr/>
            </p:nvSpPr>
            <p:spPr>
              <a:xfrm>
                <a:off x="6245015" y="4178386"/>
                <a:ext cx="59606" cy="59606"/>
              </a:xfrm>
              <a:custGeom>
                <a:avLst/>
                <a:gdLst>
                  <a:gd name="connsiteX0" fmla="*/ 0 w 59606"/>
                  <a:gd name="connsiteY0" fmla="*/ 0 h 59606"/>
                  <a:gd name="connsiteX1" fmla="*/ 59606 w 59606"/>
                  <a:gd name="connsiteY1" fmla="*/ 0 h 59606"/>
                  <a:gd name="connsiteX2" fmla="*/ 59606 w 59606"/>
                  <a:gd name="connsiteY2" fmla="*/ 59606 h 59606"/>
                  <a:gd name="connsiteX3" fmla="*/ 0 w 59606"/>
                  <a:gd name="connsiteY3" fmla="*/ 59606 h 59606"/>
                </a:gdLst>
                <a:ahLst/>
                <a:cxnLst>
                  <a:cxn ang="0">
                    <a:pos x="connsiteX0" y="connsiteY0"/>
                  </a:cxn>
                  <a:cxn ang="0">
                    <a:pos x="connsiteX1" y="connsiteY1"/>
                  </a:cxn>
                  <a:cxn ang="0">
                    <a:pos x="connsiteX2" y="connsiteY2"/>
                  </a:cxn>
                  <a:cxn ang="0">
                    <a:pos x="connsiteX3" y="connsiteY3"/>
                  </a:cxn>
                </a:cxnLst>
                <a:rect l="l" t="t" r="r" b="b"/>
                <a:pathLst>
                  <a:path w="59606" h="59606">
                    <a:moveTo>
                      <a:pt x="0" y="0"/>
                    </a:moveTo>
                    <a:lnTo>
                      <a:pt x="59606" y="0"/>
                    </a:lnTo>
                    <a:lnTo>
                      <a:pt x="59606" y="59606"/>
                    </a:lnTo>
                    <a:lnTo>
                      <a:pt x="0" y="59606"/>
                    </a:lnTo>
                    <a:close/>
                  </a:path>
                </a:pathLst>
              </a:custGeom>
              <a:noFill/>
              <a:ln w="9918" cap="flat">
                <a:solidFill>
                  <a:srgbClr val="C82930"/>
                </a:solidFill>
                <a:prstDash val="solid"/>
                <a:miter/>
              </a:ln>
            </p:spPr>
            <p:txBody>
              <a:bodyPr rtlCol="0" anchor="ctr"/>
              <a:lstStyle/>
              <a:p>
                <a:endParaRPr lang="en-IN"/>
              </a:p>
            </p:txBody>
          </p:sp>
          <p:sp>
            <p:nvSpPr>
              <p:cNvPr id="34" name="TextBox 33">
                <a:extLst>
                  <a:ext uri="{FF2B5EF4-FFF2-40B4-BE49-F238E27FC236}">
                    <a16:creationId xmlns:a16="http://schemas.microsoft.com/office/drawing/2014/main" id="{C9510964-F1BC-1155-9107-F25A782B9DEE}"/>
                  </a:ext>
                </a:extLst>
              </p:cNvPr>
              <p:cNvSpPr txBox="1"/>
              <p:nvPr/>
            </p:nvSpPr>
            <p:spPr>
              <a:xfrm>
                <a:off x="6272788" y="4066573"/>
                <a:ext cx="520648" cy="250390"/>
              </a:xfrm>
              <a:prstGeom prst="rect">
                <a:avLst/>
              </a:prstGeom>
              <a:noFill/>
            </p:spPr>
            <p:txBody>
              <a:bodyPr wrap="none" rtlCol="0">
                <a:spAutoFit/>
              </a:bodyPr>
              <a:lstStyle/>
              <a:p>
                <a:pPr algn="l"/>
                <a:r>
                  <a:rPr lang="en-IN" sz="1050" spc="0" baseline="0">
                    <a:ln/>
                    <a:solidFill>
                      <a:srgbClr val="000000"/>
                    </a:solidFill>
                    <a:latin typeface="Arial"/>
                    <a:cs typeface="Arial"/>
                    <a:sym typeface="Arial"/>
                    <a:rtl val="0"/>
                  </a:rPr>
                  <a:t>id: int</a:t>
                </a:r>
              </a:p>
            </p:txBody>
          </p:sp>
          <p:sp>
            <p:nvSpPr>
              <p:cNvPr id="35" name="Freeform: Shape 34">
                <a:extLst>
                  <a:ext uri="{FF2B5EF4-FFF2-40B4-BE49-F238E27FC236}">
                    <a16:creationId xmlns:a16="http://schemas.microsoft.com/office/drawing/2014/main" id="{3EC0D163-7FC2-E602-8E13-041BEA44D37F}"/>
                  </a:ext>
                </a:extLst>
              </p:cNvPr>
              <p:cNvSpPr/>
              <p:nvPr/>
            </p:nvSpPr>
            <p:spPr>
              <a:xfrm>
                <a:off x="6245015" y="4340287"/>
                <a:ext cx="59606" cy="59606"/>
              </a:xfrm>
              <a:custGeom>
                <a:avLst/>
                <a:gdLst>
                  <a:gd name="connsiteX0" fmla="*/ 0 w 59606"/>
                  <a:gd name="connsiteY0" fmla="*/ 0 h 59606"/>
                  <a:gd name="connsiteX1" fmla="*/ 59606 w 59606"/>
                  <a:gd name="connsiteY1" fmla="*/ 0 h 59606"/>
                  <a:gd name="connsiteX2" fmla="*/ 59606 w 59606"/>
                  <a:gd name="connsiteY2" fmla="*/ 59606 h 59606"/>
                  <a:gd name="connsiteX3" fmla="*/ 0 w 59606"/>
                  <a:gd name="connsiteY3" fmla="*/ 59606 h 59606"/>
                </a:gdLst>
                <a:ahLst/>
                <a:cxnLst>
                  <a:cxn ang="0">
                    <a:pos x="connsiteX0" y="connsiteY0"/>
                  </a:cxn>
                  <a:cxn ang="0">
                    <a:pos x="connsiteX1" y="connsiteY1"/>
                  </a:cxn>
                  <a:cxn ang="0">
                    <a:pos x="connsiteX2" y="connsiteY2"/>
                  </a:cxn>
                  <a:cxn ang="0">
                    <a:pos x="connsiteX3" y="connsiteY3"/>
                  </a:cxn>
                </a:cxnLst>
                <a:rect l="l" t="t" r="r" b="b"/>
                <a:pathLst>
                  <a:path w="59606" h="59606">
                    <a:moveTo>
                      <a:pt x="0" y="0"/>
                    </a:moveTo>
                    <a:lnTo>
                      <a:pt x="59606" y="0"/>
                    </a:lnTo>
                    <a:lnTo>
                      <a:pt x="59606" y="59606"/>
                    </a:lnTo>
                    <a:lnTo>
                      <a:pt x="0" y="59606"/>
                    </a:lnTo>
                    <a:close/>
                  </a:path>
                </a:pathLst>
              </a:custGeom>
              <a:noFill/>
              <a:ln w="9918" cap="flat">
                <a:solidFill>
                  <a:srgbClr val="C82930"/>
                </a:solidFill>
                <a:prstDash val="solid"/>
                <a:miter/>
              </a:ln>
            </p:spPr>
            <p:txBody>
              <a:bodyPr rtlCol="0" anchor="ctr"/>
              <a:lstStyle/>
              <a:p>
                <a:endParaRPr lang="en-IN"/>
              </a:p>
            </p:txBody>
          </p:sp>
          <p:sp>
            <p:nvSpPr>
              <p:cNvPr id="36" name="TextBox 35">
                <a:extLst>
                  <a:ext uri="{FF2B5EF4-FFF2-40B4-BE49-F238E27FC236}">
                    <a16:creationId xmlns:a16="http://schemas.microsoft.com/office/drawing/2014/main" id="{DD77C5C5-481B-ADC4-2BEE-A014F3ED2E31}"/>
                  </a:ext>
                </a:extLst>
              </p:cNvPr>
              <p:cNvSpPr txBox="1"/>
              <p:nvPr/>
            </p:nvSpPr>
            <p:spPr>
              <a:xfrm>
                <a:off x="6272788" y="4228473"/>
                <a:ext cx="838549" cy="250389"/>
              </a:xfrm>
              <a:prstGeom prst="rect">
                <a:avLst/>
              </a:prstGeom>
              <a:noFill/>
            </p:spPr>
            <p:txBody>
              <a:bodyPr wrap="none" rtlCol="0">
                <a:spAutoFit/>
              </a:bodyPr>
              <a:lstStyle/>
              <a:p>
                <a:pPr algn="l"/>
                <a:r>
                  <a:rPr lang="en-IN" sz="1050" spc="0" baseline="0">
                    <a:ln/>
                    <a:solidFill>
                      <a:srgbClr val="000000"/>
                    </a:solidFill>
                    <a:latin typeface="Arial"/>
                    <a:cs typeface="Arial"/>
                    <a:sym typeface="Arial"/>
                    <a:rtl val="0"/>
                  </a:rPr>
                  <a:t>date: Date</a:t>
                </a:r>
              </a:p>
            </p:txBody>
          </p:sp>
          <p:sp>
            <p:nvSpPr>
              <p:cNvPr id="37" name="Freeform: Shape 36">
                <a:extLst>
                  <a:ext uri="{FF2B5EF4-FFF2-40B4-BE49-F238E27FC236}">
                    <a16:creationId xmlns:a16="http://schemas.microsoft.com/office/drawing/2014/main" id="{DD006C11-E155-959E-ED9A-0FD0E17ADE95}"/>
                  </a:ext>
                </a:extLst>
              </p:cNvPr>
              <p:cNvSpPr/>
              <p:nvPr/>
            </p:nvSpPr>
            <p:spPr>
              <a:xfrm>
                <a:off x="6245015" y="4502187"/>
                <a:ext cx="59606" cy="59606"/>
              </a:xfrm>
              <a:custGeom>
                <a:avLst/>
                <a:gdLst>
                  <a:gd name="connsiteX0" fmla="*/ 0 w 59606"/>
                  <a:gd name="connsiteY0" fmla="*/ 0 h 59606"/>
                  <a:gd name="connsiteX1" fmla="*/ 59606 w 59606"/>
                  <a:gd name="connsiteY1" fmla="*/ 0 h 59606"/>
                  <a:gd name="connsiteX2" fmla="*/ 59606 w 59606"/>
                  <a:gd name="connsiteY2" fmla="*/ 59606 h 59606"/>
                  <a:gd name="connsiteX3" fmla="*/ 0 w 59606"/>
                  <a:gd name="connsiteY3" fmla="*/ 59606 h 59606"/>
                </a:gdLst>
                <a:ahLst/>
                <a:cxnLst>
                  <a:cxn ang="0">
                    <a:pos x="connsiteX0" y="connsiteY0"/>
                  </a:cxn>
                  <a:cxn ang="0">
                    <a:pos x="connsiteX1" y="connsiteY1"/>
                  </a:cxn>
                  <a:cxn ang="0">
                    <a:pos x="connsiteX2" y="connsiteY2"/>
                  </a:cxn>
                  <a:cxn ang="0">
                    <a:pos x="connsiteX3" y="connsiteY3"/>
                  </a:cxn>
                </a:cxnLst>
                <a:rect l="l" t="t" r="r" b="b"/>
                <a:pathLst>
                  <a:path w="59606" h="59606">
                    <a:moveTo>
                      <a:pt x="0" y="0"/>
                    </a:moveTo>
                    <a:lnTo>
                      <a:pt x="59606" y="0"/>
                    </a:lnTo>
                    <a:lnTo>
                      <a:pt x="59606" y="59606"/>
                    </a:lnTo>
                    <a:lnTo>
                      <a:pt x="0" y="59606"/>
                    </a:lnTo>
                    <a:close/>
                  </a:path>
                </a:pathLst>
              </a:custGeom>
              <a:noFill/>
              <a:ln w="9918" cap="flat">
                <a:solidFill>
                  <a:srgbClr val="C82930"/>
                </a:solidFill>
                <a:prstDash val="solid"/>
                <a:miter/>
              </a:ln>
            </p:spPr>
            <p:txBody>
              <a:bodyPr rtlCol="0" anchor="ctr"/>
              <a:lstStyle/>
              <a:p>
                <a:endParaRPr lang="en-IN"/>
              </a:p>
            </p:txBody>
          </p:sp>
          <p:sp>
            <p:nvSpPr>
              <p:cNvPr id="38" name="TextBox 37">
                <a:extLst>
                  <a:ext uri="{FF2B5EF4-FFF2-40B4-BE49-F238E27FC236}">
                    <a16:creationId xmlns:a16="http://schemas.microsoft.com/office/drawing/2014/main" id="{08092FA3-0D96-7299-B630-BE39C88E7382}"/>
                  </a:ext>
                </a:extLst>
              </p:cNvPr>
              <p:cNvSpPr txBox="1"/>
              <p:nvPr/>
            </p:nvSpPr>
            <p:spPr>
              <a:xfrm>
                <a:off x="6272788" y="4390374"/>
                <a:ext cx="1017368" cy="250390"/>
              </a:xfrm>
              <a:prstGeom prst="rect">
                <a:avLst/>
              </a:prstGeom>
              <a:noFill/>
            </p:spPr>
            <p:txBody>
              <a:bodyPr wrap="none" rtlCol="0">
                <a:spAutoFit/>
              </a:bodyPr>
              <a:lstStyle/>
              <a:p>
                <a:pPr algn="l"/>
                <a:r>
                  <a:rPr lang="en-IN" sz="1050" spc="0" baseline="0">
                    <a:ln/>
                    <a:solidFill>
                      <a:srgbClr val="000000"/>
                    </a:solidFill>
                    <a:latin typeface="Arial"/>
                    <a:cs typeface="Arial"/>
                    <a:sym typeface="Arial"/>
                    <a:rtl val="0"/>
                  </a:rPr>
                  <a:t>payee: String</a:t>
                </a:r>
              </a:p>
            </p:txBody>
          </p:sp>
          <p:sp>
            <p:nvSpPr>
              <p:cNvPr id="39" name="Freeform: Shape 38">
                <a:extLst>
                  <a:ext uri="{FF2B5EF4-FFF2-40B4-BE49-F238E27FC236}">
                    <a16:creationId xmlns:a16="http://schemas.microsoft.com/office/drawing/2014/main" id="{AB729DBD-0A7A-99D3-5FD0-292D56BDE839}"/>
                  </a:ext>
                </a:extLst>
              </p:cNvPr>
              <p:cNvSpPr/>
              <p:nvPr/>
            </p:nvSpPr>
            <p:spPr>
              <a:xfrm>
                <a:off x="6245015" y="4664088"/>
                <a:ext cx="59606" cy="59606"/>
              </a:xfrm>
              <a:custGeom>
                <a:avLst/>
                <a:gdLst>
                  <a:gd name="connsiteX0" fmla="*/ 0 w 59606"/>
                  <a:gd name="connsiteY0" fmla="*/ 0 h 59606"/>
                  <a:gd name="connsiteX1" fmla="*/ 59606 w 59606"/>
                  <a:gd name="connsiteY1" fmla="*/ 0 h 59606"/>
                  <a:gd name="connsiteX2" fmla="*/ 59606 w 59606"/>
                  <a:gd name="connsiteY2" fmla="*/ 59606 h 59606"/>
                  <a:gd name="connsiteX3" fmla="*/ 0 w 59606"/>
                  <a:gd name="connsiteY3" fmla="*/ 59606 h 59606"/>
                </a:gdLst>
                <a:ahLst/>
                <a:cxnLst>
                  <a:cxn ang="0">
                    <a:pos x="connsiteX0" y="connsiteY0"/>
                  </a:cxn>
                  <a:cxn ang="0">
                    <a:pos x="connsiteX1" y="connsiteY1"/>
                  </a:cxn>
                  <a:cxn ang="0">
                    <a:pos x="connsiteX2" y="connsiteY2"/>
                  </a:cxn>
                  <a:cxn ang="0">
                    <a:pos x="connsiteX3" y="connsiteY3"/>
                  </a:cxn>
                </a:cxnLst>
                <a:rect l="l" t="t" r="r" b="b"/>
                <a:pathLst>
                  <a:path w="59606" h="59606">
                    <a:moveTo>
                      <a:pt x="0" y="0"/>
                    </a:moveTo>
                    <a:lnTo>
                      <a:pt x="59606" y="0"/>
                    </a:lnTo>
                    <a:lnTo>
                      <a:pt x="59606" y="59606"/>
                    </a:lnTo>
                    <a:lnTo>
                      <a:pt x="0" y="59606"/>
                    </a:lnTo>
                    <a:close/>
                  </a:path>
                </a:pathLst>
              </a:custGeom>
              <a:noFill/>
              <a:ln w="9918" cap="flat">
                <a:solidFill>
                  <a:srgbClr val="C82930"/>
                </a:solidFill>
                <a:prstDash val="solid"/>
                <a:miter/>
              </a:ln>
            </p:spPr>
            <p:txBody>
              <a:bodyPr rtlCol="0" anchor="ctr"/>
              <a:lstStyle/>
              <a:p>
                <a:endParaRPr lang="en-IN"/>
              </a:p>
            </p:txBody>
          </p:sp>
          <p:sp>
            <p:nvSpPr>
              <p:cNvPr id="40" name="TextBox 39">
                <a:extLst>
                  <a:ext uri="{FF2B5EF4-FFF2-40B4-BE49-F238E27FC236}">
                    <a16:creationId xmlns:a16="http://schemas.microsoft.com/office/drawing/2014/main" id="{F3A1E8E3-7391-D041-29C4-AE393C70375A}"/>
                  </a:ext>
                </a:extLst>
              </p:cNvPr>
              <p:cNvSpPr txBox="1"/>
              <p:nvPr/>
            </p:nvSpPr>
            <p:spPr>
              <a:xfrm>
                <a:off x="6272788" y="4552274"/>
                <a:ext cx="1315399" cy="250390"/>
              </a:xfrm>
              <a:prstGeom prst="rect">
                <a:avLst/>
              </a:prstGeom>
              <a:noFill/>
            </p:spPr>
            <p:txBody>
              <a:bodyPr wrap="none" rtlCol="0">
                <a:spAutoFit/>
              </a:bodyPr>
              <a:lstStyle/>
              <a:p>
                <a:pPr algn="l"/>
                <a:r>
                  <a:rPr lang="en-IN" sz="1050" spc="0" baseline="0">
                    <a:ln/>
                    <a:solidFill>
                      <a:srgbClr val="000000"/>
                    </a:solidFill>
                    <a:latin typeface="Arial"/>
                    <a:cs typeface="Arial"/>
                    <a:sym typeface="Arial"/>
                    <a:rtl val="0"/>
                  </a:rPr>
                  <a:t>description: String</a:t>
                </a:r>
              </a:p>
            </p:txBody>
          </p:sp>
          <p:sp>
            <p:nvSpPr>
              <p:cNvPr id="41" name="Freeform: Shape 40">
                <a:extLst>
                  <a:ext uri="{FF2B5EF4-FFF2-40B4-BE49-F238E27FC236}">
                    <a16:creationId xmlns:a16="http://schemas.microsoft.com/office/drawing/2014/main" id="{BEEBB1F2-F4DF-2C87-977C-466DAC00A374}"/>
                  </a:ext>
                </a:extLst>
              </p:cNvPr>
              <p:cNvSpPr/>
              <p:nvPr/>
            </p:nvSpPr>
            <p:spPr>
              <a:xfrm>
                <a:off x="6245015" y="4825988"/>
                <a:ext cx="59606" cy="59606"/>
              </a:xfrm>
              <a:custGeom>
                <a:avLst/>
                <a:gdLst>
                  <a:gd name="connsiteX0" fmla="*/ 0 w 59606"/>
                  <a:gd name="connsiteY0" fmla="*/ 0 h 59606"/>
                  <a:gd name="connsiteX1" fmla="*/ 59606 w 59606"/>
                  <a:gd name="connsiteY1" fmla="*/ 0 h 59606"/>
                  <a:gd name="connsiteX2" fmla="*/ 59606 w 59606"/>
                  <a:gd name="connsiteY2" fmla="*/ 59606 h 59606"/>
                  <a:gd name="connsiteX3" fmla="*/ 0 w 59606"/>
                  <a:gd name="connsiteY3" fmla="*/ 59606 h 59606"/>
                </a:gdLst>
                <a:ahLst/>
                <a:cxnLst>
                  <a:cxn ang="0">
                    <a:pos x="connsiteX0" y="connsiteY0"/>
                  </a:cxn>
                  <a:cxn ang="0">
                    <a:pos x="connsiteX1" y="connsiteY1"/>
                  </a:cxn>
                  <a:cxn ang="0">
                    <a:pos x="connsiteX2" y="connsiteY2"/>
                  </a:cxn>
                  <a:cxn ang="0">
                    <a:pos x="connsiteX3" y="connsiteY3"/>
                  </a:cxn>
                </a:cxnLst>
                <a:rect l="l" t="t" r="r" b="b"/>
                <a:pathLst>
                  <a:path w="59606" h="59606">
                    <a:moveTo>
                      <a:pt x="0" y="0"/>
                    </a:moveTo>
                    <a:lnTo>
                      <a:pt x="59606" y="0"/>
                    </a:lnTo>
                    <a:lnTo>
                      <a:pt x="59606" y="59606"/>
                    </a:lnTo>
                    <a:lnTo>
                      <a:pt x="0" y="59606"/>
                    </a:lnTo>
                    <a:close/>
                  </a:path>
                </a:pathLst>
              </a:custGeom>
              <a:noFill/>
              <a:ln w="9918" cap="flat">
                <a:solidFill>
                  <a:srgbClr val="C82930"/>
                </a:solidFill>
                <a:prstDash val="solid"/>
                <a:miter/>
              </a:ln>
            </p:spPr>
            <p:txBody>
              <a:bodyPr rtlCol="0" anchor="ctr"/>
              <a:lstStyle/>
              <a:p>
                <a:endParaRPr lang="en-IN"/>
              </a:p>
            </p:txBody>
          </p:sp>
          <p:sp>
            <p:nvSpPr>
              <p:cNvPr id="42" name="TextBox 41">
                <a:extLst>
                  <a:ext uri="{FF2B5EF4-FFF2-40B4-BE49-F238E27FC236}">
                    <a16:creationId xmlns:a16="http://schemas.microsoft.com/office/drawing/2014/main" id="{24637E4B-2BB6-4A96-4459-EB697C85A063}"/>
                  </a:ext>
                </a:extLst>
              </p:cNvPr>
              <p:cNvSpPr txBox="1"/>
              <p:nvPr/>
            </p:nvSpPr>
            <p:spPr>
              <a:xfrm>
                <a:off x="6272788" y="4714175"/>
                <a:ext cx="997499" cy="250390"/>
              </a:xfrm>
              <a:prstGeom prst="rect">
                <a:avLst/>
              </a:prstGeom>
              <a:noFill/>
            </p:spPr>
            <p:txBody>
              <a:bodyPr wrap="none" rtlCol="0">
                <a:spAutoFit/>
              </a:bodyPr>
              <a:lstStyle/>
              <a:p>
                <a:pPr algn="l"/>
                <a:r>
                  <a:rPr lang="en-IN" sz="1050" spc="0" baseline="0">
                    <a:ln/>
                    <a:solidFill>
                      <a:srgbClr val="000000"/>
                    </a:solidFill>
                    <a:latin typeface="Arial"/>
                    <a:cs typeface="Arial"/>
                    <a:sym typeface="Arial"/>
                    <a:rtl val="0"/>
                  </a:rPr>
                  <a:t>amount: float</a:t>
                </a:r>
              </a:p>
            </p:txBody>
          </p:sp>
          <p:sp>
            <p:nvSpPr>
              <p:cNvPr id="43" name="Freeform: Shape 42">
                <a:extLst>
                  <a:ext uri="{FF2B5EF4-FFF2-40B4-BE49-F238E27FC236}">
                    <a16:creationId xmlns:a16="http://schemas.microsoft.com/office/drawing/2014/main" id="{1178700E-02D5-B8B7-FDDE-EC02C6ACF5CA}"/>
                  </a:ext>
                </a:extLst>
              </p:cNvPr>
              <p:cNvSpPr/>
              <p:nvPr/>
            </p:nvSpPr>
            <p:spPr>
              <a:xfrm>
                <a:off x="6245015" y="4987889"/>
                <a:ext cx="59606" cy="59606"/>
              </a:xfrm>
              <a:custGeom>
                <a:avLst/>
                <a:gdLst>
                  <a:gd name="connsiteX0" fmla="*/ 0 w 59606"/>
                  <a:gd name="connsiteY0" fmla="*/ 0 h 59606"/>
                  <a:gd name="connsiteX1" fmla="*/ 59606 w 59606"/>
                  <a:gd name="connsiteY1" fmla="*/ 0 h 59606"/>
                  <a:gd name="connsiteX2" fmla="*/ 59606 w 59606"/>
                  <a:gd name="connsiteY2" fmla="*/ 59606 h 59606"/>
                  <a:gd name="connsiteX3" fmla="*/ 0 w 59606"/>
                  <a:gd name="connsiteY3" fmla="*/ 59606 h 59606"/>
                </a:gdLst>
                <a:ahLst/>
                <a:cxnLst>
                  <a:cxn ang="0">
                    <a:pos x="connsiteX0" y="connsiteY0"/>
                  </a:cxn>
                  <a:cxn ang="0">
                    <a:pos x="connsiteX1" y="connsiteY1"/>
                  </a:cxn>
                  <a:cxn ang="0">
                    <a:pos x="connsiteX2" y="connsiteY2"/>
                  </a:cxn>
                  <a:cxn ang="0">
                    <a:pos x="connsiteX3" y="connsiteY3"/>
                  </a:cxn>
                </a:cxnLst>
                <a:rect l="l" t="t" r="r" b="b"/>
                <a:pathLst>
                  <a:path w="59606" h="59606">
                    <a:moveTo>
                      <a:pt x="0" y="0"/>
                    </a:moveTo>
                    <a:lnTo>
                      <a:pt x="59606" y="0"/>
                    </a:lnTo>
                    <a:lnTo>
                      <a:pt x="59606" y="59606"/>
                    </a:lnTo>
                    <a:lnTo>
                      <a:pt x="0" y="59606"/>
                    </a:lnTo>
                    <a:close/>
                  </a:path>
                </a:pathLst>
              </a:custGeom>
              <a:noFill/>
              <a:ln w="9918" cap="flat">
                <a:solidFill>
                  <a:srgbClr val="C82930"/>
                </a:solidFill>
                <a:prstDash val="solid"/>
                <a:miter/>
              </a:ln>
            </p:spPr>
            <p:txBody>
              <a:bodyPr rtlCol="0" anchor="ctr"/>
              <a:lstStyle/>
              <a:p>
                <a:endParaRPr lang="en-IN"/>
              </a:p>
            </p:txBody>
          </p:sp>
          <p:sp>
            <p:nvSpPr>
              <p:cNvPr id="44" name="TextBox 43">
                <a:extLst>
                  <a:ext uri="{FF2B5EF4-FFF2-40B4-BE49-F238E27FC236}">
                    <a16:creationId xmlns:a16="http://schemas.microsoft.com/office/drawing/2014/main" id="{20154F9E-5659-C783-50FE-992FEA31BAD7}"/>
                  </a:ext>
                </a:extLst>
              </p:cNvPr>
              <p:cNvSpPr txBox="1"/>
              <p:nvPr/>
            </p:nvSpPr>
            <p:spPr>
              <a:xfrm>
                <a:off x="6272788" y="4876066"/>
                <a:ext cx="1673037" cy="250390"/>
              </a:xfrm>
              <a:prstGeom prst="rect">
                <a:avLst/>
              </a:prstGeom>
              <a:noFill/>
            </p:spPr>
            <p:txBody>
              <a:bodyPr wrap="none" rtlCol="0">
                <a:spAutoFit/>
              </a:bodyPr>
              <a:lstStyle/>
              <a:p>
                <a:pPr algn="l"/>
                <a:r>
                  <a:rPr lang="en-IN" sz="1050" spc="0" baseline="0">
                    <a:ln/>
                    <a:solidFill>
                      <a:srgbClr val="000000"/>
                    </a:solidFill>
                    <a:latin typeface="Arial"/>
                    <a:cs typeface="Arial"/>
                    <a:sym typeface="Arial"/>
                    <a:rtl val="0"/>
                  </a:rPr>
                  <a:t>modeOfPayment: String</a:t>
                </a:r>
              </a:p>
            </p:txBody>
          </p:sp>
          <p:sp>
            <p:nvSpPr>
              <p:cNvPr id="45" name="Freeform: Shape 44">
                <a:extLst>
                  <a:ext uri="{FF2B5EF4-FFF2-40B4-BE49-F238E27FC236}">
                    <a16:creationId xmlns:a16="http://schemas.microsoft.com/office/drawing/2014/main" id="{733B333C-0B98-2554-B041-C24B7F2D61DB}"/>
                  </a:ext>
                </a:extLst>
              </p:cNvPr>
              <p:cNvSpPr/>
              <p:nvPr/>
            </p:nvSpPr>
            <p:spPr>
              <a:xfrm>
                <a:off x="6175475" y="5123474"/>
                <a:ext cx="1867663" cy="9934"/>
              </a:xfrm>
              <a:custGeom>
                <a:avLst/>
                <a:gdLst>
                  <a:gd name="connsiteX0" fmla="*/ 0 w 1867663"/>
                  <a:gd name="connsiteY0" fmla="*/ 0 h 9934"/>
                  <a:gd name="connsiteX1" fmla="*/ 1867664 w 1867663"/>
                  <a:gd name="connsiteY1" fmla="*/ 0 h 9934"/>
                </a:gdLst>
                <a:ahLst/>
                <a:cxnLst>
                  <a:cxn ang="0">
                    <a:pos x="connsiteX0" y="connsiteY0"/>
                  </a:cxn>
                  <a:cxn ang="0">
                    <a:pos x="connsiteX1" y="connsiteY1"/>
                  </a:cxn>
                </a:cxnLst>
                <a:rect l="l" t="t" r="r" b="b"/>
                <a:pathLst>
                  <a:path w="1867663" h="9934">
                    <a:moveTo>
                      <a:pt x="0" y="0"/>
                    </a:moveTo>
                    <a:lnTo>
                      <a:pt x="1867664" y="0"/>
                    </a:lnTo>
                  </a:path>
                </a:pathLst>
              </a:custGeom>
              <a:ln w="4959" cap="flat">
                <a:solidFill>
                  <a:srgbClr val="181818"/>
                </a:solidFill>
                <a:prstDash val="solid"/>
                <a:miter/>
              </a:ln>
            </p:spPr>
            <p:txBody>
              <a:bodyPr rtlCol="0" anchor="ctr"/>
              <a:lstStyle/>
              <a:p>
                <a:endParaRPr lang="en-IN"/>
              </a:p>
            </p:txBody>
          </p:sp>
        </p:grpSp>
        <p:grpSp>
          <p:nvGrpSpPr>
            <p:cNvPr id="46" name="Graphic 24" descr="ClassDiagram">
              <a:extLst>
                <a:ext uri="{FF2B5EF4-FFF2-40B4-BE49-F238E27FC236}">
                  <a16:creationId xmlns:a16="http://schemas.microsoft.com/office/drawing/2014/main" id="{16500154-49F5-2852-2FBB-BB8DFEEFA8D3}"/>
                </a:ext>
              </a:extLst>
            </p:cNvPr>
            <p:cNvGrpSpPr/>
            <p:nvPr/>
          </p:nvGrpSpPr>
          <p:grpSpPr>
            <a:xfrm>
              <a:off x="6990094" y="1867172"/>
              <a:ext cx="2861101" cy="1127435"/>
              <a:chOff x="6990094" y="1867172"/>
              <a:chExt cx="2861101" cy="1127435"/>
            </a:xfrm>
          </p:grpSpPr>
          <p:sp>
            <p:nvSpPr>
              <p:cNvPr id="47" name="Freeform: Shape 46">
                <a:extLst>
                  <a:ext uri="{FF2B5EF4-FFF2-40B4-BE49-F238E27FC236}">
                    <a16:creationId xmlns:a16="http://schemas.microsoft.com/office/drawing/2014/main" id="{FDEFB469-7152-8FAD-F962-3A6CB49DAC0B}"/>
                  </a:ext>
                </a:extLst>
              </p:cNvPr>
              <p:cNvSpPr/>
              <p:nvPr/>
            </p:nvSpPr>
            <p:spPr>
              <a:xfrm>
                <a:off x="6990094" y="1867172"/>
                <a:ext cx="2861101" cy="1124452"/>
              </a:xfrm>
              <a:custGeom>
                <a:avLst/>
                <a:gdLst>
                  <a:gd name="connsiteX0" fmla="*/ 2846796 w 2861101"/>
                  <a:gd name="connsiteY0" fmla="*/ 0 h 1124452"/>
                  <a:gd name="connsiteX1" fmla="*/ 2861102 w 2861101"/>
                  <a:gd name="connsiteY1" fmla="*/ 22489 h 1124452"/>
                  <a:gd name="connsiteX2" fmla="*/ 2861102 w 2861101"/>
                  <a:gd name="connsiteY2" fmla="*/ 1101964 h 1124452"/>
                  <a:gd name="connsiteX3" fmla="*/ 2846796 w 2861101"/>
                  <a:gd name="connsiteY3" fmla="*/ 1124453 h 1124452"/>
                  <a:gd name="connsiteX4" fmla="*/ 14305 w 2861101"/>
                  <a:gd name="connsiteY4" fmla="*/ 1124453 h 1124452"/>
                  <a:gd name="connsiteX5" fmla="*/ 0 w 2861101"/>
                  <a:gd name="connsiteY5" fmla="*/ 1101964 h 1124452"/>
                  <a:gd name="connsiteX6" fmla="*/ 0 w 2861101"/>
                  <a:gd name="connsiteY6" fmla="*/ 22489 h 1124452"/>
                  <a:gd name="connsiteX7" fmla="*/ 14305 w 2861101"/>
                  <a:gd name="connsiteY7" fmla="*/ 0 h 11244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61101" h="1124452">
                    <a:moveTo>
                      <a:pt x="2846796" y="0"/>
                    </a:moveTo>
                    <a:cubicBezTo>
                      <a:pt x="2854697" y="0"/>
                      <a:pt x="2861102" y="10069"/>
                      <a:pt x="2861102" y="22489"/>
                    </a:cubicBezTo>
                    <a:lnTo>
                      <a:pt x="2861102" y="1101964"/>
                    </a:lnTo>
                    <a:cubicBezTo>
                      <a:pt x="2861102" y="1114384"/>
                      <a:pt x="2854697" y="1124453"/>
                      <a:pt x="2846796" y="1124453"/>
                    </a:cubicBezTo>
                    <a:lnTo>
                      <a:pt x="14305" y="1124453"/>
                    </a:lnTo>
                    <a:cubicBezTo>
                      <a:pt x="6405" y="1124453"/>
                      <a:pt x="0" y="1114384"/>
                      <a:pt x="0" y="1101964"/>
                    </a:cubicBezTo>
                    <a:lnTo>
                      <a:pt x="0" y="22489"/>
                    </a:lnTo>
                    <a:cubicBezTo>
                      <a:pt x="0" y="10069"/>
                      <a:pt x="6405" y="0"/>
                      <a:pt x="14305" y="0"/>
                    </a:cubicBezTo>
                    <a:close/>
                  </a:path>
                </a:pathLst>
              </a:custGeom>
              <a:solidFill>
                <a:srgbClr val="F1F1F1"/>
              </a:solidFill>
              <a:ln w="4959" cap="flat">
                <a:solidFill>
                  <a:srgbClr val="181818"/>
                </a:solidFill>
                <a:prstDash val="solid"/>
                <a:miter/>
              </a:ln>
            </p:spPr>
            <p:txBody>
              <a:bodyPr rtlCol="0" anchor="ctr"/>
              <a:lstStyle/>
              <a:p>
                <a:endParaRPr lang="en-IN"/>
              </a:p>
            </p:txBody>
          </p:sp>
          <p:sp>
            <p:nvSpPr>
              <p:cNvPr id="48" name="Freeform: Shape 47">
                <a:extLst>
                  <a:ext uri="{FF2B5EF4-FFF2-40B4-BE49-F238E27FC236}">
                    <a16:creationId xmlns:a16="http://schemas.microsoft.com/office/drawing/2014/main" id="{695FC3AD-B87D-5351-2349-9CE9C1A413C9}"/>
                  </a:ext>
                </a:extLst>
              </p:cNvPr>
              <p:cNvSpPr/>
              <p:nvPr/>
            </p:nvSpPr>
            <p:spPr>
              <a:xfrm>
                <a:off x="7712820" y="1916844"/>
                <a:ext cx="218556" cy="218556"/>
              </a:xfrm>
              <a:custGeom>
                <a:avLst/>
                <a:gdLst>
                  <a:gd name="connsiteX0" fmla="*/ 218556 w 218556"/>
                  <a:gd name="connsiteY0" fmla="*/ 109278 h 218556"/>
                  <a:gd name="connsiteX1" fmla="*/ 109278 w 218556"/>
                  <a:gd name="connsiteY1" fmla="*/ 218556 h 218556"/>
                  <a:gd name="connsiteX2" fmla="*/ 0 w 218556"/>
                  <a:gd name="connsiteY2" fmla="*/ 109278 h 218556"/>
                  <a:gd name="connsiteX3" fmla="*/ 109278 w 218556"/>
                  <a:gd name="connsiteY3" fmla="*/ 0 h 218556"/>
                  <a:gd name="connsiteX4" fmla="*/ 218556 w 218556"/>
                  <a:gd name="connsiteY4" fmla="*/ 109278 h 2185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8556" h="218556">
                    <a:moveTo>
                      <a:pt x="218556" y="109278"/>
                    </a:moveTo>
                    <a:cubicBezTo>
                      <a:pt x="218556" y="169631"/>
                      <a:pt x="169631" y="218556"/>
                      <a:pt x="109278" y="218556"/>
                    </a:cubicBezTo>
                    <a:cubicBezTo>
                      <a:pt x="48925" y="218556"/>
                      <a:pt x="0" y="169631"/>
                      <a:pt x="0" y="109278"/>
                    </a:cubicBezTo>
                    <a:cubicBezTo>
                      <a:pt x="0" y="48926"/>
                      <a:pt x="48925" y="0"/>
                      <a:pt x="109278" y="0"/>
                    </a:cubicBezTo>
                    <a:cubicBezTo>
                      <a:pt x="169631" y="0"/>
                      <a:pt x="218556" y="48926"/>
                      <a:pt x="218556" y="109278"/>
                    </a:cubicBezTo>
                    <a:close/>
                  </a:path>
                </a:pathLst>
              </a:custGeom>
              <a:solidFill>
                <a:srgbClr val="ADD1B2"/>
              </a:solidFill>
              <a:ln w="9918" cap="flat">
                <a:solidFill>
                  <a:srgbClr val="181818"/>
                </a:solidFill>
                <a:prstDash val="solid"/>
                <a:miter/>
              </a:ln>
            </p:spPr>
            <p:txBody>
              <a:bodyPr rtlCol="0" anchor="ctr"/>
              <a:lstStyle/>
              <a:p>
                <a:endParaRPr lang="en-IN"/>
              </a:p>
            </p:txBody>
          </p:sp>
          <p:sp>
            <p:nvSpPr>
              <p:cNvPr id="49" name="Freeform: Shape 48">
                <a:extLst>
                  <a:ext uri="{FF2B5EF4-FFF2-40B4-BE49-F238E27FC236}">
                    <a16:creationId xmlns:a16="http://schemas.microsoft.com/office/drawing/2014/main" id="{7520A903-732A-36EE-C690-F5C3D7E7C15F}"/>
                  </a:ext>
                </a:extLst>
              </p:cNvPr>
              <p:cNvSpPr/>
              <p:nvPr/>
            </p:nvSpPr>
            <p:spPr>
              <a:xfrm>
                <a:off x="7775069" y="1960307"/>
                <a:ext cx="76524" cy="127750"/>
              </a:xfrm>
              <a:custGeom>
                <a:avLst/>
                <a:gdLst>
                  <a:gd name="connsiteX0" fmla="*/ 76524 w 76524"/>
                  <a:gd name="connsiteY0" fmla="*/ 121851 h 127750"/>
                  <a:gd name="connsiteX1" fmla="*/ 64414 w 76524"/>
                  <a:gd name="connsiteY1" fmla="*/ 126197 h 127750"/>
                  <a:gd name="connsiteX2" fmla="*/ 51063 w 76524"/>
                  <a:gd name="connsiteY2" fmla="*/ 127750 h 127750"/>
                  <a:gd name="connsiteX3" fmla="*/ 13034 w 76524"/>
                  <a:gd name="connsiteY3" fmla="*/ 111452 h 127750"/>
                  <a:gd name="connsiteX4" fmla="*/ 0 w 76524"/>
                  <a:gd name="connsiteY4" fmla="*/ 63953 h 127750"/>
                  <a:gd name="connsiteX5" fmla="*/ 13034 w 76524"/>
                  <a:gd name="connsiteY5" fmla="*/ 16454 h 127750"/>
                  <a:gd name="connsiteX6" fmla="*/ 51063 w 76524"/>
                  <a:gd name="connsiteY6" fmla="*/ 0 h 127750"/>
                  <a:gd name="connsiteX7" fmla="*/ 64414 w 76524"/>
                  <a:gd name="connsiteY7" fmla="*/ 1553 h 127750"/>
                  <a:gd name="connsiteX8" fmla="*/ 76524 w 76524"/>
                  <a:gd name="connsiteY8" fmla="*/ 6054 h 127750"/>
                  <a:gd name="connsiteX9" fmla="*/ 76524 w 76524"/>
                  <a:gd name="connsiteY9" fmla="*/ 33063 h 127750"/>
                  <a:gd name="connsiteX10" fmla="*/ 64414 w 76524"/>
                  <a:gd name="connsiteY10" fmla="*/ 24681 h 127750"/>
                  <a:gd name="connsiteX11" fmla="*/ 52305 w 76524"/>
                  <a:gd name="connsiteY11" fmla="*/ 21886 h 127750"/>
                  <a:gd name="connsiteX12" fmla="*/ 32128 w 76524"/>
                  <a:gd name="connsiteY12" fmla="*/ 32598 h 127750"/>
                  <a:gd name="connsiteX13" fmla="*/ 25303 w 76524"/>
                  <a:gd name="connsiteY13" fmla="*/ 63953 h 127750"/>
                  <a:gd name="connsiteX14" fmla="*/ 32128 w 76524"/>
                  <a:gd name="connsiteY14" fmla="*/ 95463 h 127750"/>
                  <a:gd name="connsiteX15" fmla="*/ 52305 w 76524"/>
                  <a:gd name="connsiteY15" fmla="*/ 106019 h 127750"/>
                  <a:gd name="connsiteX16" fmla="*/ 64414 w 76524"/>
                  <a:gd name="connsiteY16" fmla="*/ 103380 h 127750"/>
                  <a:gd name="connsiteX17" fmla="*/ 76524 w 76524"/>
                  <a:gd name="connsiteY17" fmla="*/ 94843 h 127750"/>
                  <a:gd name="connsiteX18" fmla="*/ 76524 w 76524"/>
                  <a:gd name="connsiteY18" fmla="*/ 121851 h 127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76524" h="127750">
                    <a:moveTo>
                      <a:pt x="76524" y="121851"/>
                    </a:moveTo>
                    <a:cubicBezTo>
                      <a:pt x="72690" y="123817"/>
                      <a:pt x="68656" y="125267"/>
                      <a:pt x="64414" y="126197"/>
                    </a:cubicBezTo>
                    <a:cubicBezTo>
                      <a:pt x="60172" y="127233"/>
                      <a:pt x="55722" y="127750"/>
                      <a:pt x="51063" y="127750"/>
                    </a:cubicBezTo>
                    <a:cubicBezTo>
                      <a:pt x="34512" y="127750"/>
                      <a:pt x="21836" y="122317"/>
                      <a:pt x="13034" y="111452"/>
                    </a:cubicBezTo>
                    <a:cubicBezTo>
                      <a:pt x="4341" y="100482"/>
                      <a:pt x="0" y="84649"/>
                      <a:pt x="0" y="63953"/>
                    </a:cubicBezTo>
                    <a:cubicBezTo>
                      <a:pt x="0" y="43256"/>
                      <a:pt x="4341" y="27423"/>
                      <a:pt x="13034" y="16454"/>
                    </a:cubicBezTo>
                    <a:cubicBezTo>
                      <a:pt x="21836" y="5485"/>
                      <a:pt x="34512" y="0"/>
                      <a:pt x="51063" y="0"/>
                    </a:cubicBezTo>
                    <a:cubicBezTo>
                      <a:pt x="55722" y="0"/>
                      <a:pt x="60172" y="518"/>
                      <a:pt x="64414" y="1553"/>
                    </a:cubicBezTo>
                    <a:cubicBezTo>
                      <a:pt x="68766" y="2587"/>
                      <a:pt x="72799" y="4088"/>
                      <a:pt x="76524" y="6054"/>
                    </a:cubicBezTo>
                    <a:lnTo>
                      <a:pt x="76524" y="33063"/>
                    </a:lnTo>
                    <a:cubicBezTo>
                      <a:pt x="72382" y="29234"/>
                      <a:pt x="68348" y="26440"/>
                      <a:pt x="64414" y="24681"/>
                    </a:cubicBezTo>
                    <a:cubicBezTo>
                      <a:pt x="60480" y="22818"/>
                      <a:pt x="56447" y="21886"/>
                      <a:pt x="52305" y="21886"/>
                    </a:cubicBezTo>
                    <a:cubicBezTo>
                      <a:pt x="43403" y="21886"/>
                      <a:pt x="36678" y="25457"/>
                      <a:pt x="32128" y="32598"/>
                    </a:cubicBezTo>
                    <a:cubicBezTo>
                      <a:pt x="27578" y="39634"/>
                      <a:pt x="25303" y="50086"/>
                      <a:pt x="25303" y="63953"/>
                    </a:cubicBezTo>
                    <a:cubicBezTo>
                      <a:pt x="25303" y="77820"/>
                      <a:pt x="27578" y="88324"/>
                      <a:pt x="32128" y="95463"/>
                    </a:cubicBezTo>
                    <a:cubicBezTo>
                      <a:pt x="36678" y="102500"/>
                      <a:pt x="43403" y="106019"/>
                      <a:pt x="52305" y="106019"/>
                    </a:cubicBezTo>
                    <a:cubicBezTo>
                      <a:pt x="56447" y="106019"/>
                      <a:pt x="60480" y="105140"/>
                      <a:pt x="64414" y="103380"/>
                    </a:cubicBezTo>
                    <a:cubicBezTo>
                      <a:pt x="68348" y="101517"/>
                      <a:pt x="72382" y="98671"/>
                      <a:pt x="76524" y="94843"/>
                    </a:cubicBezTo>
                    <a:lnTo>
                      <a:pt x="76524" y="121851"/>
                    </a:lnTo>
                    <a:close/>
                  </a:path>
                </a:pathLst>
              </a:custGeom>
              <a:solidFill>
                <a:srgbClr val="000000"/>
              </a:solidFill>
              <a:ln w="9918" cap="flat">
                <a:noFill/>
                <a:prstDash val="solid"/>
                <a:miter/>
              </a:ln>
            </p:spPr>
            <p:txBody>
              <a:bodyPr rtlCol="0" anchor="ctr"/>
              <a:lstStyle/>
              <a:p>
                <a:endParaRPr lang="en-IN"/>
              </a:p>
            </p:txBody>
          </p:sp>
          <p:sp>
            <p:nvSpPr>
              <p:cNvPr id="50" name="TextBox 49">
                <a:extLst>
                  <a:ext uri="{FF2B5EF4-FFF2-40B4-BE49-F238E27FC236}">
                    <a16:creationId xmlns:a16="http://schemas.microsoft.com/office/drawing/2014/main" id="{24A0FC3E-8CBA-28CD-B2DA-8A4D28F9A0B6}"/>
                  </a:ext>
                </a:extLst>
              </p:cNvPr>
              <p:cNvSpPr txBox="1"/>
              <p:nvPr/>
            </p:nvSpPr>
            <p:spPr>
              <a:xfrm>
                <a:off x="7934313" y="1899404"/>
                <a:ext cx="1196186" cy="250390"/>
              </a:xfrm>
              <a:prstGeom prst="rect">
                <a:avLst/>
              </a:prstGeom>
              <a:noFill/>
            </p:spPr>
            <p:txBody>
              <a:bodyPr wrap="none" rtlCol="0">
                <a:spAutoFit/>
              </a:bodyPr>
              <a:lstStyle/>
              <a:p>
                <a:pPr algn="l"/>
                <a:r>
                  <a:rPr lang="en-IN" sz="1050" spc="0" baseline="0">
                    <a:ln/>
                    <a:solidFill>
                      <a:srgbClr val="000000"/>
                    </a:solidFill>
                    <a:latin typeface="Arial"/>
                    <a:cs typeface="Arial"/>
                    <a:sym typeface="Arial"/>
                    <a:rtl val="0"/>
                  </a:rPr>
                  <a:t>ExpenseTracker</a:t>
                </a:r>
              </a:p>
            </p:txBody>
          </p:sp>
          <p:sp>
            <p:nvSpPr>
              <p:cNvPr id="51" name="Freeform: Shape 50">
                <a:extLst>
                  <a:ext uri="{FF2B5EF4-FFF2-40B4-BE49-F238E27FC236}">
                    <a16:creationId xmlns:a16="http://schemas.microsoft.com/office/drawing/2014/main" id="{92D401EB-AE83-5B8E-17B3-A5BA0E52E937}"/>
                  </a:ext>
                </a:extLst>
              </p:cNvPr>
              <p:cNvSpPr/>
              <p:nvPr/>
            </p:nvSpPr>
            <p:spPr>
              <a:xfrm>
                <a:off x="7000028" y="2185072"/>
                <a:ext cx="2841233" cy="9934"/>
              </a:xfrm>
              <a:custGeom>
                <a:avLst/>
                <a:gdLst>
                  <a:gd name="connsiteX0" fmla="*/ 0 w 2841233"/>
                  <a:gd name="connsiteY0" fmla="*/ 0 h 9934"/>
                  <a:gd name="connsiteX1" fmla="*/ 2841233 w 2841233"/>
                  <a:gd name="connsiteY1" fmla="*/ 0 h 9934"/>
                </a:gdLst>
                <a:ahLst/>
                <a:cxnLst>
                  <a:cxn ang="0">
                    <a:pos x="connsiteX0" y="connsiteY0"/>
                  </a:cxn>
                  <a:cxn ang="0">
                    <a:pos x="connsiteX1" y="connsiteY1"/>
                  </a:cxn>
                </a:cxnLst>
                <a:rect l="l" t="t" r="r" b="b"/>
                <a:pathLst>
                  <a:path w="2841233" h="9934">
                    <a:moveTo>
                      <a:pt x="0" y="0"/>
                    </a:moveTo>
                    <a:lnTo>
                      <a:pt x="2841233" y="0"/>
                    </a:lnTo>
                  </a:path>
                </a:pathLst>
              </a:custGeom>
              <a:ln w="4959" cap="flat">
                <a:solidFill>
                  <a:srgbClr val="181818"/>
                </a:solidFill>
                <a:prstDash val="solid"/>
                <a:miter/>
              </a:ln>
            </p:spPr>
            <p:txBody>
              <a:bodyPr rtlCol="0" anchor="ctr"/>
              <a:lstStyle/>
              <a:p>
                <a:endParaRPr lang="en-IN"/>
              </a:p>
            </p:txBody>
          </p:sp>
          <p:sp>
            <p:nvSpPr>
              <p:cNvPr id="52" name="Freeform: Shape 51">
                <a:extLst>
                  <a:ext uri="{FF2B5EF4-FFF2-40B4-BE49-F238E27FC236}">
                    <a16:creationId xmlns:a16="http://schemas.microsoft.com/office/drawing/2014/main" id="{7E58D96A-EBDC-D5D8-2EF5-4C11E846E35C}"/>
                  </a:ext>
                </a:extLst>
              </p:cNvPr>
              <p:cNvSpPr/>
              <p:nvPr/>
            </p:nvSpPr>
            <p:spPr>
              <a:xfrm>
                <a:off x="7069569" y="2290858"/>
                <a:ext cx="59606" cy="59606"/>
              </a:xfrm>
              <a:custGeom>
                <a:avLst/>
                <a:gdLst>
                  <a:gd name="connsiteX0" fmla="*/ 0 w 59606"/>
                  <a:gd name="connsiteY0" fmla="*/ 0 h 59606"/>
                  <a:gd name="connsiteX1" fmla="*/ 59606 w 59606"/>
                  <a:gd name="connsiteY1" fmla="*/ 0 h 59606"/>
                  <a:gd name="connsiteX2" fmla="*/ 59606 w 59606"/>
                  <a:gd name="connsiteY2" fmla="*/ 59606 h 59606"/>
                  <a:gd name="connsiteX3" fmla="*/ 0 w 59606"/>
                  <a:gd name="connsiteY3" fmla="*/ 59606 h 59606"/>
                </a:gdLst>
                <a:ahLst/>
                <a:cxnLst>
                  <a:cxn ang="0">
                    <a:pos x="connsiteX0" y="connsiteY0"/>
                  </a:cxn>
                  <a:cxn ang="0">
                    <a:pos x="connsiteX1" y="connsiteY1"/>
                  </a:cxn>
                  <a:cxn ang="0">
                    <a:pos x="connsiteX2" y="connsiteY2"/>
                  </a:cxn>
                  <a:cxn ang="0">
                    <a:pos x="connsiteX3" y="connsiteY3"/>
                  </a:cxn>
                </a:cxnLst>
                <a:rect l="l" t="t" r="r" b="b"/>
                <a:pathLst>
                  <a:path w="59606" h="59606">
                    <a:moveTo>
                      <a:pt x="0" y="0"/>
                    </a:moveTo>
                    <a:lnTo>
                      <a:pt x="59606" y="0"/>
                    </a:lnTo>
                    <a:lnTo>
                      <a:pt x="59606" y="59606"/>
                    </a:lnTo>
                    <a:lnTo>
                      <a:pt x="0" y="59606"/>
                    </a:lnTo>
                    <a:close/>
                  </a:path>
                </a:pathLst>
              </a:custGeom>
              <a:noFill/>
              <a:ln w="9918" cap="flat">
                <a:solidFill>
                  <a:srgbClr val="C82930"/>
                </a:solidFill>
                <a:prstDash val="solid"/>
                <a:miter/>
              </a:ln>
            </p:spPr>
            <p:txBody>
              <a:bodyPr rtlCol="0" anchor="ctr"/>
              <a:lstStyle/>
              <a:p>
                <a:endParaRPr lang="en-IN"/>
              </a:p>
            </p:txBody>
          </p:sp>
          <p:sp>
            <p:nvSpPr>
              <p:cNvPr id="53" name="TextBox 52">
                <a:extLst>
                  <a:ext uri="{FF2B5EF4-FFF2-40B4-BE49-F238E27FC236}">
                    <a16:creationId xmlns:a16="http://schemas.microsoft.com/office/drawing/2014/main" id="{A9848D29-CAB9-B0EB-3804-2E0835E7AD7B}"/>
                  </a:ext>
                </a:extLst>
              </p:cNvPr>
              <p:cNvSpPr txBox="1"/>
              <p:nvPr/>
            </p:nvSpPr>
            <p:spPr>
              <a:xfrm>
                <a:off x="7097341" y="2179041"/>
                <a:ext cx="1772380" cy="250390"/>
              </a:xfrm>
              <a:prstGeom prst="rect">
                <a:avLst/>
              </a:prstGeom>
              <a:noFill/>
            </p:spPr>
            <p:txBody>
              <a:bodyPr wrap="none" rtlCol="0">
                <a:spAutoFit/>
              </a:bodyPr>
              <a:lstStyle/>
              <a:p>
                <a:pPr algn="l"/>
                <a:r>
                  <a:rPr lang="en-IN" sz="1050" spc="0" baseline="0">
                    <a:ln/>
                    <a:solidFill>
                      <a:srgbClr val="000000"/>
                    </a:solidFill>
                    <a:latin typeface="Arial"/>
                    <a:cs typeface="Arial"/>
                    <a:sym typeface="Arial"/>
                    <a:rtl val="0"/>
                  </a:rPr>
                  <a:t>expenses: List&lt;Expense&gt;</a:t>
                </a:r>
              </a:p>
            </p:txBody>
          </p:sp>
          <p:sp>
            <p:nvSpPr>
              <p:cNvPr id="54" name="Freeform: Shape 53">
                <a:extLst>
                  <a:ext uri="{FF2B5EF4-FFF2-40B4-BE49-F238E27FC236}">
                    <a16:creationId xmlns:a16="http://schemas.microsoft.com/office/drawing/2014/main" id="{31B2B8E3-8249-E04A-087D-BE4C04E7E63B}"/>
                  </a:ext>
                </a:extLst>
              </p:cNvPr>
              <p:cNvSpPr/>
              <p:nvPr/>
            </p:nvSpPr>
            <p:spPr>
              <a:xfrm>
                <a:off x="7000028" y="2426447"/>
                <a:ext cx="2841233" cy="9934"/>
              </a:xfrm>
              <a:custGeom>
                <a:avLst/>
                <a:gdLst>
                  <a:gd name="connsiteX0" fmla="*/ 0 w 2841233"/>
                  <a:gd name="connsiteY0" fmla="*/ 0 h 9934"/>
                  <a:gd name="connsiteX1" fmla="*/ 2841233 w 2841233"/>
                  <a:gd name="connsiteY1" fmla="*/ 0 h 9934"/>
                </a:gdLst>
                <a:ahLst/>
                <a:cxnLst>
                  <a:cxn ang="0">
                    <a:pos x="connsiteX0" y="connsiteY0"/>
                  </a:cxn>
                  <a:cxn ang="0">
                    <a:pos x="connsiteX1" y="connsiteY1"/>
                  </a:cxn>
                </a:cxnLst>
                <a:rect l="l" t="t" r="r" b="b"/>
                <a:pathLst>
                  <a:path w="2841233" h="9934">
                    <a:moveTo>
                      <a:pt x="0" y="0"/>
                    </a:moveTo>
                    <a:lnTo>
                      <a:pt x="2841233" y="0"/>
                    </a:lnTo>
                  </a:path>
                </a:pathLst>
              </a:custGeom>
              <a:ln w="4959" cap="flat">
                <a:solidFill>
                  <a:srgbClr val="181818"/>
                </a:solidFill>
                <a:prstDash val="solid"/>
                <a:miter/>
              </a:ln>
            </p:spPr>
            <p:txBody>
              <a:bodyPr rtlCol="0" anchor="ctr"/>
              <a:lstStyle/>
              <a:p>
                <a:endParaRPr lang="en-IN"/>
              </a:p>
            </p:txBody>
          </p:sp>
          <p:sp>
            <p:nvSpPr>
              <p:cNvPr id="55" name="Freeform: Shape 54">
                <a:extLst>
                  <a:ext uri="{FF2B5EF4-FFF2-40B4-BE49-F238E27FC236}">
                    <a16:creationId xmlns:a16="http://schemas.microsoft.com/office/drawing/2014/main" id="{7BDC97D2-DB34-6974-EF69-D232D7015C2C}"/>
                  </a:ext>
                </a:extLst>
              </p:cNvPr>
              <p:cNvSpPr/>
              <p:nvPr/>
            </p:nvSpPr>
            <p:spPr>
              <a:xfrm>
                <a:off x="7069569" y="2532232"/>
                <a:ext cx="59606" cy="59606"/>
              </a:xfrm>
              <a:custGeom>
                <a:avLst/>
                <a:gdLst>
                  <a:gd name="connsiteX0" fmla="*/ 59606 w 59606"/>
                  <a:gd name="connsiteY0" fmla="*/ 29803 h 59606"/>
                  <a:gd name="connsiteX1" fmla="*/ 29803 w 59606"/>
                  <a:gd name="connsiteY1" fmla="*/ 59606 h 59606"/>
                  <a:gd name="connsiteX2" fmla="*/ 0 w 59606"/>
                  <a:gd name="connsiteY2" fmla="*/ 29803 h 59606"/>
                  <a:gd name="connsiteX3" fmla="*/ 29803 w 59606"/>
                  <a:gd name="connsiteY3" fmla="*/ 0 h 59606"/>
                  <a:gd name="connsiteX4" fmla="*/ 59606 w 59606"/>
                  <a:gd name="connsiteY4" fmla="*/ 29803 h 596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606" h="59606">
                    <a:moveTo>
                      <a:pt x="59606" y="29803"/>
                    </a:moveTo>
                    <a:cubicBezTo>
                      <a:pt x="59606" y="46263"/>
                      <a:pt x="46263" y="59606"/>
                      <a:pt x="29803" y="59606"/>
                    </a:cubicBezTo>
                    <a:cubicBezTo>
                      <a:pt x="13343" y="59606"/>
                      <a:pt x="0" y="46263"/>
                      <a:pt x="0" y="29803"/>
                    </a:cubicBezTo>
                    <a:cubicBezTo>
                      <a:pt x="0" y="13343"/>
                      <a:pt x="13343" y="0"/>
                      <a:pt x="29803" y="0"/>
                    </a:cubicBezTo>
                    <a:cubicBezTo>
                      <a:pt x="46263" y="0"/>
                      <a:pt x="59606" y="13343"/>
                      <a:pt x="59606" y="29803"/>
                    </a:cubicBezTo>
                    <a:close/>
                  </a:path>
                </a:pathLst>
              </a:custGeom>
              <a:solidFill>
                <a:srgbClr val="84BE84"/>
              </a:solidFill>
              <a:ln w="9918" cap="flat">
                <a:solidFill>
                  <a:srgbClr val="038048"/>
                </a:solidFill>
                <a:prstDash val="solid"/>
                <a:miter/>
              </a:ln>
            </p:spPr>
            <p:txBody>
              <a:bodyPr rtlCol="0" anchor="ctr"/>
              <a:lstStyle/>
              <a:p>
                <a:endParaRPr lang="en-IN"/>
              </a:p>
            </p:txBody>
          </p:sp>
          <p:sp>
            <p:nvSpPr>
              <p:cNvPr id="56" name="TextBox 55">
                <a:extLst>
                  <a:ext uri="{FF2B5EF4-FFF2-40B4-BE49-F238E27FC236}">
                    <a16:creationId xmlns:a16="http://schemas.microsoft.com/office/drawing/2014/main" id="{D72EA02C-2B2C-9FE9-D0BA-BE703060FACF}"/>
                  </a:ext>
                </a:extLst>
              </p:cNvPr>
              <p:cNvSpPr txBox="1"/>
              <p:nvPr/>
            </p:nvSpPr>
            <p:spPr>
              <a:xfrm>
                <a:off x="7097341" y="2420416"/>
                <a:ext cx="2537328" cy="250390"/>
              </a:xfrm>
              <a:prstGeom prst="rect">
                <a:avLst/>
              </a:prstGeom>
              <a:noFill/>
            </p:spPr>
            <p:txBody>
              <a:bodyPr wrap="none" rtlCol="0">
                <a:spAutoFit/>
              </a:bodyPr>
              <a:lstStyle/>
              <a:p>
                <a:pPr algn="l"/>
                <a:r>
                  <a:rPr lang="en-IN" sz="1050" spc="0" baseline="0">
                    <a:ln/>
                    <a:solidFill>
                      <a:srgbClr val="000000"/>
                    </a:solidFill>
                    <a:latin typeface="Arial"/>
                    <a:cs typeface="Arial"/>
                    <a:sym typeface="Arial"/>
                    <a:rtl val="0"/>
                  </a:rPr>
                  <a:t>addExpense(expense: Expense): void</a:t>
                </a:r>
              </a:p>
            </p:txBody>
          </p:sp>
          <p:sp>
            <p:nvSpPr>
              <p:cNvPr id="57" name="Freeform: Shape 56">
                <a:extLst>
                  <a:ext uri="{FF2B5EF4-FFF2-40B4-BE49-F238E27FC236}">
                    <a16:creationId xmlns:a16="http://schemas.microsoft.com/office/drawing/2014/main" id="{1B7D2E61-021A-2491-1402-A797B4777D42}"/>
                  </a:ext>
                </a:extLst>
              </p:cNvPr>
              <p:cNvSpPr/>
              <p:nvPr/>
            </p:nvSpPr>
            <p:spPr>
              <a:xfrm>
                <a:off x="7069569" y="2694132"/>
                <a:ext cx="59606" cy="59606"/>
              </a:xfrm>
              <a:custGeom>
                <a:avLst/>
                <a:gdLst>
                  <a:gd name="connsiteX0" fmla="*/ 59606 w 59606"/>
                  <a:gd name="connsiteY0" fmla="*/ 29803 h 59606"/>
                  <a:gd name="connsiteX1" fmla="*/ 29803 w 59606"/>
                  <a:gd name="connsiteY1" fmla="*/ 59606 h 59606"/>
                  <a:gd name="connsiteX2" fmla="*/ 0 w 59606"/>
                  <a:gd name="connsiteY2" fmla="*/ 29803 h 59606"/>
                  <a:gd name="connsiteX3" fmla="*/ 29803 w 59606"/>
                  <a:gd name="connsiteY3" fmla="*/ 0 h 59606"/>
                  <a:gd name="connsiteX4" fmla="*/ 59606 w 59606"/>
                  <a:gd name="connsiteY4" fmla="*/ 29803 h 596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606" h="59606">
                    <a:moveTo>
                      <a:pt x="59606" y="29803"/>
                    </a:moveTo>
                    <a:cubicBezTo>
                      <a:pt x="59606" y="46263"/>
                      <a:pt x="46263" y="59606"/>
                      <a:pt x="29803" y="59606"/>
                    </a:cubicBezTo>
                    <a:cubicBezTo>
                      <a:pt x="13343" y="59606"/>
                      <a:pt x="0" y="46263"/>
                      <a:pt x="0" y="29803"/>
                    </a:cubicBezTo>
                    <a:cubicBezTo>
                      <a:pt x="0" y="13343"/>
                      <a:pt x="13343" y="0"/>
                      <a:pt x="29803" y="0"/>
                    </a:cubicBezTo>
                    <a:cubicBezTo>
                      <a:pt x="46263" y="0"/>
                      <a:pt x="59606" y="13343"/>
                      <a:pt x="59606" y="29803"/>
                    </a:cubicBezTo>
                    <a:close/>
                  </a:path>
                </a:pathLst>
              </a:custGeom>
              <a:solidFill>
                <a:srgbClr val="84BE84"/>
              </a:solidFill>
              <a:ln w="9918" cap="flat">
                <a:solidFill>
                  <a:srgbClr val="038048"/>
                </a:solidFill>
                <a:prstDash val="solid"/>
                <a:miter/>
              </a:ln>
            </p:spPr>
            <p:txBody>
              <a:bodyPr rtlCol="0" anchor="ctr"/>
              <a:lstStyle/>
              <a:p>
                <a:endParaRPr lang="en-IN"/>
              </a:p>
            </p:txBody>
          </p:sp>
          <p:sp>
            <p:nvSpPr>
              <p:cNvPr id="58" name="TextBox 57">
                <a:extLst>
                  <a:ext uri="{FF2B5EF4-FFF2-40B4-BE49-F238E27FC236}">
                    <a16:creationId xmlns:a16="http://schemas.microsoft.com/office/drawing/2014/main" id="{0707CE04-37EE-B196-7F9A-26379DB88EC5}"/>
                  </a:ext>
                </a:extLst>
              </p:cNvPr>
              <p:cNvSpPr txBox="1"/>
              <p:nvPr/>
            </p:nvSpPr>
            <p:spPr>
              <a:xfrm>
                <a:off x="7097341" y="2582315"/>
                <a:ext cx="2408181" cy="250390"/>
              </a:xfrm>
              <a:prstGeom prst="rect">
                <a:avLst/>
              </a:prstGeom>
              <a:noFill/>
            </p:spPr>
            <p:txBody>
              <a:bodyPr wrap="none" rtlCol="0">
                <a:spAutoFit/>
              </a:bodyPr>
              <a:lstStyle/>
              <a:p>
                <a:pPr algn="l"/>
                <a:r>
                  <a:rPr lang="en-IN" sz="1050" spc="0" baseline="0" dirty="0" err="1">
                    <a:ln/>
                    <a:solidFill>
                      <a:srgbClr val="000000"/>
                    </a:solidFill>
                    <a:latin typeface="Arial"/>
                    <a:cs typeface="Arial"/>
                    <a:sym typeface="Arial"/>
                    <a:rtl val="0"/>
                  </a:rPr>
                  <a:t>deleteExpense</a:t>
                </a:r>
                <a:r>
                  <a:rPr lang="en-IN" sz="1050" spc="0" baseline="0" dirty="0">
                    <a:ln/>
                    <a:solidFill>
                      <a:srgbClr val="000000"/>
                    </a:solidFill>
                    <a:latin typeface="Arial"/>
                    <a:cs typeface="Arial"/>
                    <a:sym typeface="Arial"/>
                    <a:rtl val="0"/>
                  </a:rPr>
                  <a:t>(</a:t>
                </a:r>
                <a:r>
                  <a:rPr lang="en-IN" sz="1050" spc="0" baseline="0" dirty="0" err="1">
                    <a:ln/>
                    <a:solidFill>
                      <a:srgbClr val="000000"/>
                    </a:solidFill>
                    <a:latin typeface="Arial"/>
                    <a:cs typeface="Arial"/>
                    <a:sym typeface="Arial"/>
                    <a:rtl val="0"/>
                  </a:rPr>
                  <a:t>expenseId</a:t>
                </a:r>
                <a:r>
                  <a:rPr lang="en-IN" sz="1050" spc="0" baseline="0" dirty="0">
                    <a:ln/>
                    <a:solidFill>
                      <a:srgbClr val="000000"/>
                    </a:solidFill>
                    <a:latin typeface="Arial"/>
                    <a:cs typeface="Arial"/>
                    <a:sym typeface="Arial"/>
                    <a:rtl val="0"/>
                  </a:rPr>
                  <a:t>: int): void</a:t>
                </a:r>
              </a:p>
            </p:txBody>
          </p:sp>
          <p:sp>
            <p:nvSpPr>
              <p:cNvPr id="59" name="Freeform: Shape 58">
                <a:extLst>
                  <a:ext uri="{FF2B5EF4-FFF2-40B4-BE49-F238E27FC236}">
                    <a16:creationId xmlns:a16="http://schemas.microsoft.com/office/drawing/2014/main" id="{1D969C10-4805-ED29-A68D-111EF2FD694C}"/>
                  </a:ext>
                </a:extLst>
              </p:cNvPr>
              <p:cNvSpPr/>
              <p:nvPr/>
            </p:nvSpPr>
            <p:spPr>
              <a:xfrm>
                <a:off x="7069569" y="2856031"/>
                <a:ext cx="59606" cy="59606"/>
              </a:xfrm>
              <a:custGeom>
                <a:avLst/>
                <a:gdLst>
                  <a:gd name="connsiteX0" fmla="*/ 59606 w 59606"/>
                  <a:gd name="connsiteY0" fmla="*/ 29803 h 59606"/>
                  <a:gd name="connsiteX1" fmla="*/ 29803 w 59606"/>
                  <a:gd name="connsiteY1" fmla="*/ 59606 h 59606"/>
                  <a:gd name="connsiteX2" fmla="*/ 0 w 59606"/>
                  <a:gd name="connsiteY2" fmla="*/ 29803 h 59606"/>
                  <a:gd name="connsiteX3" fmla="*/ 29803 w 59606"/>
                  <a:gd name="connsiteY3" fmla="*/ 0 h 59606"/>
                  <a:gd name="connsiteX4" fmla="*/ 59606 w 59606"/>
                  <a:gd name="connsiteY4" fmla="*/ 29803 h 596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606" h="59606">
                    <a:moveTo>
                      <a:pt x="59606" y="29803"/>
                    </a:moveTo>
                    <a:cubicBezTo>
                      <a:pt x="59606" y="46263"/>
                      <a:pt x="46263" y="59606"/>
                      <a:pt x="29803" y="59606"/>
                    </a:cubicBezTo>
                    <a:cubicBezTo>
                      <a:pt x="13343" y="59606"/>
                      <a:pt x="0" y="46263"/>
                      <a:pt x="0" y="29803"/>
                    </a:cubicBezTo>
                    <a:cubicBezTo>
                      <a:pt x="0" y="13343"/>
                      <a:pt x="13343" y="0"/>
                      <a:pt x="29803" y="0"/>
                    </a:cubicBezTo>
                    <a:cubicBezTo>
                      <a:pt x="46263" y="0"/>
                      <a:pt x="59606" y="13343"/>
                      <a:pt x="59606" y="29803"/>
                    </a:cubicBezTo>
                    <a:close/>
                  </a:path>
                </a:pathLst>
              </a:custGeom>
              <a:solidFill>
                <a:srgbClr val="84BE84"/>
              </a:solidFill>
              <a:ln w="9918" cap="flat">
                <a:solidFill>
                  <a:srgbClr val="038048"/>
                </a:solidFill>
                <a:prstDash val="solid"/>
                <a:miter/>
              </a:ln>
            </p:spPr>
            <p:txBody>
              <a:bodyPr rtlCol="0" anchor="ctr"/>
              <a:lstStyle/>
              <a:p>
                <a:endParaRPr lang="en-IN"/>
              </a:p>
            </p:txBody>
          </p:sp>
          <p:sp>
            <p:nvSpPr>
              <p:cNvPr id="60" name="TextBox 59">
                <a:extLst>
                  <a:ext uri="{FF2B5EF4-FFF2-40B4-BE49-F238E27FC236}">
                    <a16:creationId xmlns:a16="http://schemas.microsoft.com/office/drawing/2014/main" id="{B7CA5895-D466-0EFD-315B-D839F40935CD}"/>
                  </a:ext>
                </a:extLst>
              </p:cNvPr>
              <p:cNvSpPr txBox="1"/>
              <p:nvPr/>
            </p:nvSpPr>
            <p:spPr>
              <a:xfrm>
                <a:off x="7097341" y="2744217"/>
                <a:ext cx="2229362" cy="250390"/>
              </a:xfrm>
              <a:prstGeom prst="rect">
                <a:avLst/>
              </a:prstGeom>
              <a:noFill/>
            </p:spPr>
            <p:txBody>
              <a:bodyPr wrap="none" rtlCol="0">
                <a:spAutoFit/>
              </a:bodyPr>
              <a:lstStyle/>
              <a:p>
                <a:pPr algn="l"/>
                <a:r>
                  <a:rPr lang="en-IN" sz="1050" spc="0" baseline="0" dirty="0" err="1">
                    <a:ln/>
                    <a:solidFill>
                      <a:srgbClr val="000000"/>
                    </a:solidFill>
                    <a:latin typeface="Arial"/>
                    <a:cs typeface="Arial"/>
                    <a:sym typeface="Arial"/>
                    <a:rtl val="0"/>
                  </a:rPr>
                  <a:t>getAllExpenses</a:t>
                </a:r>
                <a:r>
                  <a:rPr lang="en-IN" sz="1050" spc="0" baseline="0" dirty="0">
                    <a:ln/>
                    <a:solidFill>
                      <a:srgbClr val="000000"/>
                    </a:solidFill>
                    <a:latin typeface="Arial"/>
                    <a:cs typeface="Arial"/>
                    <a:sym typeface="Arial"/>
                    <a:rtl val="0"/>
                  </a:rPr>
                  <a:t>(): List&lt;Expense&gt;</a:t>
                </a:r>
              </a:p>
            </p:txBody>
          </p:sp>
        </p:grpSp>
        <p:grpSp>
          <p:nvGrpSpPr>
            <p:cNvPr id="61" name="Graphic 24" descr="ClassDiagram">
              <a:extLst>
                <a:ext uri="{FF2B5EF4-FFF2-40B4-BE49-F238E27FC236}">
                  <a16:creationId xmlns:a16="http://schemas.microsoft.com/office/drawing/2014/main" id="{CAE4695E-61D3-8AFA-1940-8482A12CD1F6}"/>
                </a:ext>
              </a:extLst>
            </p:cNvPr>
            <p:cNvGrpSpPr/>
            <p:nvPr/>
          </p:nvGrpSpPr>
          <p:grpSpPr>
            <a:xfrm>
              <a:off x="8400776" y="3998097"/>
              <a:ext cx="2682282" cy="962548"/>
              <a:chOff x="8400776" y="3998097"/>
              <a:chExt cx="2682282" cy="962548"/>
            </a:xfrm>
          </p:grpSpPr>
          <p:sp>
            <p:nvSpPr>
              <p:cNvPr id="62" name="Freeform: Shape 61">
                <a:extLst>
                  <a:ext uri="{FF2B5EF4-FFF2-40B4-BE49-F238E27FC236}">
                    <a16:creationId xmlns:a16="http://schemas.microsoft.com/office/drawing/2014/main" id="{42D3DB83-8110-F319-BAA3-B74758E11CA7}"/>
                  </a:ext>
                </a:extLst>
              </p:cNvPr>
              <p:cNvSpPr/>
              <p:nvPr/>
            </p:nvSpPr>
            <p:spPr>
              <a:xfrm>
                <a:off x="8400776" y="3998097"/>
                <a:ext cx="2682282" cy="962548"/>
              </a:xfrm>
              <a:custGeom>
                <a:avLst/>
                <a:gdLst>
                  <a:gd name="connsiteX0" fmla="*/ 2668872 w 2682282"/>
                  <a:gd name="connsiteY0" fmla="*/ 0 h 962548"/>
                  <a:gd name="connsiteX1" fmla="*/ 2682283 w 2682282"/>
                  <a:gd name="connsiteY1" fmla="*/ 24064 h 962548"/>
                  <a:gd name="connsiteX2" fmla="*/ 2682283 w 2682282"/>
                  <a:gd name="connsiteY2" fmla="*/ 938484 h 962548"/>
                  <a:gd name="connsiteX3" fmla="*/ 2668872 w 2682282"/>
                  <a:gd name="connsiteY3" fmla="*/ 962548 h 962548"/>
                  <a:gd name="connsiteX4" fmla="*/ 13411 w 2682282"/>
                  <a:gd name="connsiteY4" fmla="*/ 962548 h 962548"/>
                  <a:gd name="connsiteX5" fmla="*/ 0 w 2682282"/>
                  <a:gd name="connsiteY5" fmla="*/ 938484 h 962548"/>
                  <a:gd name="connsiteX6" fmla="*/ 0 w 2682282"/>
                  <a:gd name="connsiteY6" fmla="*/ 24064 h 962548"/>
                  <a:gd name="connsiteX7" fmla="*/ 13411 w 2682282"/>
                  <a:gd name="connsiteY7" fmla="*/ 0 h 9625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82282" h="962548">
                    <a:moveTo>
                      <a:pt x="2668872" y="0"/>
                    </a:moveTo>
                    <a:cubicBezTo>
                      <a:pt x="2676278" y="0"/>
                      <a:pt x="2682283" y="10774"/>
                      <a:pt x="2682283" y="24064"/>
                    </a:cubicBezTo>
                    <a:lnTo>
                      <a:pt x="2682283" y="938484"/>
                    </a:lnTo>
                    <a:cubicBezTo>
                      <a:pt x="2682283" y="951774"/>
                      <a:pt x="2676279" y="962548"/>
                      <a:pt x="2668872" y="962548"/>
                    </a:cubicBezTo>
                    <a:lnTo>
                      <a:pt x="13411" y="962548"/>
                    </a:lnTo>
                    <a:cubicBezTo>
                      <a:pt x="6004" y="962548"/>
                      <a:pt x="0" y="951775"/>
                      <a:pt x="0" y="938484"/>
                    </a:cubicBezTo>
                    <a:lnTo>
                      <a:pt x="0" y="24064"/>
                    </a:lnTo>
                    <a:cubicBezTo>
                      <a:pt x="0" y="10774"/>
                      <a:pt x="6004" y="0"/>
                      <a:pt x="13411" y="0"/>
                    </a:cubicBezTo>
                    <a:close/>
                  </a:path>
                </a:pathLst>
              </a:custGeom>
              <a:solidFill>
                <a:srgbClr val="F1F1F1"/>
              </a:solidFill>
              <a:ln w="4959" cap="flat">
                <a:solidFill>
                  <a:srgbClr val="181818"/>
                </a:solidFill>
                <a:prstDash val="solid"/>
                <a:miter/>
              </a:ln>
            </p:spPr>
            <p:txBody>
              <a:bodyPr rtlCol="0" anchor="ctr"/>
              <a:lstStyle/>
              <a:p>
                <a:endParaRPr lang="en-IN"/>
              </a:p>
            </p:txBody>
          </p:sp>
          <p:sp>
            <p:nvSpPr>
              <p:cNvPr id="63" name="Freeform: Shape 62">
                <a:extLst>
                  <a:ext uri="{FF2B5EF4-FFF2-40B4-BE49-F238E27FC236}">
                    <a16:creationId xmlns:a16="http://schemas.microsoft.com/office/drawing/2014/main" id="{8DEAEE28-7924-5944-97F6-6EFD25B6656F}"/>
                  </a:ext>
                </a:extLst>
              </p:cNvPr>
              <p:cNvSpPr/>
              <p:nvPr/>
            </p:nvSpPr>
            <p:spPr>
              <a:xfrm>
                <a:off x="9337091" y="4047769"/>
                <a:ext cx="218556" cy="218556"/>
              </a:xfrm>
              <a:custGeom>
                <a:avLst/>
                <a:gdLst>
                  <a:gd name="connsiteX0" fmla="*/ 218556 w 218556"/>
                  <a:gd name="connsiteY0" fmla="*/ 109278 h 218556"/>
                  <a:gd name="connsiteX1" fmla="*/ 109278 w 218556"/>
                  <a:gd name="connsiteY1" fmla="*/ 218556 h 218556"/>
                  <a:gd name="connsiteX2" fmla="*/ 0 w 218556"/>
                  <a:gd name="connsiteY2" fmla="*/ 109278 h 218556"/>
                  <a:gd name="connsiteX3" fmla="*/ 109278 w 218556"/>
                  <a:gd name="connsiteY3" fmla="*/ 0 h 218556"/>
                  <a:gd name="connsiteX4" fmla="*/ 218556 w 218556"/>
                  <a:gd name="connsiteY4" fmla="*/ 109278 h 2185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8556" h="218556">
                    <a:moveTo>
                      <a:pt x="218556" y="109278"/>
                    </a:moveTo>
                    <a:cubicBezTo>
                      <a:pt x="218556" y="169631"/>
                      <a:pt x="169631" y="218556"/>
                      <a:pt x="109278" y="218556"/>
                    </a:cubicBezTo>
                    <a:cubicBezTo>
                      <a:pt x="48925" y="218556"/>
                      <a:pt x="0" y="169631"/>
                      <a:pt x="0" y="109278"/>
                    </a:cubicBezTo>
                    <a:cubicBezTo>
                      <a:pt x="0" y="48925"/>
                      <a:pt x="48925" y="0"/>
                      <a:pt x="109278" y="0"/>
                    </a:cubicBezTo>
                    <a:cubicBezTo>
                      <a:pt x="169631" y="0"/>
                      <a:pt x="218556" y="48925"/>
                      <a:pt x="218556" y="109278"/>
                    </a:cubicBezTo>
                    <a:close/>
                  </a:path>
                </a:pathLst>
              </a:custGeom>
              <a:solidFill>
                <a:srgbClr val="ADD1B2"/>
              </a:solidFill>
              <a:ln w="9918" cap="flat">
                <a:solidFill>
                  <a:srgbClr val="181818"/>
                </a:solidFill>
                <a:prstDash val="solid"/>
                <a:miter/>
              </a:ln>
            </p:spPr>
            <p:txBody>
              <a:bodyPr rtlCol="0" anchor="ctr"/>
              <a:lstStyle/>
              <a:p>
                <a:endParaRPr lang="en-IN"/>
              </a:p>
            </p:txBody>
          </p:sp>
          <p:sp>
            <p:nvSpPr>
              <p:cNvPr id="64" name="Freeform: Shape 63">
                <a:extLst>
                  <a:ext uri="{FF2B5EF4-FFF2-40B4-BE49-F238E27FC236}">
                    <a16:creationId xmlns:a16="http://schemas.microsoft.com/office/drawing/2014/main" id="{21109CDE-AF09-5700-ABAC-8DB363E9FA86}"/>
                  </a:ext>
                </a:extLst>
              </p:cNvPr>
              <p:cNvSpPr/>
              <p:nvPr/>
            </p:nvSpPr>
            <p:spPr>
              <a:xfrm>
                <a:off x="9399340" y="4091232"/>
                <a:ext cx="76524" cy="127746"/>
              </a:xfrm>
              <a:custGeom>
                <a:avLst/>
                <a:gdLst>
                  <a:gd name="connsiteX0" fmla="*/ 76525 w 76524"/>
                  <a:gd name="connsiteY0" fmla="*/ 121855 h 127746"/>
                  <a:gd name="connsiteX1" fmla="*/ 64415 w 76524"/>
                  <a:gd name="connsiteY1" fmla="*/ 126196 h 127746"/>
                  <a:gd name="connsiteX2" fmla="*/ 51063 w 76524"/>
                  <a:gd name="connsiteY2" fmla="*/ 127746 h 127746"/>
                  <a:gd name="connsiteX3" fmla="*/ 13034 w 76524"/>
                  <a:gd name="connsiteY3" fmla="*/ 111454 h 127746"/>
                  <a:gd name="connsiteX4" fmla="*/ 0 w 76524"/>
                  <a:gd name="connsiteY4" fmla="*/ 63958 h 127746"/>
                  <a:gd name="connsiteX5" fmla="*/ 13034 w 76524"/>
                  <a:gd name="connsiteY5" fmla="*/ 16451 h 127746"/>
                  <a:gd name="connsiteX6" fmla="*/ 51063 w 76524"/>
                  <a:gd name="connsiteY6" fmla="*/ 0 h 127746"/>
                  <a:gd name="connsiteX7" fmla="*/ 64415 w 76524"/>
                  <a:gd name="connsiteY7" fmla="*/ 1550 h 127746"/>
                  <a:gd name="connsiteX8" fmla="*/ 76525 w 76524"/>
                  <a:gd name="connsiteY8" fmla="*/ 6050 h 127746"/>
                  <a:gd name="connsiteX9" fmla="*/ 76525 w 76524"/>
                  <a:gd name="connsiteY9" fmla="*/ 33062 h 127746"/>
                  <a:gd name="connsiteX10" fmla="*/ 64415 w 76524"/>
                  <a:gd name="connsiteY10" fmla="*/ 24677 h 127746"/>
                  <a:gd name="connsiteX11" fmla="*/ 52305 w 76524"/>
                  <a:gd name="connsiteY11" fmla="*/ 21885 h 127746"/>
                  <a:gd name="connsiteX12" fmla="*/ 32128 w 76524"/>
                  <a:gd name="connsiteY12" fmla="*/ 32595 h 127746"/>
                  <a:gd name="connsiteX13" fmla="*/ 25303 w 76524"/>
                  <a:gd name="connsiteY13" fmla="*/ 63958 h 127746"/>
                  <a:gd name="connsiteX14" fmla="*/ 32128 w 76524"/>
                  <a:gd name="connsiteY14" fmla="*/ 95459 h 127746"/>
                  <a:gd name="connsiteX15" fmla="*/ 52305 w 76524"/>
                  <a:gd name="connsiteY15" fmla="*/ 106020 h 127746"/>
                  <a:gd name="connsiteX16" fmla="*/ 64415 w 76524"/>
                  <a:gd name="connsiteY16" fmla="*/ 103377 h 127746"/>
                  <a:gd name="connsiteX17" fmla="*/ 76525 w 76524"/>
                  <a:gd name="connsiteY17" fmla="*/ 94844 h 127746"/>
                  <a:gd name="connsiteX18" fmla="*/ 76525 w 76524"/>
                  <a:gd name="connsiteY18" fmla="*/ 121855 h 1277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76524" h="127746">
                    <a:moveTo>
                      <a:pt x="76525" y="121855"/>
                    </a:moveTo>
                    <a:cubicBezTo>
                      <a:pt x="72690" y="123822"/>
                      <a:pt x="68657" y="125263"/>
                      <a:pt x="64415" y="126196"/>
                    </a:cubicBezTo>
                    <a:cubicBezTo>
                      <a:pt x="60173" y="127230"/>
                      <a:pt x="55722" y="127746"/>
                      <a:pt x="51063" y="127746"/>
                    </a:cubicBezTo>
                    <a:cubicBezTo>
                      <a:pt x="34512" y="127746"/>
                      <a:pt x="21836" y="122322"/>
                      <a:pt x="13034" y="111454"/>
                    </a:cubicBezTo>
                    <a:cubicBezTo>
                      <a:pt x="4341" y="100486"/>
                      <a:pt x="0" y="84651"/>
                      <a:pt x="0" y="63958"/>
                    </a:cubicBezTo>
                    <a:cubicBezTo>
                      <a:pt x="0" y="43254"/>
                      <a:pt x="4341" y="27419"/>
                      <a:pt x="13034" y="16451"/>
                    </a:cubicBezTo>
                    <a:cubicBezTo>
                      <a:pt x="21836" y="5484"/>
                      <a:pt x="34512" y="0"/>
                      <a:pt x="51063" y="0"/>
                    </a:cubicBezTo>
                    <a:cubicBezTo>
                      <a:pt x="55722" y="0"/>
                      <a:pt x="60173" y="517"/>
                      <a:pt x="64415" y="1550"/>
                    </a:cubicBezTo>
                    <a:cubicBezTo>
                      <a:pt x="68766" y="2583"/>
                      <a:pt x="72799" y="4083"/>
                      <a:pt x="76525" y="6050"/>
                    </a:cubicBezTo>
                    <a:lnTo>
                      <a:pt x="76525" y="33062"/>
                    </a:lnTo>
                    <a:cubicBezTo>
                      <a:pt x="72382" y="29237"/>
                      <a:pt x="68349" y="26435"/>
                      <a:pt x="64415" y="24677"/>
                    </a:cubicBezTo>
                    <a:cubicBezTo>
                      <a:pt x="60481" y="22819"/>
                      <a:pt x="56447" y="21885"/>
                      <a:pt x="52305" y="21885"/>
                    </a:cubicBezTo>
                    <a:cubicBezTo>
                      <a:pt x="43403" y="21885"/>
                      <a:pt x="36678" y="25462"/>
                      <a:pt x="32128" y="32595"/>
                    </a:cubicBezTo>
                    <a:cubicBezTo>
                      <a:pt x="27578" y="39638"/>
                      <a:pt x="25303" y="50089"/>
                      <a:pt x="25303" y="63958"/>
                    </a:cubicBezTo>
                    <a:cubicBezTo>
                      <a:pt x="25303" y="77816"/>
                      <a:pt x="27578" y="88327"/>
                      <a:pt x="32128" y="95459"/>
                    </a:cubicBezTo>
                    <a:cubicBezTo>
                      <a:pt x="36678" y="102503"/>
                      <a:pt x="43403" y="106020"/>
                      <a:pt x="52305" y="106020"/>
                    </a:cubicBezTo>
                    <a:cubicBezTo>
                      <a:pt x="56447" y="106020"/>
                      <a:pt x="60481" y="105135"/>
                      <a:pt x="64415" y="103377"/>
                    </a:cubicBezTo>
                    <a:cubicBezTo>
                      <a:pt x="68349" y="101519"/>
                      <a:pt x="72382" y="98668"/>
                      <a:pt x="76525" y="94844"/>
                    </a:cubicBezTo>
                    <a:lnTo>
                      <a:pt x="76525" y="121855"/>
                    </a:lnTo>
                    <a:close/>
                  </a:path>
                </a:pathLst>
              </a:custGeom>
              <a:solidFill>
                <a:srgbClr val="000000"/>
              </a:solidFill>
              <a:ln w="9918" cap="flat">
                <a:noFill/>
                <a:prstDash val="solid"/>
                <a:miter/>
              </a:ln>
            </p:spPr>
            <p:txBody>
              <a:bodyPr rtlCol="0" anchor="ctr"/>
              <a:lstStyle/>
              <a:p>
                <a:endParaRPr lang="en-IN"/>
              </a:p>
            </p:txBody>
          </p:sp>
          <p:sp>
            <p:nvSpPr>
              <p:cNvPr id="65" name="TextBox 64">
                <a:extLst>
                  <a:ext uri="{FF2B5EF4-FFF2-40B4-BE49-F238E27FC236}">
                    <a16:creationId xmlns:a16="http://schemas.microsoft.com/office/drawing/2014/main" id="{C92619B7-BEE4-A3E6-0873-9F191D507CA7}"/>
                  </a:ext>
                </a:extLst>
              </p:cNvPr>
              <p:cNvSpPr txBox="1"/>
              <p:nvPr/>
            </p:nvSpPr>
            <p:spPr>
              <a:xfrm>
                <a:off x="9558584" y="4030332"/>
                <a:ext cx="629927" cy="250390"/>
              </a:xfrm>
              <a:prstGeom prst="rect">
                <a:avLst/>
              </a:prstGeom>
              <a:noFill/>
            </p:spPr>
            <p:txBody>
              <a:bodyPr wrap="none" rtlCol="0">
                <a:spAutoFit/>
              </a:bodyPr>
              <a:lstStyle/>
              <a:p>
                <a:pPr algn="l"/>
                <a:r>
                  <a:rPr lang="en-IN" sz="1050" spc="0" baseline="0">
                    <a:ln/>
                    <a:solidFill>
                      <a:srgbClr val="000000"/>
                    </a:solidFill>
                    <a:latin typeface="Arial"/>
                    <a:cs typeface="Arial"/>
                    <a:sym typeface="Arial"/>
                    <a:rtl val="0"/>
                  </a:rPr>
                  <a:t>Budget</a:t>
                </a:r>
              </a:p>
            </p:txBody>
          </p:sp>
          <p:sp>
            <p:nvSpPr>
              <p:cNvPr id="66" name="Freeform: Shape 65">
                <a:extLst>
                  <a:ext uri="{FF2B5EF4-FFF2-40B4-BE49-F238E27FC236}">
                    <a16:creationId xmlns:a16="http://schemas.microsoft.com/office/drawing/2014/main" id="{C206C03D-E010-ECC8-2E44-D4CA7C5B2C9F}"/>
                  </a:ext>
                </a:extLst>
              </p:cNvPr>
              <p:cNvSpPr/>
              <p:nvPr/>
            </p:nvSpPr>
            <p:spPr>
              <a:xfrm>
                <a:off x="8410710" y="4315997"/>
                <a:ext cx="2662414" cy="9934"/>
              </a:xfrm>
              <a:custGeom>
                <a:avLst/>
                <a:gdLst>
                  <a:gd name="connsiteX0" fmla="*/ 0 w 2662414"/>
                  <a:gd name="connsiteY0" fmla="*/ 0 h 9934"/>
                  <a:gd name="connsiteX1" fmla="*/ 2662414 w 2662414"/>
                  <a:gd name="connsiteY1" fmla="*/ 0 h 9934"/>
                </a:gdLst>
                <a:ahLst/>
                <a:cxnLst>
                  <a:cxn ang="0">
                    <a:pos x="connsiteX0" y="connsiteY0"/>
                  </a:cxn>
                  <a:cxn ang="0">
                    <a:pos x="connsiteX1" y="connsiteY1"/>
                  </a:cxn>
                </a:cxnLst>
                <a:rect l="l" t="t" r="r" b="b"/>
                <a:pathLst>
                  <a:path w="2662414" h="9934">
                    <a:moveTo>
                      <a:pt x="0" y="0"/>
                    </a:moveTo>
                    <a:lnTo>
                      <a:pt x="2662414" y="0"/>
                    </a:lnTo>
                  </a:path>
                </a:pathLst>
              </a:custGeom>
              <a:ln w="4959" cap="flat">
                <a:solidFill>
                  <a:srgbClr val="181818"/>
                </a:solidFill>
                <a:prstDash val="solid"/>
                <a:miter/>
              </a:ln>
            </p:spPr>
            <p:txBody>
              <a:bodyPr rtlCol="0" anchor="ctr"/>
              <a:lstStyle/>
              <a:p>
                <a:endParaRPr lang="en-IN"/>
              </a:p>
            </p:txBody>
          </p:sp>
          <p:sp>
            <p:nvSpPr>
              <p:cNvPr id="67" name="Freeform: Shape 66">
                <a:extLst>
                  <a:ext uri="{FF2B5EF4-FFF2-40B4-BE49-F238E27FC236}">
                    <a16:creationId xmlns:a16="http://schemas.microsoft.com/office/drawing/2014/main" id="{5D667518-8862-294B-71C0-6B7046FD2283}"/>
                  </a:ext>
                </a:extLst>
              </p:cNvPr>
              <p:cNvSpPr/>
              <p:nvPr/>
            </p:nvSpPr>
            <p:spPr>
              <a:xfrm>
                <a:off x="8480251" y="4421778"/>
                <a:ext cx="59606" cy="59606"/>
              </a:xfrm>
              <a:custGeom>
                <a:avLst/>
                <a:gdLst>
                  <a:gd name="connsiteX0" fmla="*/ 0 w 59606"/>
                  <a:gd name="connsiteY0" fmla="*/ 0 h 59606"/>
                  <a:gd name="connsiteX1" fmla="*/ 59606 w 59606"/>
                  <a:gd name="connsiteY1" fmla="*/ 0 h 59606"/>
                  <a:gd name="connsiteX2" fmla="*/ 59606 w 59606"/>
                  <a:gd name="connsiteY2" fmla="*/ 59606 h 59606"/>
                  <a:gd name="connsiteX3" fmla="*/ 0 w 59606"/>
                  <a:gd name="connsiteY3" fmla="*/ 59606 h 59606"/>
                </a:gdLst>
                <a:ahLst/>
                <a:cxnLst>
                  <a:cxn ang="0">
                    <a:pos x="connsiteX0" y="connsiteY0"/>
                  </a:cxn>
                  <a:cxn ang="0">
                    <a:pos x="connsiteX1" y="connsiteY1"/>
                  </a:cxn>
                  <a:cxn ang="0">
                    <a:pos x="connsiteX2" y="connsiteY2"/>
                  </a:cxn>
                  <a:cxn ang="0">
                    <a:pos x="connsiteX3" y="connsiteY3"/>
                  </a:cxn>
                </a:cxnLst>
                <a:rect l="l" t="t" r="r" b="b"/>
                <a:pathLst>
                  <a:path w="59606" h="59606">
                    <a:moveTo>
                      <a:pt x="0" y="0"/>
                    </a:moveTo>
                    <a:lnTo>
                      <a:pt x="59606" y="0"/>
                    </a:lnTo>
                    <a:lnTo>
                      <a:pt x="59606" y="59606"/>
                    </a:lnTo>
                    <a:lnTo>
                      <a:pt x="0" y="59606"/>
                    </a:lnTo>
                    <a:close/>
                  </a:path>
                </a:pathLst>
              </a:custGeom>
              <a:noFill/>
              <a:ln w="9918" cap="flat">
                <a:solidFill>
                  <a:srgbClr val="C82930"/>
                </a:solidFill>
                <a:prstDash val="solid"/>
                <a:miter/>
              </a:ln>
            </p:spPr>
            <p:txBody>
              <a:bodyPr rtlCol="0" anchor="ctr"/>
              <a:lstStyle/>
              <a:p>
                <a:endParaRPr lang="en-IN"/>
              </a:p>
            </p:txBody>
          </p:sp>
          <p:sp>
            <p:nvSpPr>
              <p:cNvPr id="68" name="TextBox 67">
                <a:extLst>
                  <a:ext uri="{FF2B5EF4-FFF2-40B4-BE49-F238E27FC236}">
                    <a16:creationId xmlns:a16="http://schemas.microsoft.com/office/drawing/2014/main" id="{732C806F-64E0-4F9F-35EB-DEF0D6C91165}"/>
                  </a:ext>
                </a:extLst>
              </p:cNvPr>
              <p:cNvSpPr txBox="1"/>
              <p:nvPr/>
            </p:nvSpPr>
            <p:spPr>
              <a:xfrm>
                <a:off x="8508024" y="4309965"/>
                <a:ext cx="997499" cy="250390"/>
              </a:xfrm>
              <a:prstGeom prst="rect">
                <a:avLst/>
              </a:prstGeom>
              <a:noFill/>
            </p:spPr>
            <p:txBody>
              <a:bodyPr wrap="none" rtlCol="0">
                <a:spAutoFit/>
              </a:bodyPr>
              <a:lstStyle/>
              <a:p>
                <a:pPr algn="l"/>
                <a:r>
                  <a:rPr lang="en-IN" sz="1050" spc="0" baseline="0">
                    <a:ln/>
                    <a:solidFill>
                      <a:srgbClr val="000000"/>
                    </a:solidFill>
                    <a:latin typeface="Arial"/>
                    <a:cs typeface="Arial"/>
                    <a:sym typeface="Arial"/>
                    <a:rtl val="0"/>
                  </a:rPr>
                  <a:t>amount: float</a:t>
                </a:r>
              </a:p>
            </p:txBody>
          </p:sp>
          <p:sp>
            <p:nvSpPr>
              <p:cNvPr id="69" name="Freeform: Shape 68">
                <a:extLst>
                  <a:ext uri="{FF2B5EF4-FFF2-40B4-BE49-F238E27FC236}">
                    <a16:creationId xmlns:a16="http://schemas.microsoft.com/office/drawing/2014/main" id="{02ACB6CD-52F0-0EB7-D23B-66664DD08432}"/>
                  </a:ext>
                </a:extLst>
              </p:cNvPr>
              <p:cNvSpPr/>
              <p:nvPr/>
            </p:nvSpPr>
            <p:spPr>
              <a:xfrm>
                <a:off x="8410710" y="4557373"/>
                <a:ext cx="2662414" cy="9934"/>
              </a:xfrm>
              <a:custGeom>
                <a:avLst/>
                <a:gdLst>
                  <a:gd name="connsiteX0" fmla="*/ 0 w 2662414"/>
                  <a:gd name="connsiteY0" fmla="*/ 0 h 9934"/>
                  <a:gd name="connsiteX1" fmla="*/ 2662414 w 2662414"/>
                  <a:gd name="connsiteY1" fmla="*/ 0 h 9934"/>
                </a:gdLst>
                <a:ahLst/>
                <a:cxnLst>
                  <a:cxn ang="0">
                    <a:pos x="connsiteX0" y="connsiteY0"/>
                  </a:cxn>
                  <a:cxn ang="0">
                    <a:pos x="connsiteX1" y="connsiteY1"/>
                  </a:cxn>
                </a:cxnLst>
                <a:rect l="l" t="t" r="r" b="b"/>
                <a:pathLst>
                  <a:path w="2662414" h="9934">
                    <a:moveTo>
                      <a:pt x="0" y="0"/>
                    </a:moveTo>
                    <a:lnTo>
                      <a:pt x="2662414" y="0"/>
                    </a:lnTo>
                  </a:path>
                </a:pathLst>
              </a:custGeom>
              <a:ln w="4959" cap="flat">
                <a:solidFill>
                  <a:srgbClr val="181818"/>
                </a:solidFill>
                <a:prstDash val="solid"/>
                <a:miter/>
              </a:ln>
            </p:spPr>
            <p:txBody>
              <a:bodyPr rtlCol="0" anchor="ctr"/>
              <a:lstStyle/>
              <a:p>
                <a:endParaRPr lang="en-IN"/>
              </a:p>
            </p:txBody>
          </p:sp>
          <p:sp>
            <p:nvSpPr>
              <p:cNvPr id="70" name="Freeform: Shape 69">
                <a:extLst>
                  <a:ext uri="{FF2B5EF4-FFF2-40B4-BE49-F238E27FC236}">
                    <a16:creationId xmlns:a16="http://schemas.microsoft.com/office/drawing/2014/main" id="{2E1440F4-E917-5772-7873-5EE0EED3BAC5}"/>
                  </a:ext>
                </a:extLst>
              </p:cNvPr>
              <p:cNvSpPr/>
              <p:nvPr/>
            </p:nvSpPr>
            <p:spPr>
              <a:xfrm>
                <a:off x="8480251" y="4663154"/>
                <a:ext cx="59606" cy="59606"/>
              </a:xfrm>
              <a:custGeom>
                <a:avLst/>
                <a:gdLst>
                  <a:gd name="connsiteX0" fmla="*/ 59606 w 59606"/>
                  <a:gd name="connsiteY0" fmla="*/ 29803 h 59606"/>
                  <a:gd name="connsiteX1" fmla="*/ 29803 w 59606"/>
                  <a:gd name="connsiteY1" fmla="*/ 59606 h 59606"/>
                  <a:gd name="connsiteX2" fmla="*/ 0 w 59606"/>
                  <a:gd name="connsiteY2" fmla="*/ 29803 h 59606"/>
                  <a:gd name="connsiteX3" fmla="*/ 29803 w 59606"/>
                  <a:gd name="connsiteY3" fmla="*/ 0 h 59606"/>
                  <a:gd name="connsiteX4" fmla="*/ 59606 w 59606"/>
                  <a:gd name="connsiteY4" fmla="*/ 29803 h 596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606" h="59606">
                    <a:moveTo>
                      <a:pt x="59606" y="29803"/>
                    </a:moveTo>
                    <a:cubicBezTo>
                      <a:pt x="59606" y="46263"/>
                      <a:pt x="46263" y="59606"/>
                      <a:pt x="29803" y="59606"/>
                    </a:cubicBezTo>
                    <a:cubicBezTo>
                      <a:pt x="13343" y="59606"/>
                      <a:pt x="0" y="46263"/>
                      <a:pt x="0" y="29803"/>
                    </a:cubicBezTo>
                    <a:cubicBezTo>
                      <a:pt x="0" y="13343"/>
                      <a:pt x="13343" y="0"/>
                      <a:pt x="29803" y="0"/>
                    </a:cubicBezTo>
                    <a:cubicBezTo>
                      <a:pt x="46263" y="0"/>
                      <a:pt x="59606" y="13343"/>
                      <a:pt x="59606" y="29803"/>
                    </a:cubicBezTo>
                    <a:close/>
                  </a:path>
                </a:pathLst>
              </a:custGeom>
              <a:solidFill>
                <a:srgbClr val="84BE84"/>
              </a:solidFill>
              <a:ln w="9918" cap="flat">
                <a:solidFill>
                  <a:srgbClr val="038048"/>
                </a:solidFill>
                <a:prstDash val="solid"/>
                <a:miter/>
              </a:ln>
            </p:spPr>
            <p:txBody>
              <a:bodyPr rtlCol="0" anchor="ctr"/>
              <a:lstStyle/>
              <a:p>
                <a:endParaRPr lang="en-IN"/>
              </a:p>
            </p:txBody>
          </p:sp>
          <p:sp>
            <p:nvSpPr>
              <p:cNvPr id="71" name="TextBox 70">
                <a:extLst>
                  <a:ext uri="{FF2B5EF4-FFF2-40B4-BE49-F238E27FC236}">
                    <a16:creationId xmlns:a16="http://schemas.microsoft.com/office/drawing/2014/main" id="{7EE6BEDD-4226-9835-9748-0A83F8A79DE7}"/>
                  </a:ext>
                </a:extLst>
              </p:cNvPr>
              <p:cNvSpPr txBox="1"/>
              <p:nvPr/>
            </p:nvSpPr>
            <p:spPr>
              <a:xfrm>
                <a:off x="8508024" y="4551341"/>
                <a:ext cx="2358509" cy="250390"/>
              </a:xfrm>
              <a:prstGeom prst="rect">
                <a:avLst/>
              </a:prstGeom>
              <a:noFill/>
            </p:spPr>
            <p:txBody>
              <a:bodyPr wrap="none" rtlCol="0">
                <a:spAutoFit/>
              </a:bodyPr>
              <a:lstStyle/>
              <a:p>
                <a:pPr algn="l"/>
                <a:r>
                  <a:rPr lang="en-IN" sz="1050" spc="0" baseline="0">
                    <a:ln/>
                    <a:solidFill>
                      <a:srgbClr val="000000"/>
                    </a:solidFill>
                    <a:latin typeface="Arial"/>
                    <a:cs typeface="Arial"/>
                    <a:sym typeface="Arial"/>
                    <a:rtl val="0"/>
                  </a:rPr>
                  <a:t>setAmount(newAmount: float): void</a:t>
                </a:r>
              </a:p>
            </p:txBody>
          </p:sp>
          <p:sp>
            <p:nvSpPr>
              <p:cNvPr id="72" name="Freeform: Shape 71">
                <a:extLst>
                  <a:ext uri="{FF2B5EF4-FFF2-40B4-BE49-F238E27FC236}">
                    <a16:creationId xmlns:a16="http://schemas.microsoft.com/office/drawing/2014/main" id="{8C6A55BF-631D-0A7F-2FA7-3CB5A7228DAA}"/>
                  </a:ext>
                </a:extLst>
              </p:cNvPr>
              <p:cNvSpPr/>
              <p:nvPr/>
            </p:nvSpPr>
            <p:spPr>
              <a:xfrm>
                <a:off x="8480251" y="4825055"/>
                <a:ext cx="59606" cy="59606"/>
              </a:xfrm>
              <a:custGeom>
                <a:avLst/>
                <a:gdLst>
                  <a:gd name="connsiteX0" fmla="*/ 59606 w 59606"/>
                  <a:gd name="connsiteY0" fmla="*/ 29803 h 59606"/>
                  <a:gd name="connsiteX1" fmla="*/ 29803 w 59606"/>
                  <a:gd name="connsiteY1" fmla="*/ 59606 h 59606"/>
                  <a:gd name="connsiteX2" fmla="*/ 0 w 59606"/>
                  <a:gd name="connsiteY2" fmla="*/ 29803 h 59606"/>
                  <a:gd name="connsiteX3" fmla="*/ 29803 w 59606"/>
                  <a:gd name="connsiteY3" fmla="*/ 0 h 59606"/>
                  <a:gd name="connsiteX4" fmla="*/ 59606 w 59606"/>
                  <a:gd name="connsiteY4" fmla="*/ 29803 h 596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606" h="59606">
                    <a:moveTo>
                      <a:pt x="59606" y="29803"/>
                    </a:moveTo>
                    <a:cubicBezTo>
                      <a:pt x="59606" y="46263"/>
                      <a:pt x="46263" y="59606"/>
                      <a:pt x="29803" y="59606"/>
                    </a:cubicBezTo>
                    <a:cubicBezTo>
                      <a:pt x="13343" y="59606"/>
                      <a:pt x="0" y="46263"/>
                      <a:pt x="0" y="29803"/>
                    </a:cubicBezTo>
                    <a:cubicBezTo>
                      <a:pt x="0" y="13343"/>
                      <a:pt x="13343" y="0"/>
                      <a:pt x="29803" y="0"/>
                    </a:cubicBezTo>
                    <a:cubicBezTo>
                      <a:pt x="46263" y="0"/>
                      <a:pt x="59606" y="13343"/>
                      <a:pt x="59606" y="29803"/>
                    </a:cubicBezTo>
                    <a:close/>
                  </a:path>
                </a:pathLst>
              </a:custGeom>
              <a:solidFill>
                <a:srgbClr val="84BE84"/>
              </a:solidFill>
              <a:ln w="9918" cap="flat">
                <a:solidFill>
                  <a:srgbClr val="038048"/>
                </a:solidFill>
                <a:prstDash val="solid"/>
                <a:miter/>
              </a:ln>
            </p:spPr>
            <p:txBody>
              <a:bodyPr rtlCol="0" anchor="ctr"/>
              <a:lstStyle/>
              <a:p>
                <a:endParaRPr lang="en-IN"/>
              </a:p>
            </p:txBody>
          </p:sp>
          <p:sp>
            <p:nvSpPr>
              <p:cNvPr id="73" name="TextBox 72">
                <a:extLst>
                  <a:ext uri="{FF2B5EF4-FFF2-40B4-BE49-F238E27FC236}">
                    <a16:creationId xmlns:a16="http://schemas.microsoft.com/office/drawing/2014/main" id="{DC18E64A-4974-5876-A219-9FB6325B86F0}"/>
                  </a:ext>
                </a:extLst>
              </p:cNvPr>
              <p:cNvSpPr txBox="1"/>
              <p:nvPr/>
            </p:nvSpPr>
            <p:spPr>
              <a:xfrm>
                <a:off x="8508024" y="4713241"/>
                <a:ext cx="1305465" cy="250390"/>
              </a:xfrm>
              <a:prstGeom prst="rect">
                <a:avLst/>
              </a:prstGeom>
              <a:noFill/>
            </p:spPr>
            <p:txBody>
              <a:bodyPr wrap="none" rtlCol="0">
                <a:spAutoFit/>
              </a:bodyPr>
              <a:lstStyle/>
              <a:p>
                <a:pPr algn="l"/>
                <a:r>
                  <a:rPr lang="en-IN" sz="1050" spc="0" baseline="0">
                    <a:ln/>
                    <a:solidFill>
                      <a:srgbClr val="000000"/>
                    </a:solidFill>
                    <a:latin typeface="Arial"/>
                    <a:cs typeface="Arial"/>
                    <a:sym typeface="Arial"/>
                    <a:rtl val="0"/>
                  </a:rPr>
                  <a:t>getAmount(): float</a:t>
                </a:r>
              </a:p>
            </p:txBody>
          </p:sp>
        </p:grpSp>
        <p:grpSp>
          <p:nvGrpSpPr>
            <p:cNvPr id="74" name="Graphic 24" descr="ClassDiagram">
              <a:extLst>
                <a:ext uri="{FF2B5EF4-FFF2-40B4-BE49-F238E27FC236}">
                  <a16:creationId xmlns:a16="http://schemas.microsoft.com/office/drawing/2014/main" id="{F04C6AE8-9587-92E8-515B-E98E8FEFF0B3}"/>
                </a:ext>
              </a:extLst>
            </p:cNvPr>
            <p:cNvGrpSpPr/>
            <p:nvPr/>
          </p:nvGrpSpPr>
          <p:grpSpPr>
            <a:xfrm>
              <a:off x="7534001" y="2990850"/>
              <a:ext cx="807168" cy="762563"/>
              <a:chOff x="7534001" y="2990850"/>
              <a:chExt cx="807168" cy="762563"/>
            </a:xfrm>
          </p:grpSpPr>
          <p:sp>
            <p:nvSpPr>
              <p:cNvPr id="75" name="Freeform: Shape 74">
                <a:extLst>
                  <a:ext uri="{FF2B5EF4-FFF2-40B4-BE49-F238E27FC236}">
                    <a16:creationId xmlns:a16="http://schemas.microsoft.com/office/drawing/2014/main" id="{EB3464C9-5695-4C15-0752-15C44A52C17F}"/>
                  </a:ext>
                </a:extLst>
              </p:cNvPr>
              <p:cNvSpPr/>
              <p:nvPr/>
            </p:nvSpPr>
            <p:spPr>
              <a:xfrm>
                <a:off x="7571851" y="2990850"/>
                <a:ext cx="492149" cy="762563"/>
              </a:xfrm>
              <a:custGeom>
                <a:avLst/>
                <a:gdLst>
                  <a:gd name="connsiteX0" fmla="*/ 492149 w 492149"/>
                  <a:gd name="connsiteY0" fmla="*/ 0 h 762563"/>
                  <a:gd name="connsiteX1" fmla="*/ 0 w 492149"/>
                  <a:gd name="connsiteY1" fmla="*/ 762563 h 762563"/>
                </a:gdLst>
                <a:ahLst/>
                <a:cxnLst>
                  <a:cxn ang="0">
                    <a:pos x="connsiteX0" y="connsiteY0"/>
                  </a:cxn>
                  <a:cxn ang="0">
                    <a:pos x="connsiteX1" y="connsiteY1"/>
                  </a:cxn>
                </a:cxnLst>
                <a:rect l="l" t="t" r="r" b="b"/>
                <a:pathLst>
                  <a:path w="492149" h="762563">
                    <a:moveTo>
                      <a:pt x="492149" y="0"/>
                    </a:moveTo>
                    <a:cubicBezTo>
                      <a:pt x="340551" y="235048"/>
                      <a:pt x="161632" y="512117"/>
                      <a:pt x="0" y="762563"/>
                    </a:cubicBezTo>
                  </a:path>
                </a:pathLst>
              </a:custGeom>
              <a:noFill/>
              <a:ln w="9918" cap="flat">
                <a:solidFill>
                  <a:srgbClr val="181818"/>
                </a:solidFill>
                <a:prstDash val="solid"/>
                <a:miter/>
              </a:ln>
            </p:spPr>
            <p:txBody>
              <a:bodyPr rtlCol="0" anchor="ctr"/>
              <a:lstStyle/>
              <a:p>
                <a:endParaRPr lang="en-IN"/>
              </a:p>
            </p:txBody>
          </p:sp>
          <p:sp>
            <p:nvSpPr>
              <p:cNvPr id="76" name="TextBox 75">
                <a:extLst>
                  <a:ext uri="{FF2B5EF4-FFF2-40B4-BE49-F238E27FC236}">
                    <a16:creationId xmlns:a16="http://schemas.microsoft.com/office/drawing/2014/main" id="{6ED4DAAC-1E70-B422-F861-FD5631B69689}"/>
                  </a:ext>
                </a:extLst>
              </p:cNvPr>
              <p:cNvSpPr txBox="1"/>
              <p:nvPr/>
            </p:nvSpPr>
            <p:spPr>
              <a:xfrm>
                <a:off x="7762945" y="3252669"/>
                <a:ext cx="669664" cy="240455"/>
              </a:xfrm>
              <a:prstGeom prst="rect">
                <a:avLst/>
              </a:prstGeom>
              <a:noFill/>
            </p:spPr>
            <p:txBody>
              <a:bodyPr wrap="none" rtlCol="0">
                <a:spAutoFit/>
              </a:bodyPr>
              <a:lstStyle/>
              <a:p>
                <a:pPr algn="l"/>
                <a:r>
                  <a:rPr lang="en-IN" sz="975" spc="0" baseline="0">
                    <a:ln/>
                    <a:solidFill>
                      <a:srgbClr val="000000"/>
                    </a:solidFill>
                    <a:latin typeface="Arial"/>
                    <a:cs typeface="Arial"/>
                    <a:sym typeface="Arial"/>
                    <a:rtl val="0"/>
                  </a:rPr>
                  <a:t>contains</a:t>
                </a:r>
              </a:p>
            </p:txBody>
          </p:sp>
          <p:sp>
            <p:nvSpPr>
              <p:cNvPr id="77" name="TextBox 76">
                <a:extLst>
                  <a:ext uri="{FF2B5EF4-FFF2-40B4-BE49-F238E27FC236}">
                    <a16:creationId xmlns:a16="http://schemas.microsoft.com/office/drawing/2014/main" id="{3DDDE574-D5F7-908C-1DD9-0DA507262F21}"/>
                  </a:ext>
                </a:extLst>
              </p:cNvPr>
              <p:cNvSpPr txBox="1"/>
              <p:nvPr/>
            </p:nvSpPr>
            <p:spPr>
              <a:xfrm>
                <a:off x="7842301" y="3027357"/>
                <a:ext cx="252420" cy="240455"/>
              </a:xfrm>
              <a:prstGeom prst="rect">
                <a:avLst/>
              </a:prstGeom>
              <a:noFill/>
            </p:spPr>
            <p:txBody>
              <a:bodyPr wrap="none" rtlCol="0">
                <a:spAutoFit/>
              </a:bodyPr>
              <a:lstStyle/>
              <a:p>
                <a:pPr algn="l"/>
                <a:r>
                  <a:rPr lang="en-IN" sz="975" spc="0" baseline="0">
                    <a:ln/>
                    <a:solidFill>
                      <a:srgbClr val="000000"/>
                    </a:solidFill>
                    <a:latin typeface="Arial"/>
                    <a:cs typeface="Arial"/>
                    <a:sym typeface="Arial"/>
                    <a:rtl val="0"/>
                  </a:rPr>
                  <a:t>1</a:t>
                </a:r>
              </a:p>
            </p:txBody>
          </p:sp>
          <p:sp>
            <p:nvSpPr>
              <p:cNvPr id="78" name="TextBox 77">
                <a:extLst>
                  <a:ext uri="{FF2B5EF4-FFF2-40B4-BE49-F238E27FC236}">
                    <a16:creationId xmlns:a16="http://schemas.microsoft.com/office/drawing/2014/main" id="{C0D1D312-2860-998F-0EB6-32908EC0B2D0}"/>
                  </a:ext>
                </a:extLst>
              </p:cNvPr>
              <p:cNvSpPr txBox="1"/>
              <p:nvPr/>
            </p:nvSpPr>
            <p:spPr>
              <a:xfrm>
                <a:off x="7442561" y="3480663"/>
                <a:ext cx="252420" cy="240455"/>
              </a:xfrm>
              <a:prstGeom prst="rect">
                <a:avLst/>
              </a:prstGeom>
              <a:noFill/>
            </p:spPr>
            <p:txBody>
              <a:bodyPr wrap="none" rtlCol="0">
                <a:spAutoFit/>
              </a:bodyPr>
              <a:lstStyle/>
              <a:p>
                <a:pPr algn="l"/>
                <a:r>
                  <a:rPr lang="en-IN" sz="975" spc="0" baseline="0">
                    <a:ln/>
                    <a:solidFill>
                      <a:srgbClr val="000000"/>
                    </a:solidFill>
                    <a:latin typeface="Arial"/>
                    <a:cs typeface="Arial"/>
                    <a:sym typeface="Arial"/>
                    <a:rtl val="0"/>
                  </a:rPr>
                  <a:t>n</a:t>
                </a:r>
              </a:p>
            </p:txBody>
          </p:sp>
        </p:grpSp>
        <p:grpSp>
          <p:nvGrpSpPr>
            <p:cNvPr id="79" name="Graphic 24" descr="ClassDiagram">
              <a:extLst>
                <a:ext uri="{FF2B5EF4-FFF2-40B4-BE49-F238E27FC236}">
                  <a16:creationId xmlns:a16="http://schemas.microsoft.com/office/drawing/2014/main" id="{094E5587-05FA-4E88-AAEB-2042EF59D31F}"/>
                </a:ext>
              </a:extLst>
            </p:cNvPr>
            <p:cNvGrpSpPr/>
            <p:nvPr/>
          </p:nvGrpSpPr>
          <p:grpSpPr>
            <a:xfrm>
              <a:off x="8779971" y="2990850"/>
              <a:ext cx="654278" cy="1006054"/>
              <a:chOff x="8779971" y="2990850"/>
              <a:chExt cx="654278" cy="1006054"/>
            </a:xfrm>
          </p:grpSpPr>
          <p:sp>
            <p:nvSpPr>
              <p:cNvPr id="80" name="Freeform: Shape 79">
                <a:extLst>
                  <a:ext uri="{FF2B5EF4-FFF2-40B4-BE49-F238E27FC236}">
                    <a16:creationId xmlns:a16="http://schemas.microsoft.com/office/drawing/2014/main" id="{BCB83770-4DB2-4253-796E-624E8FB5A1AB}"/>
                  </a:ext>
                </a:extLst>
              </p:cNvPr>
              <p:cNvSpPr/>
              <p:nvPr/>
            </p:nvSpPr>
            <p:spPr>
              <a:xfrm>
                <a:off x="8779971" y="2990850"/>
                <a:ext cx="654278" cy="1006054"/>
              </a:xfrm>
              <a:custGeom>
                <a:avLst/>
                <a:gdLst>
                  <a:gd name="connsiteX0" fmla="*/ 0 w 654278"/>
                  <a:gd name="connsiteY0" fmla="*/ 0 h 1006054"/>
                  <a:gd name="connsiteX1" fmla="*/ 654278 w 654278"/>
                  <a:gd name="connsiteY1" fmla="*/ 1006055 h 1006054"/>
                </a:gdLst>
                <a:ahLst/>
                <a:cxnLst>
                  <a:cxn ang="0">
                    <a:pos x="connsiteX0" y="connsiteY0"/>
                  </a:cxn>
                  <a:cxn ang="0">
                    <a:pos x="connsiteX1" y="connsiteY1"/>
                  </a:cxn>
                </a:cxnLst>
                <a:rect l="l" t="t" r="r" b="b"/>
                <a:pathLst>
                  <a:path w="654278" h="1006054">
                    <a:moveTo>
                      <a:pt x="0" y="0"/>
                    </a:moveTo>
                    <a:cubicBezTo>
                      <a:pt x="204747" y="314920"/>
                      <a:pt x="458770" y="705440"/>
                      <a:pt x="654278" y="1006055"/>
                    </a:cubicBezTo>
                  </a:path>
                </a:pathLst>
              </a:custGeom>
              <a:noFill/>
              <a:ln w="9918" cap="flat">
                <a:solidFill>
                  <a:srgbClr val="181818"/>
                </a:solidFill>
                <a:prstDash val="solid"/>
                <a:miter/>
              </a:ln>
            </p:spPr>
            <p:txBody>
              <a:bodyPr rtlCol="0" anchor="ctr"/>
              <a:lstStyle/>
              <a:p>
                <a:endParaRPr lang="en-IN"/>
              </a:p>
            </p:txBody>
          </p:sp>
          <p:sp>
            <p:nvSpPr>
              <p:cNvPr id="81" name="TextBox 80">
                <a:extLst>
                  <a:ext uri="{FF2B5EF4-FFF2-40B4-BE49-F238E27FC236}">
                    <a16:creationId xmlns:a16="http://schemas.microsoft.com/office/drawing/2014/main" id="{9392D2B4-8EFC-738A-2628-D037C80578DD}"/>
                  </a:ext>
                </a:extLst>
              </p:cNvPr>
              <p:cNvSpPr txBox="1"/>
              <p:nvPr/>
            </p:nvSpPr>
            <p:spPr>
              <a:xfrm>
                <a:off x="8994808" y="3252669"/>
                <a:ext cx="391502" cy="240455"/>
              </a:xfrm>
              <a:prstGeom prst="rect">
                <a:avLst/>
              </a:prstGeom>
              <a:noFill/>
            </p:spPr>
            <p:txBody>
              <a:bodyPr wrap="none" rtlCol="0">
                <a:spAutoFit/>
              </a:bodyPr>
              <a:lstStyle/>
              <a:p>
                <a:pPr algn="l"/>
                <a:r>
                  <a:rPr lang="en-IN" sz="975" spc="0" baseline="0">
                    <a:ln/>
                    <a:solidFill>
                      <a:srgbClr val="000000"/>
                    </a:solidFill>
                    <a:latin typeface="Arial"/>
                    <a:cs typeface="Arial"/>
                    <a:sym typeface="Arial"/>
                    <a:rtl val="0"/>
                  </a:rPr>
                  <a:t>has</a:t>
                </a:r>
              </a:p>
            </p:txBody>
          </p:sp>
        </p:grpSp>
      </p:grpSp>
      <p:sp>
        <p:nvSpPr>
          <p:cNvPr id="83" name="TextBox 82">
            <a:extLst>
              <a:ext uri="{FF2B5EF4-FFF2-40B4-BE49-F238E27FC236}">
                <a16:creationId xmlns:a16="http://schemas.microsoft.com/office/drawing/2014/main" id="{9867270A-5207-3682-E013-7DDD11896A91}"/>
              </a:ext>
            </a:extLst>
          </p:cNvPr>
          <p:cNvSpPr txBox="1"/>
          <p:nvPr/>
        </p:nvSpPr>
        <p:spPr>
          <a:xfrm>
            <a:off x="7588711" y="5683170"/>
            <a:ext cx="2223545" cy="461665"/>
          </a:xfrm>
          <a:prstGeom prst="rect">
            <a:avLst/>
          </a:prstGeom>
          <a:noFill/>
        </p:spPr>
        <p:txBody>
          <a:bodyPr wrap="square">
            <a:spAutoFit/>
          </a:bodyPr>
          <a:lstStyle/>
          <a:p>
            <a:r>
              <a:rPr lang="en-IN" sz="2400" b="1" dirty="0">
                <a:effectLst/>
                <a:latin typeface="Calibri" panose="020F0502020204030204" pitchFamily="34" charset="0"/>
                <a:ea typeface="DengXian" panose="02010600030101010101" pitchFamily="2" charset="-122"/>
                <a:cs typeface="Times New Roman" panose="02020603050405020304" pitchFamily="18" charset="0"/>
              </a:rPr>
              <a:t>Class Diagram</a:t>
            </a:r>
          </a:p>
        </p:txBody>
      </p:sp>
    </p:spTree>
    <p:extLst>
      <p:ext uri="{BB962C8B-B14F-4D97-AF65-F5344CB8AC3E}">
        <p14:creationId xmlns:p14="http://schemas.microsoft.com/office/powerpoint/2010/main" val="151035840"/>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4"/>
                                        </p:tgtEl>
                                        <p:attrNameLst>
                                          <p:attrName>style.visibility</p:attrName>
                                        </p:attrNameLst>
                                      </p:cBhvr>
                                      <p:to>
                                        <p:strVal val="visible"/>
                                      </p:to>
                                    </p:set>
                                    <p:animEffect transition="in" filter="fade">
                                      <p:cBhvr>
                                        <p:cTn id="10" dur="500"/>
                                        <p:tgtEl>
                                          <p:spTgt spid="24"/>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6"/>
                                        </p:tgtEl>
                                        <p:attrNameLst>
                                          <p:attrName>style.visibility</p:attrName>
                                        </p:attrNameLst>
                                      </p:cBhvr>
                                      <p:to>
                                        <p:strVal val="visible"/>
                                      </p:to>
                                    </p:set>
                                    <p:animEffect transition="in" filter="fade">
                                      <p:cBhvr>
                                        <p:cTn id="15" dur="500"/>
                                        <p:tgtEl>
                                          <p:spTgt spid="26"/>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83"/>
                                        </p:tgtEl>
                                        <p:attrNameLst>
                                          <p:attrName>style.visibility</p:attrName>
                                        </p:attrNameLst>
                                      </p:cBhvr>
                                      <p:to>
                                        <p:strVal val="visible"/>
                                      </p:to>
                                    </p:set>
                                    <p:animEffect transition="in" filter="fade">
                                      <p:cBhvr>
                                        <p:cTn id="18" dur="500"/>
                                        <p:tgtEl>
                                          <p:spTgt spid="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83" grpId="0"/>
    </p:bldLst>
  </p:timing>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9000" b="-9000"/>
          </a:stretch>
        </a:blipFill>
        <a:effectLst/>
      </p:bgPr>
    </p:bg>
    <p:spTree>
      <p:nvGrpSpPr>
        <p:cNvPr id="1" name="">
          <a:extLst>
            <a:ext uri="{FF2B5EF4-FFF2-40B4-BE49-F238E27FC236}">
              <a16:creationId xmlns:a16="http://schemas.microsoft.com/office/drawing/2014/main" id="{54C2A70D-3619-3F43-0F34-A59B558B9003}"/>
            </a:ext>
          </a:extLst>
        </p:cNvPr>
        <p:cNvGrpSpPr/>
        <p:nvPr/>
      </p:nvGrpSpPr>
      <p:grpSpPr>
        <a:xfrm>
          <a:off x="0" y="0"/>
          <a:ext cx="0" cy="0"/>
          <a:chOff x="0" y="0"/>
          <a:chExt cx="0" cy="0"/>
        </a:xfrm>
      </p:grpSpPr>
      <p:sp>
        <p:nvSpPr>
          <p:cNvPr id="23" name="TextBox 22">
            <a:extLst>
              <a:ext uri="{FF2B5EF4-FFF2-40B4-BE49-F238E27FC236}">
                <a16:creationId xmlns:a16="http://schemas.microsoft.com/office/drawing/2014/main" id="{7F048A42-0C10-1A11-D782-DC4A4C3D8AA1}"/>
              </a:ext>
            </a:extLst>
          </p:cNvPr>
          <p:cNvSpPr txBox="1"/>
          <p:nvPr/>
        </p:nvSpPr>
        <p:spPr>
          <a:xfrm>
            <a:off x="-552112" y="241744"/>
            <a:ext cx="6460878" cy="707886"/>
          </a:xfrm>
          <a:prstGeom prst="rect">
            <a:avLst/>
          </a:prstGeom>
          <a:noFill/>
        </p:spPr>
        <p:txBody>
          <a:bodyPr wrap="square" rtlCol="0">
            <a:spAutoFit/>
          </a:bodyPr>
          <a:lstStyle/>
          <a:p>
            <a:pPr algn="ctr"/>
            <a:r>
              <a:rPr lang="en-IN" sz="4000" b="1" dirty="0">
                <a:solidFill>
                  <a:sysClr val="windowText" lastClr="000000"/>
                </a:solidFill>
                <a:latin typeface="Ubuntu" panose="020B0504030602030204" pitchFamily="34" charset="0"/>
                <a:ea typeface="Inter Black" panose="020B0A02050000000004" pitchFamily="34" charset="0"/>
              </a:rPr>
              <a:t>UML Diagram</a:t>
            </a:r>
          </a:p>
        </p:txBody>
      </p:sp>
      <p:sp>
        <p:nvSpPr>
          <p:cNvPr id="24" name="TextBox 23">
            <a:extLst>
              <a:ext uri="{FF2B5EF4-FFF2-40B4-BE49-F238E27FC236}">
                <a16:creationId xmlns:a16="http://schemas.microsoft.com/office/drawing/2014/main" id="{182595B4-6AAE-D819-6E3A-40A06EBAD83F}"/>
              </a:ext>
            </a:extLst>
          </p:cNvPr>
          <p:cNvSpPr txBox="1"/>
          <p:nvPr/>
        </p:nvSpPr>
        <p:spPr>
          <a:xfrm>
            <a:off x="1886012" y="5710071"/>
            <a:ext cx="2637448" cy="461665"/>
          </a:xfrm>
          <a:prstGeom prst="rect">
            <a:avLst/>
          </a:prstGeom>
          <a:noFill/>
        </p:spPr>
        <p:txBody>
          <a:bodyPr wrap="square" rtlCol="0">
            <a:spAutoFit/>
          </a:bodyPr>
          <a:lstStyle/>
          <a:p>
            <a:r>
              <a:rPr lang="en-IN" sz="2400" b="1" dirty="0">
                <a:effectLst/>
                <a:latin typeface="Calibri" panose="020F0502020204030204" pitchFamily="34" charset="0"/>
                <a:ea typeface="DengXian" panose="02010600030101010101" pitchFamily="2" charset="-122"/>
                <a:cs typeface="Times New Roman" panose="02020603050405020304" pitchFamily="18" charset="0"/>
              </a:rPr>
              <a:t>Sequence Diagram</a:t>
            </a:r>
          </a:p>
        </p:txBody>
      </p:sp>
      <p:pic>
        <p:nvPicPr>
          <p:cNvPr id="3" name="Graphic 2" descr="Sequence">
            <a:extLst>
              <a:ext uri="{FF2B5EF4-FFF2-40B4-BE49-F238E27FC236}">
                <a16:creationId xmlns:a16="http://schemas.microsoft.com/office/drawing/2014/main" id="{74E01A1D-C013-D2A6-BDF0-9A6A81C0765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13986" y="1598533"/>
            <a:ext cx="4381500" cy="3924300"/>
          </a:xfrm>
          <a:prstGeom prst="rect">
            <a:avLst/>
          </a:prstGeom>
        </p:spPr>
      </p:pic>
      <p:pic>
        <p:nvPicPr>
          <p:cNvPr id="4" name="Graphic 3" descr="Activity">
            <a:extLst>
              <a:ext uri="{FF2B5EF4-FFF2-40B4-BE49-F238E27FC236}">
                <a16:creationId xmlns:a16="http://schemas.microsoft.com/office/drawing/2014/main" id="{C887E882-7D9E-FBE4-1A44-AD6B46FBA3AF}"/>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283236" y="601708"/>
            <a:ext cx="4494293" cy="4921125"/>
          </a:xfrm>
          <a:prstGeom prst="rect">
            <a:avLst/>
          </a:prstGeom>
        </p:spPr>
      </p:pic>
      <p:sp>
        <p:nvSpPr>
          <p:cNvPr id="7" name="TextBox 6">
            <a:extLst>
              <a:ext uri="{FF2B5EF4-FFF2-40B4-BE49-F238E27FC236}">
                <a16:creationId xmlns:a16="http://schemas.microsoft.com/office/drawing/2014/main" id="{5C974CA1-57B4-97C2-860B-75C8183B6F79}"/>
              </a:ext>
            </a:extLst>
          </p:cNvPr>
          <p:cNvSpPr txBox="1"/>
          <p:nvPr/>
        </p:nvSpPr>
        <p:spPr>
          <a:xfrm>
            <a:off x="7445415" y="5710071"/>
            <a:ext cx="2765139" cy="461665"/>
          </a:xfrm>
          <a:prstGeom prst="rect">
            <a:avLst/>
          </a:prstGeom>
          <a:noFill/>
        </p:spPr>
        <p:txBody>
          <a:bodyPr wrap="square">
            <a:spAutoFit/>
          </a:bodyPr>
          <a:lstStyle/>
          <a:p>
            <a:r>
              <a:rPr lang="en-IN" sz="2400" b="1" dirty="0">
                <a:effectLst/>
                <a:latin typeface="Calibri" panose="020F0502020204030204" pitchFamily="34" charset="0"/>
                <a:ea typeface="DengXian" panose="02010600030101010101" pitchFamily="2" charset="-122"/>
                <a:cs typeface="Times New Roman" panose="02020603050405020304" pitchFamily="18" charset="0"/>
              </a:rPr>
              <a:t>Activity Diagram</a:t>
            </a:r>
          </a:p>
        </p:txBody>
      </p:sp>
    </p:spTree>
    <p:extLst>
      <p:ext uri="{BB962C8B-B14F-4D97-AF65-F5344CB8AC3E}">
        <p14:creationId xmlns:p14="http://schemas.microsoft.com/office/powerpoint/2010/main" val="3400086057"/>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4"/>
                                        </p:tgtEl>
                                        <p:attrNameLst>
                                          <p:attrName>style.visibility</p:attrName>
                                        </p:attrNameLst>
                                      </p:cBhvr>
                                      <p:to>
                                        <p:strVal val="visible"/>
                                      </p:to>
                                    </p:set>
                                    <p:animEffect transition="in" filter="fade">
                                      <p:cBhvr>
                                        <p:cTn id="10" dur="500"/>
                                        <p:tgtEl>
                                          <p:spTgt spid="24"/>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500"/>
                                        <p:tgtEl>
                                          <p:spTgt spid="4"/>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7"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6D8924E-E15F-9671-8E44-7E11BCE9CF08}"/>
              </a:ext>
            </a:extLst>
          </p:cNvPr>
          <p:cNvSpPr txBox="1"/>
          <p:nvPr/>
        </p:nvSpPr>
        <p:spPr>
          <a:xfrm>
            <a:off x="-318344" y="316733"/>
            <a:ext cx="4925069" cy="923330"/>
          </a:xfrm>
          <a:prstGeom prst="rect">
            <a:avLst/>
          </a:prstGeom>
          <a:noFill/>
        </p:spPr>
        <p:txBody>
          <a:bodyPr wrap="square" rtlCol="0">
            <a:spAutoFit/>
          </a:bodyPr>
          <a:lstStyle/>
          <a:p>
            <a:pPr algn="ctr"/>
            <a:r>
              <a:rPr lang="en-IN" sz="5400" b="1" dirty="0">
                <a:solidFill>
                  <a:schemeClr val="bg1"/>
                </a:solidFill>
                <a:latin typeface="Inter Black" panose="020B0A02050000000004" pitchFamily="34" charset="0"/>
                <a:ea typeface="Inter Black" panose="020B0A02050000000004" pitchFamily="34" charset="0"/>
              </a:rPr>
              <a:t>UI Images </a:t>
            </a:r>
          </a:p>
        </p:txBody>
      </p:sp>
      <p:pic>
        <p:nvPicPr>
          <p:cNvPr id="4" name="Picture 3">
            <a:extLst>
              <a:ext uri="{FF2B5EF4-FFF2-40B4-BE49-F238E27FC236}">
                <a16:creationId xmlns:a16="http://schemas.microsoft.com/office/drawing/2014/main" id="{6F597C68-B5D2-E20A-B917-BA6B53777B51}"/>
              </a:ext>
            </a:extLst>
          </p:cNvPr>
          <p:cNvPicPr>
            <a:picLocks noChangeAspect="1"/>
          </p:cNvPicPr>
          <p:nvPr/>
        </p:nvPicPr>
        <p:blipFill>
          <a:blip r:embed="rId2"/>
          <a:stretch>
            <a:fillRect/>
          </a:stretch>
        </p:blipFill>
        <p:spPr>
          <a:xfrm>
            <a:off x="1529425" y="1473346"/>
            <a:ext cx="10260563" cy="4190270"/>
          </a:xfrm>
          <a:prstGeom prst="rect">
            <a:avLst/>
          </a:prstGeom>
        </p:spPr>
      </p:pic>
      <p:pic>
        <p:nvPicPr>
          <p:cNvPr id="6" name="Picture 5">
            <a:extLst>
              <a:ext uri="{FF2B5EF4-FFF2-40B4-BE49-F238E27FC236}">
                <a16:creationId xmlns:a16="http://schemas.microsoft.com/office/drawing/2014/main" id="{67A58C9B-449B-9722-19E1-60847FC5717F}"/>
              </a:ext>
            </a:extLst>
          </p:cNvPr>
          <p:cNvPicPr>
            <a:picLocks noChangeAspect="1"/>
          </p:cNvPicPr>
          <p:nvPr/>
        </p:nvPicPr>
        <p:blipFill>
          <a:blip r:embed="rId3"/>
          <a:stretch>
            <a:fillRect/>
          </a:stretch>
        </p:blipFill>
        <p:spPr>
          <a:xfrm>
            <a:off x="1529424" y="1473346"/>
            <a:ext cx="10260563" cy="4215214"/>
          </a:xfrm>
          <a:prstGeom prst="rect">
            <a:avLst/>
          </a:prstGeom>
        </p:spPr>
      </p:pic>
      <p:pic>
        <p:nvPicPr>
          <p:cNvPr id="8" name="Picture 7">
            <a:extLst>
              <a:ext uri="{FF2B5EF4-FFF2-40B4-BE49-F238E27FC236}">
                <a16:creationId xmlns:a16="http://schemas.microsoft.com/office/drawing/2014/main" id="{B2DF78B3-3A19-5BD6-40AC-092EFC9C0371}"/>
              </a:ext>
            </a:extLst>
          </p:cNvPr>
          <p:cNvPicPr>
            <a:picLocks noChangeAspect="1"/>
          </p:cNvPicPr>
          <p:nvPr/>
        </p:nvPicPr>
        <p:blipFill>
          <a:blip r:embed="rId4"/>
          <a:stretch>
            <a:fillRect/>
          </a:stretch>
        </p:blipFill>
        <p:spPr>
          <a:xfrm>
            <a:off x="984917" y="1473346"/>
            <a:ext cx="10882650" cy="4380595"/>
          </a:xfrm>
          <a:prstGeom prst="rect">
            <a:avLst/>
          </a:prstGeom>
        </p:spPr>
      </p:pic>
    </p:spTree>
    <p:extLst>
      <p:ext uri="{BB962C8B-B14F-4D97-AF65-F5344CB8AC3E}">
        <p14:creationId xmlns:p14="http://schemas.microsoft.com/office/powerpoint/2010/main" val="230420156"/>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6D8924E-E15F-9671-8E44-7E11BCE9CF08}"/>
              </a:ext>
            </a:extLst>
          </p:cNvPr>
          <p:cNvSpPr txBox="1"/>
          <p:nvPr/>
        </p:nvSpPr>
        <p:spPr>
          <a:xfrm>
            <a:off x="0" y="98306"/>
            <a:ext cx="4563889" cy="769441"/>
          </a:xfrm>
          <a:prstGeom prst="rect">
            <a:avLst/>
          </a:prstGeom>
          <a:noFill/>
        </p:spPr>
        <p:txBody>
          <a:bodyPr wrap="square" rtlCol="0">
            <a:spAutoFit/>
          </a:bodyPr>
          <a:lstStyle/>
          <a:p>
            <a:pPr algn="ctr"/>
            <a:r>
              <a:rPr lang="en-IN" sz="4400" dirty="0">
                <a:solidFill>
                  <a:schemeClr val="bg1"/>
                </a:solidFill>
                <a:latin typeface="Ubuntu" panose="020B0504030602030204" pitchFamily="34" charset="0"/>
                <a:ea typeface="Inter Black" panose="020B0A02050000000004" pitchFamily="34" charset="0"/>
              </a:rPr>
              <a:t>Future Scope</a:t>
            </a:r>
          </a:p>
        </p:txBody>
      </p:sp>
      <p:sp>
        <p:nvSpPr>
          <p:cNvPr id="3" name="Rectangle 1">
            <a:extLst>
              <a:ext uri="{FF2B5EF4-FFF2-40B4-BE49-F238E27FC236}">
                <a16:creationId xmlns:a16="http://schemas.microsoft.com/office/drawing/2014/main" id="{8198B3E9-8E82-14DD-30DF-DEA6C55C81B0}"/>
              </a:ext>
            </a:extLst>
          </p:cNvPr>
          <p:cNvSpPr>
            <a:spLocks noChangeArrowheads="1"/>
          </p:cNvSpPr>
          <p:nvPr/>
        </p:nvSpPr>
        <p:spPr bwMode="auto">
          <a:xfrm>
            <a:off x="597159" y="948690"/>
            <a:ext cx="10187404" cy="59093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bg1"/>
                </a:solidFill>
                <a:effectLst/>
                <a:latin typeface="Arial" panose="020B0604020202020204" pitchFamily="34" charset="0"/>
              </a:rPr>
              <a:t>Advanced Analytics</a:t>
            </a:r>
            <a:r>
              <a:rPr kumimoji="0" lang="en-US" altLang="en-US" sz="1800" b="0" i="0" u="none" strike="noStrike" cap="none" normalizeH="0" baseline="0" dirty="0">
                <a:ln>
                  <a:noFill/>
                </a:ln>
                <a:solidFill>
                  <a:schemeClr val="bg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bg1"/>
                </a:solidFill>
                <a:effectLst/>
                <a:latin typeface="Arial" panose="020B0604020202020204" pitchFamily="34" charset="0"/>
              </a:rPr>
              <a:t>   Provide spending trends, category-specific insights, and personalized budget recommendations.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bg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bg1"/>
                </a:solidFill>
                <a:effectLst/>
                <a:latin typeface="Arial" panose="020B0604020202020204" pitchFamily="34" charset="0"/>
              </a:rPr>
              <a:t>AI Integration</a:t>
            </a:r>
            <a:r>
              <a:rPr kumimoji="0" lang="en-US" altLang="en-US" sz="1800" b="0" i="0" u="none" strike="noStrike" cap="none" normalizeH="0" baseline="0" dirty="0">
                <a:ln>
                  <a:noFill/>
                </a:ln>
                <a:solidFill>
                  <a:schemeClr val="bg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tabLst/>
            </a:pPr>
            <a:r>
              <a:rPr lang="en-US" altLang="en-US" dirty="0">
                <a:solidFill>
                  <a:schemeClr val="bg1"/>
                </a:solidFill>
                <a:latin typeface="Arial" panose="020B0604020202020204" pitchFamily="34" charset="0"/>
              </a:rPr>
              <a:t>   </a:t>
            </a:r>
            <a:r>
              <a:rPr kumimoji="0" lang="en-US" altLang="en-US" sz="1800" b="0" i="0" u="none" strike="noStrike" cap="none" normalizeH="0" baseline="0" dirty="0">
                <a:ln>
                  <a:noFill/>
                </a:ln>
                <a:solidFill>
                  <a:schemeClr val="bg1"/>
                </a:solidFill>
                <a:effectLst/>
                <a:latin typeface="Arial" panose="020B0604020202020204" pitchFamily="34" charset="0"/>
              </a:rPr>
              <a:t>Automate expense categorization and offer predictive spending alerts.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bg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bg1"/>
                </a:solidFill>
                <a:effectLst/>
                <a:latin typeface="Arial" panose="020B0604020202020204" pitchFamily="34" charset="0"/>
              </a:rPr>
              <a:t>External Integration</a:t>
            </a:r>
            <a:r>
              <a:rPr kumimoji="0" lang="en-US" altLang="en-US" sz="1800" b="0" i="0" u="none" strike="noStrike" cap="none" normalizeH="0" baseline="0" dirty="0">
                <a:ln>
                  <a:noFill/>
                </a:ln>
                <a:solidFill>
                  <a:schemeClr val="bg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bg1"/>
                </a:solidFill>
                <a:effectLst/>
                <a:latin typeface="Arial" panose="020B0604020202020204" pitchFamily="34" charset="0"/>
              </a:rPr>
              <a:t>   Integrate with banking services for automatic transaction imports and third-party financial tools.</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bg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bg1"/>
                </a:solidFill>
                <a:effectLst/>
                <a:latin typeface="Arial" panose="020B0604020202020204" pitchFamily="34" charset="0"/>
              </a:rPr>
              <a:t>Enhanced Security</a:t>
            </a:r>
            <a:r>
              <a:rPr kumimoji="0" lang="en-US" altLang="en-US" sz="1800" b="0" i="0" u="none" strike="noStrike" cap="none" normalizeH="0" baseline="0" dirty="0">
                <a:ln>
                  <a:noFill/>
                </a:ln>
                <a:solidFill>
                  <a:schemeClr val="bg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bg1"/>
                </a:solidFill>
                <a:effectLst/>
                <a:latin typeface="Arial" panose="020B0604020202020204" pitchFamily="34" charset="0"/>
              </a:rPr>
              <a:t>   Implement encryption, two-factor authentication, and ensure data protection compliance.</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bg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bg1"/>
                </a:solidFill>
                <a:effectLst/>
                <a:latin typeface="Arial" panose="020B0604020202020204" pitchFamily="34" charset="0"/>
              </a:rPr>
              <a:t>Multi-Currency Support</a:t>
            </a:r>
            <a:r>
              <a:rPr kumimoji="0" lang="en-US" altLang="en-US" sz="1800" b="0" i="0" u="none" strike="noStrike" cap="none" normalizeH="0" baseline="0" dirty="0">
                <a:ln>
                  <a:noFill/>
                </a:ln>
                <a:solidFill>
                  <a:schemeClr val="bg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bg1"/>
                </a:solidFill>
                <a:effectLst/>
                <a:latin typeface="Arial" panose="020B0604020202020204" pitchFamily="34" charset="0"/>
              </a:rPr>
              <a:t>   Support multiple currencies with automatic conversions and localization.</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bg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bg1"/>
                </a:solidFill>
                <a:effectLst/>
                <a:latin typeface="Arial" panose="020B0604020202020204" pitchFamily="34" charset="0"/>
              </a:rPr>
              <a:t>Collaboration Features</a:t>
            </a:r>
            <a:r>
              <a:rPr kumimoji="0" lang="en-US" altLang="en-US" sz="1800" b="0" i="0" u="none" strike="noStrike" cap="none" normalizeH="0" baseline="0" dirty="0">
                <a:ln>
                  <a:noFill/>
                </a:ln>
                <a:solidFill>
                  <a:schemeClr val="bg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bg1"/>
                </a:solidFill>
                <a:effectLst/>
                <a:latin typeface="Arial" panose="020B0604020202020204" pitchFamily="34" charset="0"/>
              </a:rPr>
              <a:t>   Enable shared budgets, joint expense tracking, and group savings goals.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bg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bg1"/>
                </a:solidFill>
                <a:effectLst/>
                <a:latin typeface="Arial" panose="020B0604020202020204" pitchFamily="34" charset="0"/>
              </a:rPr>
              <a:t>Cloud Sync</a:t>
            </a:r>
            <a:r>
              <a:rPr kumimoji="0" lang="en-US" altLang="en-US" sz="1800" b="0" i="0" u="none" strike="noStrike" cap="none" normalizeH="0" baseline="0" dirty="0">
                <a:ln>
                  <a:noFill/>
                </a:ln>
                <a:solidFill>
                  <a:schemeClr val="bg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bg1"/>
                </a:solidFill>
                <a:effectLst/>
                <a:latin typeface="Arial" panose="020B0604020202020204" pitchFamily="34" charset="0"/>
              </a:rPr>
              <a:t>   Provide real-time sync and cloud backup for cross-device access.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bg1"/>
              </a:solidFill>
              <a:effectLst/>
              <a:latin typeface="Arial" panose="020B0604020202020204" pitchFamily="34" charset="0"/>
            </a:endParaRPr>
          </a:p>
        </p:txBody>
      </p:sp>
    </p:spTree>
    <p:extLst>
      <p:ext uri="{BB962C8B-B14F-4D97-AF65-F5344CB8AC3E}">
        <p14:creationId xmlns:p14="http://schemas.microsoft.com/office/powerpoint/2010/main" val="23312557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animEffect transition="in" filter="fade">
                                      <p:cBhvr>
                                        <p:cTn id="13" dur="500"/>
                                        <p:tgtEl>
                                          <p:spTgt spid="3">
                                            <p:txEl>
                                              <p:pRg st="3" end="3"/>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3">
                                            <p:txEl>
                                              <p:pRg st="4" end="4"/>
                                            </p:txEl>
                                          </p:spTgt>
                                        </p:tgtEl>
                                        <p:attrNameLst>
                                          <p:attrName>style.visibility</p:attrName>
                                        </p:attrNameLst>
                                      </p:cBhvr>
                                      <p:to>
                                        <p:strVal val="visible"/>
                                      </p:to>
                                    </p:set>
                                    <p:animEffect transition="in" filter="fade">
                                      <p:cBhvr>
                                        <p:cTn id="16" dur="500"/>
                                        <p:tgtEl>
                                          <p:spTgt spid="3">
                                            <p:txEl>
                                              <p:pRg st="4" end="4"/>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animEffect transition="in" filter="fade">
                                      <p:cBhvr>
                                        <p:cTn id="19" dur="500"/>
                                        <p:tgtEl>
                                          <p:spTgt spid="3">
                                            <p:txEl>
                                              <p:pRg st="6" end="6"/>
                                            </p:txEl>
                                          </p:spTgt>
                                        </p:tgtEl>
                                      </p:cBhvr>
                                    </p:animEffect>
                                  </p:childTnLst>
                                </p:cTn>
                              </p:par>
                              <p:par>
                                <p:cTn id="20" presetID="10" presetClass="entr" presetSubtype="0" fill="hold" nodeType="withEffect">
                                  <p:stCondLst>
                                    <p:cond delay="0"/>
                                  </p:stCondLst>
                                  <p:childTnLst>
                                    <p:set>
                                      <p:cBhvr>
                                        <p:cTn id="21" dur="1" fill="hold">
                                          <p:stCondLst>
                                            <p:cond delay="0"/>
                                          </p:stCondLst>
                                        </p:cTn>
                                        <p:tgtEl>
                                          <p:spTgt spid="3">
                                            <p:txEl>
                                              <p:pRg st="7" end="7"/>
                                            </p:txEl>
                                          </p:spTgt>
                                        </p:tgtEl>
                                        <p:attrNameLst>
                                          <p:attrName>style.visibility</p:attrName>
                                        </p:attrNameLst>
                                      </p:cBhvr>
                                      <p:to>
                                        <p:strVal val="visible"/>
                                      </p:to>
                                    </p:set>
                                    <p:animEffect transition="in" filter="fade">
                                      <p:cBhvr>
                                        <p:cTn id="22" dur="500"/>
                                        <p:tgtEl>
                                          <p:spTgt spid="3">
                                            <p:txEl>
                                              <p:pRg st="7" end="7"/>
                                            </p:txEl>
                                          </p:spTgt>
                                        </p:tgtEl>
                                      </p:cBhvr>
                                    </p:animEffect>
                                  </p:childTnLst>
                                </p:cTn>
                              </p:par>
                              <p:par>
                                <p:cTn id="23" presetID="10" presetClass="entr" presetSubtype="0" fill="hold" nodeType="withEffect">
                                  <p:stCondLst>
                                    <p:cond delay="0"/>
                                  </p:stCondLst>
                                  <p:childTnLst>
                                    <p:set>
                                      <p:cBhvr>
                                        <p:cTn id="24" dur="1" fill="hold">
                                          <p:stCondLst>
                                            <p:cond delay="0"/>
                                          </p:stCondLst>
                                        </p:cTn>
                                        <p:tgtEl>
                                          <p:spTgt spid="3">
                                            <p:txEl>
                                              <p:pRg st="9" end="9"/>
                                            </p:txEl>
                                          </p:spTgt>
                                        </p:tgtEl>
                                        <p:attrNameLst>
                                          <p:attrName>style.visibility</p:attrName>
                                        </p:attrNameLst>
                                      </p:cBhvr>
                                      <p:to>
                                        <p:strVal val="visible"/>
                                      </p:to>
                                    </p:set>
                                    <p:animEffect transition="in" filter="fade">
                                      <p:cBhvr>
                                        <p:cTn id="25" dur="500"/>
                                        <p:tgtEl>
                                          <p:spTgt spid="3">
                                            <p:txEl>
                                              <p:pRg st="9" end="9"/>
                                            </p:txEl>
                                          </p:spTgt>
                                        </p:tgtEl>
                                      </p:cBhvr>
                                    </p:animEffect>
                                  </p:childTnLst>
                                </p:cTn>
                              </p:par>
                              <p:par>
                                <p:cTn id="26" presetID="10" presetClass="entr" presetSubtype="0" fill="hold" nodeType="withEffect">
                                  <p:stCondLst>
                                    <p:cond delay="0"/>
                                  </p:stCondLst>
                                  <p:childTnLst>
                                    <p:set>
                                      <p:cBhvr>
                                        <p:cTn id="27" dur="1" fill="hold">
                                          <p:stCondLst>
                                            <p:cond delay="0"/>
                                          </p:stCondLst>
                                        </p:cTn>
                                        <p:tgtEl>
                                          <p:spTgt spid="3">
                                            <p:txEl>
                                              <p:pRg st="10" end="10"/>
                                            </p:txEl>
                                          </p:spTgt>
                                        </p:tgtEl>
                                        <p:attrNameLst>
                                          <p:attrName>style.visibility</p:attrName>
                                        </p:attrNameLst>
                                      </p:cBhvr>
                                      <p:to>
                                        <p:strVal val="visible"/>
                                      </p:to>
                                    </p:set>
                                    <p:animEffect transition="in" filter="fade">
                                      <p:cBhvr>
                                        <p:cTn id="28" dur="500"/>
                                        <p:tgtEl>
                                          <p:spTgt spid="3">
                                            <p:txEl>
                                              <p:pRg st="10" end="10"/>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3">
                                            <p:txEl>
                                              <p:pRg st="12" end="12"/>
                                            </p:txEl>
                                          </p:spTgt>
                                        </p:tgtEl>
                                        <p:attrNameLst>
                                          <p:attrName>style.visibility</p:attrName>
                                        </p:attrNameLst>
                                      </p:cBhvr>
                                      <p:to>
                                        <p:strVal val="visible"/>
                                      </p:to>
                                    </p:set>
                                    <p:animEffect transition="in" filter="fade">
                                      <p:cBhvr>
                                        <p:cTn id="33" dur="500"/>
                                        <p:tgtEl>
                                          <p:spTgt spid="3">
                                            <p:txEl>
                                              <p:pRg st="12" end="12"/>
                                            </p:txEl>
                                          </p:spTgt>
                                        </p:tgtEl>
                                      </p:cBhvr>
                                    </p:animEffect>
                                  </p:childTnLst>
                                </p:cTn>
                              </p:par>
                              <p:par>
                                <p:cTn id="34" presetID="10" presetClass="entr" presetSubtype="0" fill="hold" nodeType="withEffect">
                                  <p:stCondLst>
                                    <p:cond delay="0"/>
                                  </p:stCondLst>
                                  <p:childTnLst>
                                    <p:set>
                                      <p:cBhvr>
                                        <p:cTn id="35" dur="1" fill="hold">
                                          <p:stCondLst>
                                            <p:cond delay="0"/>
                                          </p:stCondLst>
                                        </p:cTn>
                                        <p:tgtEl>
                                          <p:spTgt spid="3">
                                            <p:txEl>
                                              <p:pRg st="13" end="13"/>
                                            </p:txEl>
                                          </p:spTgt>
                                        </p:tgtEl>
                                        <p:attrNameLst>
                                          <p:attrName>style.visibility</p:attrName>
                                        </p:attrNameLst>
                                      </p:cBhvr>
                                      <p:to>
                                        <p:strVal val="visible"/>
                                      </p:to>
                                    </p:set>
                                    <p:animEffect transition="in" filter="fade">
                                      <p:cBhvr>
                                        <p:cTn id="36" dur="500"/>
                                        <p:tgtEl>
                                          <p:spTgt spid="3">
                                            <p:txEl>
                                              <p:pRg st="13" end="13"/>
                                            </p:txEl>
                                          </p:spTgt>
                                        </p:tgtEl>
                                      </p:cBhvr>
                                    </p:animEffect>
                                  </p:childTnLst>
                                </p:cTn>
                              </p:par>
                              <p:par>
                                <p:cTn id="37" presetID="10" presetClass="entr" presetSubtype="0" fill="hold" nodeType="withEffect">
                                  <p:stCondLst>
                                    <p:cond delay="0"/>
                                  </p:stCondLst>
                                  <p:childTnLst>
                                    <p:set>
                                      <p:cBhvr>
                                        <p:cTn id="38" dur="1" fill="hold">
                                          <p:stCondLst>
                                            <p:cond delay="0"/>
                                          </p:stCondLst>
                                        </p:cTn>
                                        <p:tgtEl>
                                          <p:spTgt spid="3">
                                            <p:txEl>
                                              <p:pRg st="15" end="15"/>
                                            </p:txEl>
                                          </p:spTgt>
                                        </p:tgtEl>
                                        <p:attrNameLst>
                                          <p:attrName>style.visibility</p:attrName>
                                        </p:attrNameLst>
                                      </p:cBhvr>
                                      <p:to>
                                        <p:strVal val="visible"/>
                                      </p:to>
                                    </p:set>
                                    <p:animEffect transition="in" filter="fade">
                                      <p:cBhvr>
                                        <p:cTn id="39" dur="500"/>
                                        <p:tgtEl>
                                          <p:spTgt spid="3">
                                            <p:txEl>
                                              <p:pRg st="15" end="15"/>
                                            </p:txEl>
                                          </p:spTgt>
                                        </p:tgtEl>
                                      </p:cBhvr>
                                    </p:animEffect>
                                  </p:childTnLst>
                                </p:cTn>
                              </p:par>
                              <p:par>
                                <p:cTn id="40" presetID="10" presetClass="entr" presetSubtype="0" fill="hold" nodeType="withEffect">
                                  <p:stCondLst>
                                    <p:cond delay="0"/>
                                  </p:stCondLst>
                                  <p:childTnLst>
                                    <p:set>
                                      <p:cBhvr>
                                        <p:cTn id="41" dur="1" fill="hold">
                                          <p:stCondLst>
                                            <p:cond delay="0"/>
                                          </p:stCondLst>
                                        </p:cTn>
                                        <p:tgtEl>
                                          <p:spTgt spid="3">
                                            <p:txEl>
                                              <p:pRg st="16" end="16"/>
                                            </p:txEl>
                                          </p:spTgt>
                                        </p:tgtEl>
                                        <p:attrNameLst>
                                          <p:attrName>style.visibility</p:attrName>
                                        </p:attrNameLst>
                                      </p:cBhvr>
                                      <p:to>
                                        <p:strVal val="visible"/>
                                      </p:to>
                                    </p:set>
                                    <p:animEffect transition="in" filter="fade">
                                      <p:cBhvr>
                                        <p:cTn id="42" dur="500"/>
                                        <p:tgtEl>
                                          <p:spTgt spid="3">
                                            <p:txEl>
                                              <p:pRg st="16" end="16"/>
                                            </p:txEl>
                                          </p:spTgt>
                                        </p:tgtEl>
                                      </p:cBhvr>
                                    </p:animEffect>
                                  </p:childTnLst>
                                </p:cTn>
                              </p:par>
                              <p:par>
                                <p:cTn id="43" presetID="10" presetClass="entr" presetSubtype="0" fill="hold" nodeType="withEffect">
                                  <p:stCondLst>
                                    <p:cond delay="0"/>
                                  </p:stCondLst>
                                  <p:childTnLst>
                                    <p:set>
                                      <p:cBhvr>
                                        <p:cTn id="44" dur="1" fill="hold">
                                          <p:stCondLst>
                                            <p:cond delay="0"/>
                                          </p:stCondLst>
                                        </p:cTn>
                                        <p:tgtEl>
                                          <p:spTgt spid="3">
                                            <p:txEl>
                                              <p:pRg st="18" end="18"/>
                                            </p:txEl>
                                          </p:spTgt>
                                        </p:tgtEl>
                                        <p:attrNameLst>
                                          <p:attrName>style.visibility</p:attrName>
                                        </p:attrNameLst>
                                      </p:cBhvr>
                                      <p:to>
                                        <p:strVal val="visible"/>
                                      </p:to>
                                    </p:set>
                                    <p:animEffect transition="in" filter="fade">
                                      <p:cBhvr>
                                        <p:cTn id="45" dur="500"/>
                                        <p:tgtEl>
                                          <p:spTgt spid="3">
                                            <p:txEl>
                                              <p:pRg st="18" end="18"/>
                                            </p:txEl>
                                          </p:spTgt>
                                        </p:tgtEl>
                                      </p:cBhvr>
                                    </p:animEffect>
                                  </p:childTnLst>
                                </p:cTn>
                              </p:par>
                              <p:par>
                                <p:cTn id="46" presetID="10" presetClass="entr" presetSubtype="0" fill="hold" nodeType="withEffect">
                                  <p:stCondLst>
                                    <p:cond delay="0"/>
                                  </p:stCondLst>
                                  <p:childTnLst>
                                    <p:set>
                                      <p:cBhvr>
                                        <p:cTn id="47" dur="1" fill="hold">
                                          <p:stCondLst>
                                            <p:cond delay="0"/>
                                          </p:stCondLst>
                                        </p:cTn>
                                        <p:tgtEl>
                                          <p:spTgt spid="3">
                                            <p:txEl>
                                              <p:pRg st="19" end="19"/>
                                            </p:txEl>
                                          </p:spTgt>
                                        </p:tgtEl>
                                        <p:attrNameLst>
                                          <p:attrName>style.visibility</p:attrName>
                                        </p:attrNameLst>
                                      </p:cBhvr>
                                      <p:to>
                                        <p:strVal val="visible"/>
                                      </p:to>
                                    </p:set>
                                    <p:animEffect transition="in" filter="fade">
                                      <p:cBhvr>
                                        <p:cTn id="48" dur="500"/>
                                        <p:tgtEl>
                                          <p:spTgt spid="3">
                                            <p:txEl>
                                              <p:pRg st="19" end="1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C57874-E280-2666-9DEA-98B114B5BCA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E6D1C84-51A8-E0A9-BCA3-6903265FE05A}"/>
              </a:ext>
            </a:extLst>
          </p:cNvPr>
          <p:cNvSpPr txBox="1"/>
          <p:nvPr/>
        </p:nvSpPr>
        <p:spPr>
          <a:xfrm>
            <a:off x="186612" y="396886"/>
            <a:ext cx="4563889" cy="769441"/>
          </a:xfrm>
          <a:prstGeom prst="rect">
            <a:avLst/>
          </a:prstGeom>
          <a:noFill/>
        </p:spPr>
        <p:txBody>
          <a:bodyPr wrap="square" rtlCol="0">
            <a:spAutoFit/>
          </a:bodyPr>
          <a:lstStyle/>
          <a:p>
            <a:pPr algn="ctr"/>
            <a:r>
              <a:rPr lang="en-IN" sz="4400" dirty="0">
                <a:solidFill>
                  <a:schemeClr val="bg1"/>
                </a:solidFill>
                <a:latin typeface="Ubuntu" panose="020B0504030602030204" pitchFamily="34" charset="0"/>
                <a:ea typeface="Inter Black" panose="020B0A02050000000004" pitchFamily="34" charset="0"/>
              </a:rPr>
              <a:t>Conclusion</a:t>
            </a:r>
          </a:p>
        </p:txBody>
      </p:sp>
      <p:sp>
        <p:nvSpPr>
          <p:cNvPr id="4" name="TextBox 3">
            <a:extLst>
              <a:ext uri="{FF2B5EF4-FFF2-40B4-BE49-F238E27FC236}">
                <a16:creationId xmlns:a16="http://schemas.microsoft.com/office/drawing/2014/main" id="{4F03653B-DE8E-77C4-6C91-FC5C785EB2D5}"/>
              </a:ext>
            </a:extLst>
          </p:cNvPr>
          <p:cNvSpPr txBox="1"/>
          <p:nvPr/>
        </p:nvSpPr>
        <p:spPr>
          <a:xfrm>
            <a:off x="1014704" y="1444415"/>
            <a:ext cx="9435581" cy="2677656"/>
          </a:xfrm>
          <a:prstGeom prst="rect">
            <a:avLst/>
          </a:prstGeom>
          <a:noFill/>
        </p:spPr>
        <p:txBody>
          <a:bodyPr wrap="square">
            <a:spAutoFit/>
          </a:bodyPr>
          <a:lstStyle/>
          <a:p>
            <a:r>
              <a:rPr lang="en-US" sz="2400" dirty="0">
                <a:solidFill>
                  <a:schemeClr val="bg1"/>
                </a:solidFill>
              </a:rPr>
              <a:t>Expense tracker project provides a user-friendly solution for managing personal finances, with dynamic features like real-time updates, pie chart visualizations, and budget tracking. With future enhancements like AI-powered analytics, mobile support, and external integrations, it aims to evolve into a comprehensive financial management tool, empowering users to make informed spending decisions and achieve their financial goals.</a:t>
            </a:r>
            <a:endParaRPr lang="en-IN" sz="2400" dirty="0">
              <a:solidFill>
                <a:schemeClr val="bg1"/>
              </a:solidFill>
            </a:endParaRPr>
          </a:p>
        </p:txBody>
      </p:sp>
    </p:spTree>
    <p:extLst>
      <p:ext uri="{BB962C8B-B14F-4D97-AF65-F5344CB8AC3E}">
        <p14:creationId xmlns:p14="http://schemas.microsoft.com/office/powerpoint/2010/main" val="357821995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6D8924E-E15F-9671-8E44-7E11BCE9CF08}"/>
              </a:ext>
            </a:extLst>
          </p:cNvPr>
          <p:cNvSpPr txBox="1"/>
          <p:nvPr/>
        </p:nvSpPr>
        <p:spPr>
          <a:xfrm>
            <a:off x="618690" y="2967335"/>
            <a:ext cx="10751419" cy="923330"/>
          </a:xfrm>
          <a:prstGeom prst="rect">
            <a:avLst/>
          </a:prstGeom>
          <a:noFill/>
        </p:spPr>
        <p:txBody>
          <a:bodyPr wrap="square" rtlCol="0">
            <a:spAutoFit/>
          </a:bodyPr>
          <a:lstStyle/>
          <a:p>
            <a:pPr algn="ctr"/>
            <a:r>
              <a:rPr lang="en-IN" sz="5400" b="1" dirty="0">
                <a:solidFill>
                  <a:schemeClr val="bg1"/>
                </a:solidFill>
                <a:latin typeface="Inter Black" panose="020B0A02050000000004" pitchFamily="34" charset="0"/>
                <a:ea typeface="Inter Black" panose="020B0A02050000000004" pitchFamily="34" charset="0"/>
              </a:rPr>
              <a:t>Thank you</a:t>
            </a:r>
          </a:p>
        </p:txBody>
      </p:sp>
    </p:spTree>
    <p:extLst>
      <p:ext uri="{BB962C8B-B14F-4D97-AF65-F5344CB8AC3E}">
        <p14:creationId xmlns:p14="http://schemas.microsoft.com/office/powerpoint/2010/main" val="3068704579"/>
      </p:ext>
    </p:extLst>
  </p:cSld>
  <p:clrMapOvr>
    <a:masterClrMapping/>
  </p:clrMapOvr>
  <p:transition spd="slow">
    <p:wip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1043</TotalTime>
  <Words>1342</Words>
  <Application>Microsoft Office PowerPoint</Application>
  <PresentationFormat>Widescreen</PresentationFormat>
  <Paragraphs>196</Paragraphs>
  <Slides>21</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21</vt:i4>
      </vt:variant>
    </vt:vector>
  </HeadingPairs>
  <TitlesOfParts>
    <vt:vector size="30" baseType="lpstr">
      <vt:lpstr>Amazon Ember</vt:lpstr>
      <vt:lpstr>Arial</vt:lpstr>
      <vt:lpstr>Arial</vt:lpstr>
      <vt:lpstr>Arial Unicode MS</vt:lpstr>
      <vt:lpstr>Calibri</vt:lpstr>
      <vt:lpstr>Calibri Light</vt:lpstr>
      <vt:lpstr>Inter Black</vt:lpstr>
      <vt:lpstr>Ubuntu</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Abhi Gupta</dc:creator>
  <cp:lastModifiedBy>Abhi Gupta</cp:lastModifiedBy>
  <cp:revision>23</cp:revision>
  <dcterms:created xsi:type="dcterms:W3CDTF">2023-02-26T05:38:14Z</dcterms:created>
  <dcterms:modified xsi:type="dcterms:W3CDTF">2024-10-20T11:48:27Z</dcterms:modified>
</cp:coreProperties>
</file>